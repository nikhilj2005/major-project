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heme" Target="theme/theme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  <Relationship Id="rId16" Type="http://schemas.openxmlformats.org/officeDocument/2006/relationships/slide" Target="slides/slide10.xml"/>
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
  
  
  
  
  
  
  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005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38131"/>
            <a:ext cx="1737360" cy="98677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800" b="1" dirty="0"/>
              <a:t>VibeStack</a:t>
            </a:r>
            <a:br>
              <a:rPr lang="en-IN" sz="2800" dirty="0"/>
            </a:br>
            <a:r>
              <a:rPr lang="en-IN" sz="2800" b="1" dirty="0"/>
              <a:t>Architecture-Aware AI Software Engineering Harness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000" dirty="0"/>
              <a:t>Review 1 (Interim Evaluation)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600" b="1" dirty="0"/>
              <a:t>Academic Year 2026–27  |  8 October 2026</a:t>
            </a:r>
            <a:endParaRPr lang="en-IN" sz="1600" dirty="0"/>
          </a:p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b="1" dirty="0"/>
              <a:t>Guide</a:t>
            </a:r>
            <a:br>
              <a:rPr lang="en-IN" sz="1400" dirty="0"/>
            </a:br>
            <a:r>
              <a:rPr lang="en-IN" sz="1400" dirty="0"/>
              <a:t>Nimmi M K</a:t>
            </a:r>
            <a:br>
              <a:rPr lang="en-IN" sz="1400" dirty="0"/>
            </a:br>
            <a:r>
              <a:rPr lang="en-IN" sz="1400" dirty="0"/>
              <a:t>Assistant Professor</a:t>
            </a:r>
            <a:br>
              <a:rPr lang="en-IN" sz="1400" dirty="0"/>
            </a:br>
            <a:r>
              <a:rPr lang="en-IN" sz="1400" dirty="0"/>
              <a:t>Dept of AI and DS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3566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IN" sz="1400" b="1" dirty="0"/>
              <a:t>Team Members</a:t>
            </a:r>
            <a:br>
              <a:rPr lang="en-IN" sz="1400" dirty="0"/>
            </a:br>
            <a:r>
              <a:rPr lang="en-IN" sz="1400" dirty="0"/>
              <a:t>Reuben Sabu V (MUT23CA060)</a:t>
            </a:r>
            <a:br>
              <a:rPr lang="en-IN" sz="1400" dirty="0"/>
            </a:br>
            <a:r>
              <a:rPr lang="en-IN" sz="1400" dirty="0"/>
              <a:t>Sidharth Ravi (MUT23CA063)</a:t>
            </a:r>
            <a:br>
              <a:rPr lang="en-IN" sz="1400" dirty="0"/>
            </a:br>
            <a:r>
              <a:rPr lang="en-IN" sz="1400" dirty="0"/>
              <a:t>Jino Jenz (MUT23CA035)</a:t>
            </a:r>
            <a:br>
              <a:rPr lang="en-IN" sz="1400" dirty="0"/>
            </a:br>
            <a:r>
              <a:rPr lang="en-IN" sz="1400" dirty="0"/>
              <a:t>Nikhil Jimmy (MUT23CA055)</a:t>
            </a:r>
          </a:p>
          <a:p>
            <a:pPr marL="0" indent="0" algn="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VibeStack, Dept of AI and DS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67" name="Shape 467"/>
          <p:cNvSpPr txBox="1"/>
          <p:nvPr/>
        </p:nvSpPr>
        <p:spPr>
          <a:xfrm>
            <a:off x="548640" y="160020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44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Thank You</a:t>
            </a:r>
            <a:endParaRPr lang="en-US" sz="4400" dirty="0"/>
          </a:p>
        </p:txBody>
      </p:sp>
      <p:sp>
        <p:nvSpPr>
          <p:cNvPr id="468" name="Shape 468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VibeStack: prompt → architecture → working, self-healed app</a:t>
            </a:r>
            <a:endParaRPr lang="en-US" sz="1800" dirty="0"/>
          </a:p>
        </p:txBody>
      </p:sp>
      <p:sp>
        <p:nvSpPr>
          <p:cNvPr id="469" name="Shape 469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Questions?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23" name="Shape 423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Problem Statement</a:t>
            </a:r>
            <a:endParaRPr lang="en-US" sz="2800" dirty="0"/>
          </a:p>
        </p:txBody>
      </p:sp>
      <p:sp>
        <p:nvSpPr>
          <p:cNvPr id="424" name="Footer bar 424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25" name="Shape 425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26" name="Shape 426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2</a:t>
            </a:r>
            <a:endParaRPr lang="en-US" sz="1400" dirty="0"/>
          </a:p>
        </p:txBody>
      </p:sp>
      <p:sp>
        <p:nvSpPr>
          <p:cNvPr id="101" name="Shape 101"/>
          <p:cNvSpPr/>
          <p:nvPr/>
        </p:nvSpPr>
        <p:spPr>
          <a:xfrm>
            <a:off x="548640" y="1143000"/>
            <a:ext cx="8046720" cy="96012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wrap="square" lIns="137160" tIns="137160" rIns="137160" bIns="13716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Problem: </a:t>
            </a:r>
            <a:r>
              <a:rPr lang="en-US" sz="15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Developers increasingly ship AI-generated code they do not fully understand. Existing tools generate code but do not design a coherent architecture, prove that the result runs, fix their own errors, or explain what they changed.</a:t>
            </a:r>
            <a:endParaRPr lang="en-US" sz="1500" dirty="0"/>
          </a:p>
        </p:txBody>
      </p:sp>
      <p:sp>
        <p:nvSpPr>
          <p:cNvPr id="102" name="Card 102"/>
          <p:cNvSpPr/>
          <p:nvPr/>
        </p:nvSpPr>
        <p:spPr>
          <a:xfrm>
            <a:off x="548640" y="2331720"/>
            <a:ext cx="192024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03" name="Shape 103"/>
          <p:cNvSpPr txBox="1"/>
          <p:nvPr/>
        </p:nvSpPr>
        <p:spPr>
          <a:xfrm>
            <a:off x="685800" y="2450592"/>
            <a:ext cx="167335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P1  Unverified output</a:t>
            </a:r>
            <a:endParaRPr lang="en-US" sz="1300" dirty="0"/>
          </a:p>
        </p:txBody>
      </p:sp>
      <p:sp>
        <p:nvSpPr>
          <p:cNvPr id="104" name="Shape 104"/>
          <p:cNvSpPr txBox="1"/>
          <p:nvPr/>
        </p:nvSpPr>
        <p:spPr>
          <a:xfrm>
            <a:off x="685800" y="2935224"/>
            <a:ext cx="1645920" cy="1408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Generated code is handed over without being executed or tested.</a:t>
            </a:r>
            <a:endParaRPr lang="en-US" sz="1200" dirty="0"/>
          </a:p>
        </p:txBody>
      </p:sp>
      <p:sp>
        <p:nvSpPr>
          <p:cNvPr id="105" name="Card 105"/>
          <p:cNvSpPr/>
          <p:nvPr/>
        </p:nvSpPr>
        <p:spPr>
          <a:xfrm>
            <a:off x="2606040" y="2331720"/>
            <a:ext cx="192024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06" name="Shape 106"/>
          <p:cNvSpPr txBox="1"/>
          <p:nvPr/>
        </p:nvSpPr>
        <p:spPr>
          <a:xfrm>
            <a:off x="2743200" y="2450592"/>
            <a:ext cx="167335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P2  Design drift</a:t>
            </a:r>
            <a:endParaRPr lang="en-US" sz="1300" dirty="0"/>
          </a:p>
        </p:txBody>
      </p:sp>
      <p:sp>
        <p:nvSpPr>
          <p:cNvPr id="107" name="Shape 107"/>
          <p:cNvSpPr txBox="1"/>
          <p:nvPr/>
        </p:nvSpPr>
        <p:spPr>
          <a:xfrm>
            <a:off x="2743200" y="2935224"/>
            <a:ext cx="1645920" cy="1408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Models, routes and auth are generated independently and fall out of sync.</a:t>
            </a:r>
            <a:endParaRPr lang="en-US" sz="1200" dirty="0"/>
          </a:p>
        </p:txBody>
      </p:sp>
      <p:sp>
        <p:nvSpPr>
          <p:cNvPr id="108" name="Card 108"/>
          <p:cNvSpPr/>
          <p:nvPr/>
        </p:nvSpPr>
        <p:spPr>
          <a:xfrm>
            <a:off x="4663440" y="2331720"/>
            <a:ext cx="192024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09" name="Shape 109"/>
          <p:cNvSpPr txBox="1"/>
          <p:nvPr/>
        </p:nvSpPr>
        <p:spPr>
          <a:xfrm>
            <a:off x="4800600" y="2450592"/>
            <a:ext cx="167335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P3  No self-correction</a:t>
            </a:r>
            <a:endParaRPr lang="en-US" sz="1300" dirty="0"/>
          </a:p>
        </p:txBody>
      </p:sp>
      <p:sp>
        <p:nvSpPr>
          <p:cNvPr id="110" name="Shape 110"/>
          <p:cNvSpPr txBox="1"/>
          <p:nvPr/>
        </p:nvSpPr>
        <p:spPr>
          <a:xfrm>
            <a:off x="4800600" y="2935224"/>
            <a:ext cx="1645920" cy="1408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When code breaks, the developer has to debug the AI's mistakes by hand.</a:t>
            </a:r>
            <a:endParaRPr lang="en-US" sz="1200" dirty="0"/>
          </a:p>
        </p:txBody>
      </p:sp>
      <p:sp>
        <p:nvSpPr>
          <p:cNvPr id="111" name="Card 111"/>
          <p:cNvSpPr/>
          <p:nvPr/>
        </p:nvSpPr>
        <p:spPr>
          <a:xfrm>
            <a:off x="6720840" y="2331720"/>
            <a:ext cx="192024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12" name="Shape 112"/>
          <p:cNvSpPr txBox="1"/>
          <p:nvPr/>
        </p:nvSpPr>
        <p:spPr>
          <a:xfrm>
            <a:off x="6858000" y="2450592"/>
            <a:ext cx="167335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P4  No traceability</a:t>
            </a:r>
            <a:endParaRPr lang="en-US" sz="1300" dirty="0"/>
          </a:p>
        </p:txBody>
      </p:sp>
      <p:sp>
        <p:nvSpPr>
          <p:cNvPr id="113" name="Shape 113"/>
          <p:cNvSpPr txBox="1"/>
          <p:nvPr/>
        </p:nvSpPr>
        <p:spPr>
          <a:xfrm>
            <a:off x="6858000" y="2935224"/>
            <a:ext cx="1645920" cy="1408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No record of what changed, where, or why; hard to review or maintain.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27" name="Shape 427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Objectives</a:t>
            </a:r>
            <a:endParaRPr lang="en-US" sz="2800" dirty="0"/>
          </a:p>
        </p:txBody>
      </p:sp>
      <p:sp>
        <p:nvSpPr>
          <p:cNvPr id="428" name="Footer bar 428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29" name="Shape 429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30" name="Shape 430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3</a:t>
            </a:r>
            <a:endParaRPr lang="en-US" sz="1400" dirty="0"/>
          </a:p>
        </p:txBody>
      </p:sp>
      <p:sp>
        <p:nvSpPr>
          <p:cNvPr id="114" name="Shape 114"/>
          <p:cNvSpPr/>
          <p:nvPr/>
        </p:nvSpPr>
        <p:spPr>
          <a:xfrm>
            <a:off x="548640" y="1143000"/>
            <a:ext cx="475488" cy="47548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O1</a:t>
            </a:r>
            <a:endParaRPr lang="en-US" sz="1300" dirty="0"/>
          </a:p>
        </p:txBody>
      </p:sp>
      <p:sp>
        <p:nvSpPr>
          <p:cNvPr id="115" name="Shape 115"/>
          <p:cNvSpPr txBox="1"/>
          <p:nvPr/>
        </p:nvSpPr>
        <p:spPr>
          <a:xfrm>
            <a:off x="1188720" y="1106424"/>
            <a:ext cx="6309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Understand: 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Convert a natural-language description into a validated architecture (entities, relations, API, auth).</a:t>
            </a:r>
            <a:endParaRPr lang="en-US" sz="1400" dirty="0"/>
          </a:p>
        </p:txBody>
      </p:sp>
      <p:sp>
        <p:nvSpPr>
          <p:cNvPr id="116" name="Shape 116"/>
          <p:cNvSpPr/>
          <p:nvPr/>
        </p:nvSpPr>
        <p:spPr>
          <a:xfrm>
            <a:off x="7635240" y="1216152"/>
            <a:ext cx="9601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solves P2</a:t>
            </a:r>
            <a:endParaRPr lang="en-US" sz="1000" dirty="0"/>
          </a:p>
        </p:txBody>
      </p:sp>
      <p:sp>
        <p:nvSpPr>
          <p:cNvPr id="117" name="Shape 117"/>
          <p:cNvSpPr/>
          <p:nvPr/>
        </p:nvSpPr>
        <p:spPr>
          <a:xfrm>
            <a:off x="548640" y="1801368"/>
            <a:ext cx="475488" cy="47548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O2</a:t>
            </a:r>
            <a:endParaRPr lang="en-US" sz="1300" dirty="0"/>
          </a:p>
        </p:txBody>
      </p:sp>
      <p:sp>
        <p:nvSpPr>
          <p:cNvPr id="118" name="Shape 118"/>
          <p:cNvSpPr txBox="1"/>
          <p:nvPr/>
        </p:nvSpPr>
        <p:spPr>
          <a:xfrm>
            <a:off x="1188720" y="1764792"/>
            <a:ext cx="6309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Generate: 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Produce a complete, runnable FastAPI + SQLAlchemy backend with JWT auth, Docker and tests.</a:t>
            </a:r>
            <a:endParaRPr lang="en-US" sz="1400" dirty="0"/>
          </a:p>
        </p:txBody>
      </p:sp>
      <p:sp>
        <p:nvSpPr>
          <p:cNvPr id="119" name="Shape 119"/>
          <p:cNvSpPr/>
          <p:nvPr/>
        </p:nvSpPr>
        <p:spPr>
          <a:xfrm>
            <a:off x="7635240" y="1874520"/>
            <a:ext cx="9601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solves P2</a:t>
            </a:r>
            <a:endParaRPr lang="en-US" sz="1000" dirty="0"/>
          </a:p>
        </p:txBody>
      </p:sp>
      <p:sp>
        <p:nvSpPr>
          <p:cNvPr id="120" name="Shape 120"/>
          <p:cNvSpPr/>
          <p:nvPr/>
        </p:nvSpPr>
        <p:spPr>
          <a:xfrm>
            <a:off x="548640" y="2459736"/>
            <a:ext cx="475488" cy="47548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O3</a:t>
            </a:r>
            <a:endParaRPr lang="en-US" sz="1300" dirty="0"/>
          </a:p>
        </p:txBody>
      </p:sp>
      <p:sp>
        <p:nvSpPr>
          <p:cNvPr id="121" name="Shape 121"/>
          <p:cNvSpPr txBox="1"/>
          <p:nvPr/>
        </p:nvSpPr>
        <p:spPr>
          <a:xfrm>
            <a:off x="1188720" y="2423160"/>
            <a:ext cx="6309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Verify: 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Execute every generated app in an isolated sandbox: import, boot and API contract tests.</a:t>
            </a:r>
            <a:endParaRPr lang="en-US" sz="1400" dirty="0"/>
          </a:p>
        </p:txBody>
      </p:sp>
      <p:sp>
        <p:nvSpPr>
          <p:cNvPr id="122" name="Shape 122"/>
          <p:cNvSpPr/>
          <p:nvPr/>
        </p:nvSpPr>
        <p:spPr>
          <a:xfrm>
            <a:off x="7635240" y="2532888"/>
            <a:ext cx="9601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solves P1</a:t>
            </a:r>
            <a:endParaRPr lang="en-US" sz="1000" dirty="0"/>
          </a:p>
        </p:txBody>
      </p:sp>
      <p:sp>
        <p:nvSpPr>
          <p:cNvPr id="123" name="Shape 123"/>
          <p:cNvSpPr/>
          <p:nvPr/>
        </p:nvSpPr>
        <p:spPr>
          <a:xfrm>
            <a:off x="548640" y="3118104"/>
            <a:ext cx="475488" cy="47548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O4</a:t>
            </a:r>
            <a:endParaRPr lang="en-US" sz="1300" dirty="0"/>
          </a:p>
        </p:txBody>
      </p:sp>
      <p:sp>
        <p:nvSpPr>
          <p:cNvPr id="124" name="Shape 124"/>
          <p:cNvSpPr txBox="1"/>
          <p:nvPr/>
        </p:nvSpPr>
        <p:spPr>
          <a:xfrm>
            <a:off x="1188720" y="3081528"/>
            <a:ext cx="6309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Self-heal: 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Classify failures, patch only the faulty file, re-validate; stop after 3 attempts (circuit breaker).</a:t>
            </a:r>
            <a:endParaRPr lang="en-US" sz="1400" dirty="0"/>
          </a:p>
        </p:txBody>
      </p:sp>
      <p:sp>
        <p:nvSpPr>
          <p:cNvPr id="125" name="Shape 125"/>
          <p:cNvSpPr/>
          <p:nvPr/>
        </p:nvSpPr>
        <p:spPr>
          <a:xfrm>
            <a:off x="7635240" y="3191256"/>
            <a:ext cx="9601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solves P3</a:t>
            </a:r>
            <a:endParaRPr lang="en-US" sz="1000" dirty="0"/>
          </a:p>
        </p:txBody>
      </p:sp>
      <p:sp>
        <p:nvSpPr>
          <p:cNvPr id="126" name="Shape 126"/>
          <p:cNvSpPr/>
          <p:nvPr/>
        </p:nvSpPr>
        <p:spPr>
          <a:xfrm>
            <a:off x="548640" y="3776472"/>
            <a:ext cx="475488" cy="47548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O5</a:t>
            </a:r>
            <a:endParaRPr lang="en-US" sz="1300" dirty="0"/>
          </a:p>
        </p:txBody>
      </p:sp>
      <p:sp>
        <p:nvSpPr>
          <p:cNvPr id="127" name="Shape 127"/>
          <p:cNvSpPr txBox="1"/>
          <p:nvPr/>
        </p:nvSpPr>
        <p:spPr>
          <a:xfrm>
            <a:off x="1188720" y="3739896"/>
            <a:ext cx="6309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Explain &amp; deliver: 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Record every agent action in a change ledger, show code diffs, run a live preview of the app.</a:t>
            </a:r>
            <a:endParaRPr lang="en-US" sz="1400" dirty="0"/>
          </a:p>
        </p:txBody>
      </p:sp>
      <p:sp>
        <p:nvSpPr>
          <p:cNvPr id="128" name="Shape 128"/>
          <p:cNvSpPr/>
          <p:nvPr/>
        </p:nvSpPr>
        <p:spPr>
          <a:xfrm>
            <a:off x="7635240" y="3849624"/>
            <a:ext cx="9601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solves P4</a:t>
            </a:r>
            <a:endParaRPr lang="en-US" sz="1000" dirty="0"/>
          </a:p>
        </p:txBody>
      </p:sp>
      <p:sp>
        <p:nvSpPr>
          <p:cNvPr id="129" name="Shape 129"/>
          <p:cNvSpPr txBox="1"/>
          <p:nvPr/>
        </p:nvSpPr>
        <p:spPr>
          <a:xfrm>
            <a:off x="548640" y="440740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Together O1–O5 cover all four problems P1–P4 on the previous slide.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31" name="Shape 431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Project Overview</a:t>
            </a:r>
            <a:endParaRPr lang="en-US" sz="2800" dirty="0"/>
          </a:p>
        </p:txBody>
      </p:sp>
      <p:sp>
        <p:nvSpPr>
          <p:cNvPr id="432" name="Footer bar 432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33" name="Shape 433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34" name="Shape 434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4</a:t>
            </a:r>
            <a:endParaRPr lang="en-US" sz="1400" dirty="0"/>
          </a:p>
        </p:txBody>
      </p:sp>
      <p:sp>
        <p:nvSpPr>
          <p:cNvPr id="130" name="Card 130"/>
          <p:cNvSpPr/>
          <p:nvPr/>
        </p:nvSpPr>
        <p:spPr>
          <a:xfrm>
            <a:off x="548640" y="1143000"/>
            <a:ext cx="1874520" cy="157276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31" name="Shape 131"/>
          <p:cNvSpPr txBox="1"/>
          <p:nvPr/>
        </p:nvSpPr>
        <p:spPr>
          <a:xfrm>
            <a:off x="685800" y="1261872"/>
            <a:ext cx="162763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Engineering Problem</a:t>
            </a:r>
            <a:endParaRPr lang="en-US" sz="1250" dirty="0"/>
          </a:p>
        </p:txBody>
      </p:sp>
      <p:sp>
        <p:nvSpPr>
          <p:cNvPr id="132" name="Shape 132"/>
          <p:cNvSpPr txBox="1"/>
          <p:nvPr/>
        </p:nvSpPr>
        <p:spPr>
          <a:xfrm>
            <a:off x="685800" y="1746504"/>
            <a:ext cx="1600200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AI code generators produce unverified, inconsistent multi-file backends.</a:t>
            </a:r>
            <a:endParaRPr lang="en-US" sz="1100" dirty="0"/>
          </a:p>
        </p:txBody>
      </p:sp>
      <p:sp>
        <p:nvSpPr>
          <p:cNvPr id="133" name="Card 133"/>
          <p:cNvSpPr/>
          <p:nvPr/>
        </p:nvSpPr>
        <p:spPr>
          <a:xfrm>
            <a:off x="2514600" y="1143000"/>
            <a:ext cx="1874520" cy="157276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34" name="Shape 134"/>
          <p:cNvSpPr txBox="1"/>
          <p:nvPr/>
        </p:nvSpPr>
        <p:spPr>
          <a:xfrm>
            <a:off x="2651760" y="1261872"/>
            <a:ext cx="162763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Motivation</a:t>
            </a:r>
            <a:endParaRPr lang="en-US" sz="1250" dirty="0"/>
          </a:p>
        </p:txBody>
      </p:sp>
      <p:sp>
        <p:nvSpPr>
          <p:cNvPr id="135" name="Shape 135"/>
          <p:cNvSpPr txBox="1"/>
          <p:nvPr/>
        </p:nvSpPr>
        <p:spPr>
          <a:xfrm>
            <a:off x="2651760" y="1746504"/>
            <a:ext cx="1600200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Debugging AI-written code often costs more time than it saves.</a:t>
            </a:r>
            <a:endParaRPr lang="en-US" sz="1100" dirty="0"/>
          </a:p>
        </p:txBody>
      </p:sp>
      <p:sp>
        <p:nvSpPr>
          <p:cNvPr id="136" name="Card 136"/>
          <p:cNvSpPr/>
          <p:nvPr/>
        </p:nvSpPr>
        <p:spPr>
          <a:xfrm>
            <a:off x="4480560" y="1143000"/>
            <a:ext cx="1874520" cy="157276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37" name="Shape 137"/>
          <p:cNvSpPr txBox="1"/>
          <p:nvPr/>
        </p:nvSpPr>
        <p:spPr>
          <a:xfrm>
            <a:off x="4617720" y="1261872"/>
            <a:ext cx="162763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Need</a:t>
            </a:r>
            <a:endParaRPr lang="en-US" sz="1250" dirty="0"/>
          </a:p>
        </p:txBody>
      </p:sp>
      <p:sp>
        <p:nvSpPr>
          <p:cNvPr id="138" name="Shape 138"/>
          <p:cNvSpPr txBox="1"/>
          <p:nvPr/>
        </p:nvSpPr>
        <p:spPr>
          <a:xfrm>
            <a:off x="4617720" y="1746504"/>
            <a:ext cx="1600200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A harness that designs, executes, tests and repairs code before delivery.</a:t>
            </a:r>
            <a:endParaRPr lang="en-US" sz="1100" dirty="0"/>
          </a:p>
        </p:txBody>
      </p:sp>
      <p:sp>
        <p:nvSpPr>
          <p:cNvPr id="139" name="Card 139"/>
          <p:cNvSpPr/>
          <p:nvPr/>
        </p:nvSpPr>
        <p:spPr>
          <a:xfrm>
            <a:off x="548640" y="2834640"/>
            <a:ext cx="1874520" cy="157276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40" name="Shape 140"/>
          <p:cNvSpPr txBox="1"/>
          <p:nvPr/>
        </p:nvSpPr>
        <p:spPr>
          <a:xfrm>
            <a:off x="685800" y="2953512"/>
            <a:ext cx="162763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Target Users</a:t>
            </a:r>
            <a:endParaRPr lang="en-US" sz="1250" dirty="0"/>
          </a:p>
        </p:txBody>
      </p:sp>
      <p:sp>
        <p:nvSpPr>
          <p:cNvPr id="141" name="Shape 141"/>
          <p:cNvSpPr txBox="1"/>
          <p:nvPr/>
        </p:nvSpPr>
        <p:spPr>
          <a:xfrm>
            <a:off x="685800" y="3438144"/>
            <a:ext cx="1600200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Students, hackathon teams, start-ups and developers prototyping REST backends.</a:t>
            </a:r>
            <a:endParaRPr lang="en-US" sz="1100" dirty="0"/>
          </a:p>
        </p:txBody>
      </p:sp>
      <p:sp>
        <p:nvSpPr>
          <p:cNvPr id="142" name="Card 142"/>
          <p:cNvSpPr/>
          <p:nvPr/>
        </p:nvSpPr>
        <p:spPr>
          <a:xfrm>
            <a:off x="2514600" y="2834640"/>
            <a:ext cx="1874520" cy="157276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43" name="Shape 143"/>
          <p:cNvSpPr txBox="1"/>
          <p:nvPr/>
        </p:nvSpPr>
        <p:spPr>
          <a:xfrm>
            <a:off x="2651760" y="2953512"/>
            <a:ext cx="162763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Scope</a:t>
            </a:r>
            <a:endParaRPr lang="en-US" sz="1250" dirty="0"/>
          </a:p>
        </p:txBody>
      </p:sp>
      <p:sp>
        <p:nvSpPr>
          <p:cNvPr id="144" name="Shape 144"/>
          <p:cNvSpPr txBox="1"/>
          <p:nvPr/>
        </p:nvSpPr>
        <p:spPr>
          <a:xfrm>
            <a:off x="2651760" y="3438144"/>
            <a:ext cx="1600200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FastAPI + SQLAlchemy backends with JWT auth, tests and Docker; web UI with live preview.</a:t>
            </a:r>
            <a:endParaRPr lang="en-US" sz="1100" dirty="0"/>
          </a:p>
        </p:txBody>
      </p:sp>
      <p:sp>
        <p:nvSpPr>
          <p:cNvPr id="145" name="Card 145"/>
          <p:cNvSpPr/>
          <p:nvPr/>
        </p:nvSpPr>
        <p:spPr>
          <a:xfrm>
            <a:off x="4480560" y="2834640"/>
            <a:ext cx="1874520" cy="157276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46" name="Shape 146"/>
          <p:cNvSpPr txBox="1"/>
          <p:nvPr/>
        </p:nvSpPr>
        <p:spPr>
          <a:xfrm>
            <a:off x="4617720" y="2953512"/>
            <a:ext cx="162763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Expected Impact</a:t>
            </a:r>
            <a:endParaRPr lang="en-US" sz="1250" dirty="0"/>
          </a:p>
        </p:txBody>
      </p:sp>
      <p:sp>
        <p:nvSpPr>
          <p:cNvPr id="147" name="Shape 147"/>
          <p:cNvSpPr txBox="1"/>
          <p:nvPr/>
        </p:nvSpPr>
        <p:spPr>
          <a:xfrm>
            <a:off x="4617720" y="3438144"/>
            <a:ext cx="1600200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A working, tested backend in about a minute for $0.01–0.20, with every change explained.</a:t>
            </a:r>
            <a:endParaRPr lang="en-US" sz="1100" dirty="0"/>
          </a:p>
        </p:txBody>
      </p:sp>
      <p:sp>
        <p:nvSpPr>
          <p:cNvPr id="148" name="Shape 148"/>
          <p:cNvSpPr/>
          <p:nvPr/>
        </p:nvSpPr>
        <p:spPr>
          <a:xfrm>
            <a:off x="6537960" y="1143000"/>
            <a:ext cx="2057400" cy="1051560"/>
          </a:xfrm>
          <a:prstGeom prst="rect">
            <a:avLst/>
          </a:prstGeom>
          <a:solidFill>
            <a:srgbClr val="FD6925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SDG 9</a:t>
            </a:r>
            <a:endParaRPr lang="en-US" sz="260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Industry, Innovation and Infrastructure</a:t>
            </a:r>
            <a:endParaRPr lang="en-US" sz="1100" dirty="0"/>
          </a:p>
        </p:txBody>
      </p:sp>
      <p:sp>
        <p:nvSpPr>
          <p:cNvPr id="149" name="Shape 149"/>
          <p:cNvSpPr/>
          <p:nvPr/>
        </p:nvSpPr>
        <p:spPr>
          <a:xfrm>
            <a:off x="6537960" y="2286000"/>
            <a:ext cx="2057400" cy="2121408"/>
          </a:xfrm>
          <a:prstGeom prst="rect">
            <a:avLst/>
          </a:prstGeom>
          <a:solidFill>
            <a:srgbClr val="FFFFFF"/>
          </a:solidFill>
          <a:ln w="15875">
            <a:solidFill>
              <a:srgbClr val="FD6925"/>
            </a:solidFill>
          </a:ln>
        </p:spPr>
        <p:txBody>
          <a:bodyPr wrap="square" lIns="91440" tIns="91440" rIns="91440" bIns="91440" rtlCol="0" anchor="t">
            <a:norm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Target 9.5</a:t>
            </a:r>
            <a:endParaRPr lang="en-US" sz="1200" dirty="0"/>
          </a:p>
          <a:p>
            <a:pPr algn="l"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Enhance research and upgrade the technological capabilities of industry.</a:t>
            </a:r>
            <a:endParaRPr lang="en-US" sz="1050" dirty="0"/>
          </a:p>
          <a:p>
            <a:pPr algn="l" marL="0" indent="0">
              <a:spcAft>
                <a:spcPts val="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VibeStack makes reliable, verified software engineering accessible to small teams and students.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35" name="Shape 435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Progress since Zeroth Review</a:t>
            </a:r>
            <a:endParaRPr lang="en-US" sz="2800" dirty="0"/>
          </a:p>
        </p:txBody>
      </p:sp>
      <p:sp>
        <p:nvSpPr>
          <p:cNvPr id="436" name="Footer bar 436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37" name="Shape 437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38" name="Shape 438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5</a:t>
            </a:r>
            <a:endParaRPr lang="en-US" sz="1400" dirty="0"/>
          </a:p>
        </p:txBody>
      </p:sp>
      <p:sp>
        <p:nvSpPr>
          <p:cNvPr id="150" name="Shape 150"/>
          <p:cNvSpPr/>
          <p:nvPr/>
        </p:nvSpPr>
        <p:spPr>
          <a:xfrm>
            <a:off x="548640" y="1097280"/>
            <a:ext cx="1435608" cy="2788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Parameter</a:t>
            </a:r>
            <a:endParaRPr lang="en-US" sz="1050" dirty="0"/>
          </a:p>
        </p:txBody>
      </p:sp>
      <p:sp>
        <p:nvSpPr>
          <p:cNvPr id="151" name="Shape 151"/>
          <p:cNvSpPr/>
          <p:nvPr/>
        </p:nvSpPr>
        <p:spPr>
          <a:xfrm>
            <a:off x="2011680" y="1097280"/>
            <a:ext cx="2350008" cy="2788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Zeroth Review (Aug 2026)</a:t>
            </a:r>
            <a:endParaRPr lang="en-US" sz="1050" dirty="0"/>
          </a:p>
        </p:txBody>
      </p:sp>
      <p:sp>
        <p:nvSpPr>
          <p:cNvPr id="152" name="Shape 152"/>
          <p:cNvSpPr/>
          <p:nvPr/>
        </p:nvSpPr>
        <p:spPr>
          <a:xfrm>
            <a:off x="4389120" y="1097280"/>
            <a:ext cx="4178808" cy="2788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Current Status (Oct 2026)</a:t>
            </a:r>
            <a:endParaRPr lang="en-US" sz="1050" dirty="0"/>
          </a:p>
        </p:txBody>
      </p:sp>
      <p:sp>
        <p:nvSpPr>
          <p:cNvPr id="153" name="Shape 153"/>
          <p:cNvSpPr/>
          <p:nvPr/>
        </p:nvSpPr>
        <p:spPr>
          <a:xfrm>
            <a:off x="548640" y="1403604"/>
            <a:ext cx="1435608" cy="27889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Literature Survey</a:t>
            </a:r>
            <a:endParaRPr lang="en-US" sz="950" dirty="0"/>
          </a:p>
        </p:txBody>
      </p:sp>
      <p:sp>
        <p:nvSpPr>
          <p:cNvPr id="154" name="Shape 154"/>
          <p:cNvSpPr/>
          <p:nvPr/>
        </p:nvSpPr>
        <p:spPr>
          <a:xfrm>
            <a:off x="2011680" y="1403604"/>
            <a:ext cx="2350008" cy="27889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Survey of AI coding tools</a:t>
            </a:r>
            <a:endParaRPr lang="en-US" sz="950" dirty="0"/>
          </a:p>
        </p:txBody>
      </p:sp>
      <p:sp>
        <p:nvSpPr>
          <p:cNvPr id="155" name="Shape 155"/>
          <p:cNvSpPr/>
          <p:nvPr/>
        </p:nvSpPr>
        <p:spPr>
          <a:xfrm>
            <a:off x="4389120" y="1403604"/>
            <a:ext cx="4178808" cy="27889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15 sources (Reflexion, Self-Debug, SWE-bench…); gap identified</a:t>
            </a:r>
            <a:endParaRPr lang="en-US" sz="950" dirty="0"/>
          </a:p>
        </p:txBody>
      </p:sp>
      <p:sp>
        <p:nvSpPr>
          <p:cNvPr id="156" name="Shape 156"/>
          <p:cNvSpPr/>
          <p:nvPr/>
        </p:nvSpPr>
        <p:spPr>
          <a:xfrm>
            <a:off x="548640" y="1709928"/>
            <a:ext cx="1435608" cy="2788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Problem Definition</a:t>
            </a:r>
            <a:endParaRPr lang="en-US" sz="950" dirty="0"/>
          </a:p>
        </p:txBody>
      </p:sp>
      <p:sp>
        <p:nvSpPr>
          <p:cNvPr id="157" name="Shape 157"/>
          <p:cNvSpPr/>
          <p:nvPr/>
        </p:nvSpPr>
        <p:spPr>
          <a:xfrm>
            <a:off x="2011680" y="1709928"/>
            <a:ext cx="2350008" cy="2788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Broad: "AI that builds software"</a:t>
            </a:r>
            <a:endParaRPr lang="en-US" sz="950" dirty="0"/>
          </a:p>
        </p:txBody>
      </p:sp>
      <p:sp>
        <p:nvSpPr>
          <p:cNvPr id="158" name="Shape 158"/>
          <p:cNvSpPr/>
          <p:nvPr/>
        </p:nvSpPr>
        <p:spPr>
          <a:xfrm>
            <a:off x="4389120" y="1709928"/>
            <a:ext cx="4178808" cy="2788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Narrowed: verified, self-healing FastAPI backend generation</a:t>
            </a:r>
            <a:endParaRPr lang="en-US" sz="950" dirty="0"/>
          </a:p>
        </p:txBody>
      </p:sp>
      <p:sp>
        <p:nvSpPr>
          <p:cNvPr id="159" name="Shape 159"/>
          <p:cNvSpPr/>
          <p:nvPr/>
        </p:nvSpPr>
        <p:spPr>
          <a:xfrm>
            <a:off x="548640" y="2016252"/>
            <a:ext cx="1435608" cy="27889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Architecture</a:t>
            </a:r>
            <a:endParaRPr lang="en-US" sz="950" dirty="0"/>
          </a:p>
        </p:txBody>
      </p:sp>
      <p:sp>
        <p:nvSpPr>
          <p:cNvPr id="160" name="Shape 160"/>
          <p:cNvSpPr/>
          <p:nvPr/>
        </p:nvSpPr>
        <p:spPr>
          <a:xfrm>
            <a:off x="2011680" y="2016252"/>
            <a:ext cx="2350008" cy="27889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Proposed multi-agent block diagram</a:t>
            </a:r>
            <a:endParaRPr lang="en-US" sz="950" dirty="0"/>
          </a:p>
        </p:txBody>
      </p:sp>
      <p:sp>
        <p:nvSpPr>
          <p:cNvPr id="161" name="Shape 161"/>
          <p:cNvSpPr/>
          <p:nvPr/>
        </p:nvSpPr>
        <p:spPr>
          <a:xfrm>
            <a:off x="4389120" y="2016252"/>
            <a:ext cx="4178808" cy="27889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4-layer architecture implemented with LangGraph</a:t>
            </a:r>
            <a:endParaRPr lang="en-US" sz="950" dirty="0"/>
          </a:p>
        </p:txBody>
      </p:sp>
      <p:sp>
        <p:nvSpPr>
          <p:cNvPr id="162" name="Shape 162"/>
          <p:cNvSpPr/>
          <p:nvPr/>
        </p:nvSpPr>
        <p:spPr>
          <a:xfrm>
            <a:off x="548640" y="2322576"/>
            <a:ext cx="1435608" cy="2788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Algorithms</a:t>
            </a:r>
            <a:endParaRPr lang="en-US" sz="950" dirty="0"/>
          </a:p>
        </p:txBody>
      </p:sp>
      <p:sp>
        <p:nvSpPr>
          <p:cNvPr id="163" name="Shape 163"/>
          <p:cNvSpPr/>
          <p:nvPr/>
        </p:nvSpPr>
        <p:spPr>
          <a:xfrm>
            <a:off x="2011680" y="2322576"/>
            <a:ext cx="2350008" cy="2788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Generate-then-test idea</a:t>
            </a:r>
            <a:endParaRPr lang="en-US" sz="950" dirty="0"/>
          </a:p>
        </p:txBody>
      </p:sp>
      <p:sp>
        <p:nvSpPr>
          <p:cNvPr id="164" name="Shape 164"/>
          <p:cNvSpPr/>
          <p:nvPr/>
        </p:nvSpPr>
        <p:spPr>
          <a:xfrm>
            <a:off x="4389120" y="2322576"/>
            <a:ext cx="4178808" cy="2788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Generate → 3 gates → classify → repair; circuit breaker</a:t>
            </a:r>
            <a:endParaRPr lang="en-US" sz="950" dirty="0"/>
          </a:p>
        </p:txBody>
      </p:sp>
      <p:sp>
        <p:nvSpPr>
          <p:cNvPr id="165" name="Shape 165"/>
          <p:cNvSpPr/>
          <p:nvPr/>
        </p:nvSpPr>
        <p:spPr>
          <a:xfrm>
            <a:off x="548640" y="2628900"/>
            <a:ext cx="1435608" cy="27889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Hardware</a:t>
            </a:r>
            <a:endParaRPr lang="en-US" sz="950" dirty="0"/>
          </a:p>
        </p:txBody>
      </p:sp>
      <p:sp>
        <p:nvSpPr>
          <p:cNvPr id="166" name="Shape 166"/>
          <p:cNvSpPr/>
          <p:nvPr/>
        </p:nvSpPr>
        <p:spPr>
          <a:xfrm>
            <a:off x="2011680" y="2628900"/>
            <a:ext cx="2350008" cy="27889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Not finalised</a:t>
            </a:r>
            <a:endParaRPr lang="en-US" sz="950" dirty="0"/>
          </a:p>
        </p:txBody>
      </p:sp>
      <p:sp>
        <p:nvSpPr>
          <p:cNvPr id="167" name="Shape 167"/>
          <p:cNvSpPr/>
          <p:nvPr/>
        </p:nvSpPr>
        <p:spPr>
          <a:xfrm>
            <a:off x="4389120" y="2628900"/>
            <a:ext cx="4178808" cy="27889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No GPU needed; dev PC 8 GB; Railway 1 vCPU container</a:t>
            </a:r>
            <a:endParaRPr lang="en-US" sz="950" dirty="0"/>
          </a:p>
        </p:txBody>
      </p:sp>
      <p:sp>
        <p:nvSpPr>
          <p:cNvPr id="168" name="Shape 168"/>
          <p:cNvSpPr/>
          <p:nvPr/>
        </p:nvSpPr>
        <p:spPr>
          <a:xfrm>
            <a:off x="548640" y="2935224"/>
            <a:ext cx="1435608" cy="2788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Software</a:t>
            </a:r>
            <a:endParaRPr lang="en-US" sz="950" dirty="0"/>
          </a:p>
        </p:txBody>
      </p:sp>
      <p:sp>
        <p:nvSpPr>
          <p:cNvPr id="169" name="Shape 169"/>
          <p:cNvSpPr/>
          <p:nvPr/>
        </p:nvSpPr>
        <p:spPr>
          <a:xfrm>
            <a:off x="2011680" y="2935224"/>
            <a:ext cx="2350008" cy="2788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Stack under evaluation</a:t>
            </a:r>
            <a:endParaRPr lang="en-US" sz="950" dirty="0"/>
          </a:p>
        </p:txBody>
      </p:sp>
      <p:sp>
        <p:nvSpPr>
          <p:cNvPr id="170" name="Shape 170"/>
          <p:cNvSpPr/>
          <p:nvPr/>
        </p:nvSpPr>
        <p:spPr>
          <a:xfrm>
            <a:off x="4389120" y="2935224"/>
            <a:ext cx="4178808" cy="2788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Python, FastAPI, LangGraph, Next.js; live on Railway</a:t>
            </a:r>
            <a:endParaRPr lang="en-US" sz="950" dirty="0"/>
          </a:p>
        </p:txBody>
      </p:sp>
      <p:sp>
        <p:nvSpPr>
          <p:cNvPr id="171" name="Shape 171"/>
          <p:cNvSpPr/>
          <p:nvPr/>
        </p:nvSpPr>
        <p:spPr>
          <a:xfrm>
            <a:off x="548640" y="3429000"/>
            <a:ext cx="2990088" cy="3383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Committee Suggestion</a:t>
            </a:r>
            <a:endParaRPr lang="en-US" sz="1050" dirty="0"/>
          </a:p>
        </p:txBody>
      </p:sp>
      <p:sp>
        <p:nvSpPr>
          <p:cNvPr id="172" name="Shape 172"/>
          <p:cNvSpPr/>
          <p:nvPr/>
        </p:nvSpPr>
        <p:spPr>
          <a:xfrm>
            <a:off x="3566160" y="3429000"/>
            <a:ext cx="5001768" cy="3383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Action Taken</a:t>
            </a:r>
            <a:endParaRPr lang="en-US" sz="1050" dirty="0"/>
          </a:p>
        </p:txBody>
      </p:sp>
      <p:sp>
        <p:nvSpPr>
          <p:cNvPr id="173" name="Shape 173"/>
          <p:cNvSpPr/>
          <p:nvPr/>
        </p:nvSpPr>
        <p:spPr>
          <a:xfrm>
            <a:off x="548640" y="3794760"/>
            <a:ext cx="2990088" cy="33832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1. Map the project to a single, appropriate SDG</a:t>
            </a:r>
            <a:endParaRPr lang="en-US" sz="950" dirty="0"/>
          </a:p>
        </p:txBody>
      </p:sp>
      <p:sp>
        <p:nvSpPr>
          <p:cNvPr id="174" name="Shape 174"/>
          <p:cNvSpPr/>
          <p:nvPr/>
        </p:nvSpPr>
        <p:spPr>
          <a:xfrm>
            <a:off x="3566160" y="3794760"/>
            <a:ext cx="5001768" cy="33832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Mapped to SDG 9 only (target 9.5), shown on Project Overview (slide 4)</a:t>
            </a:r>
            <a:endParaRPr lang="en-US" sz="950" dirty="0"/>
          </a:p>
        </p:txBody>
      </p:sp>
      <p:sp>
        <p:nvSpPr>
          <p:cNvPr id="175" name="Shape 175"/>
          <p:cNvSpPr/>
          <p:nvPr/>
        </p:nvSpPr>
        <p:spPr>
          <a:xfrm>
            <a:off x="548640" y="4160520"/>
            <a:ext cx="2990088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2. Make activities and deliverables more precise</a:t>
            </a:r>
            <a:endParaRPr lang="en-US" sz="950" dirty="0"/>
          </a:p>
        </p:txBody>
      </p:sp>
      <p:sp>
        <p:nvSpPr>
          <p:cNvPr id="176" name="Shape 176"/>
          <p:cNvSpPr/>
          <p:nvPr/>
        </p:nvSpPr>
        <p:spPr>
          <a:xfrm>
            <a:off x="3566160" y="4160520"/>
            <a:ext cx="5001768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Deliverable + % complete per activity (slide 10); dated Gantt (slide 11)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39" name="Shape 439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System Requirements and Design</a:t>
            </a:r>
            <a:endParaRPr lang="en-US" sz="2800" dirty="0"/>
          </a:p>
        </p:txBody>
      </p:sp>
      <p:sp>
        <p:nvSpPr>
          <p:cNvPr id="440" name="Footer bar 440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41" name="Shape 441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42" name="Shape 442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6</a:t>
            </a:r>
            <a:endParaRPr lang="en-US" sz="1400" dirty="0"/>
          </a:p>
        </p:txBody>
      </p:sp>
      <p:sp>
        <p:nvSpPr>
          <p:cNvPr id="177" name="Shape 177"/>
          <p:cNvSpPr/>
          <p:nvPr/>
        </p:nvSpPr>
        <p:spPr>
          <a:xfrm>
            <a:off x="457200" y="1115568"/>
            <a:ext cx="5029200" cy="4572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cxnSp>
        <p:nvCxnSpPr>
          <p:cNvPr id="178" name="Connector 178"/>
          <p:cNvCxnSpPr/>
          <p:nvPr/>
        </p:nvCxnSpPr>
        <p:spPr>
          <a:xfrm>
            <a:off x="1325880" y="1115568"/>
            <a:ext cx="0" cy="45720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179" name="Shape 179"/>
          <p:cNvSpPr txBox="1"/>
          <p:nvPr/>
        </p:nvSpPr>
        <p:spPr>
          <a:xfrm>
            <a:off x="484632" y="1115568"/>
            <a:ext cx="81381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Presentation</a:t>
            </a:r>
            <a:endParaRPr lang="en-US" sz="800" dirty="0"/>
          </a:p>
        </p:txBody>
      </p:sp>
      <p:sp>
        <p:nvSpPr>
          <p:cNvPr id="180" name="Shape 180"/>
          <p:cNvSpPr/>
          <p:nvPr/>
        </p:nvSpPr>
        <p:spPr>
          <a:xfrm>
            <a:off x="457200" y="1737360"/>
            <a:ext cx="5029200" cy="4572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cxnSp>
        <p:nvCxnSpPr>
          <p:cNvPr id="181" name="Connector 181"/>
          <p:cNvCxnSpPr/>
          <p:nvPr/>
        </p:nvCxnSpPr>
        <p:spPr>
          <a:xfrm>
            <a:off x="1325880" y="1737360"/>
            <a:ext cx="0" cy="45720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182" name="Shape 182"/>
          <p:cNvSpPr txBox="1"/>
          <p:nvPr/>
        </p:nvSpPr>
        <p:spPr>
          <a:xfrm>
            <a:off x="484632" y="1737360"/>
            <a:ext cx="81381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Application</a:t>
            </a:r>
            <a:endParaRPr lang="en-US" sz="80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(FastAPI)</a:t>
            </a:r>
            <a:endParaRPr lang="en-US" sz="800" dirty="0"/>
          </a:p>
        </p:txBody>
      </p:sp>
      <p:sp>
        <p:nvSpPr>
          <p:cNvPr id="183" name="Shape 183"/>
          <p:cNvSpPr/>
          <p:nvPr/>
        </p:nvSpPr>
        <p:spPr>
          <a:xfrm>
            <a:off x="457200" y="2359152"/>
            <a:ext cx="5029200" cy="100584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cxnSp>
        <p:nvCxnSpPr>
          <p:cNvPr id="184" name="Connector 184"/>
          <p:cNvCxnSpPr/>
          <p:nvPr/>
        </p:nvCxnSpPr>
        <p:spPr>
          <a:xfrm>
            <a:off x="1325880" y="2359152"/>
            <a:ext cx="0" cy="100584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185" name="Shape 185"/>
          <p:cNvSpPr txBox="1"/>
          <p:nvPr/>
        </p:nvSpPr>
        <p:spPr>
          <a:xfrm>
            <a:off x="484632" y="2359152"/>
            <a:ext cx="81381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Orchestration</a:t>
            </a:r>
            <a:endParaRPr lang="en-US" sz="80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(LangGraph)</a:t>
            </a:r>
            <a:endParaRPr lang="en-US" sz="800" dirty="0"/>
          </a:p>
        </p:txBody>
      </p:sp>
      <p:sp>
        <p:nvSpPr>
          <p:cNvPr id="186" name="Shape 186"/>
          <p:cNvSpPr/>
          <p:nvPr/>
        </p:nvSpPr>
        <p:spPr>
          <a:xfrm>
            <a:off x="457200" y="3529584"/>
            <a:ext cx="5029200" cy="4572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cxnSp>
        <p:nvCxnSpPr>
          <p:cNvPr id="187" name="Connector 187"/>
          <p:cNvCxnSpPr/>
          <p:nvPr/>
        </p:nvCxnSpPr>
        <p:spPr>
          <a:xfrm>
            <a:off x="1325880" y="3529584"/>
            <a:ext cx="0" cy="45720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188" name="Shape 188"/>
          <p:cNvSpPr txBox="1"/>
          <p:nvPr/>
        </p:nvSpPr>
        <p:spPr>
          <a:xfrm>
            <a:off x="484632" y="3529584"/>
            <a:ext cx="81381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Infrastructure</a:t>
            </a:r>
            <a:endParaRPr lang="en-US" sz="80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&amp; Data</a:t>
            </a:r>
            <a:endParaRPr lang="en-US" sz="800" dirty="0"/>
          </a:p>
        </p:txBody>
      </p:sp>
      <p:sp>
        <p:nvSpPr>
          <p:cNvPr id="189" name="Shape 189"/>
          <p:cNvSpPr/>
          <p:nvPr/>
        </p:nvSpPr>
        <p:spPr>
          <a:xfrm>
            <a:off x="1508760" y="1179576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User (browser)</a:t>
            </a:r>
            <a:endParaRPr lang="en-US" sz="900" dirty="0"/>
          </a:p>
        </p:txBody>
      </p:sp>
      <p:sp>
        <p:nvSpPr>
          <p:cNvPr id="190" name="Shape 190"/>
          <p:cNvSpPr/>
          <p:nvPr/>
        </p:nvSpPr>
        <p:spPr>
          <a:xfrm>
            <a:off x="3566160" y="1179576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Web UI (Next.js)</a:t>
            </a:r>
            <a:endParaRPr lang="en-US" sz="900" dirty="0"/>
          </a:p>
        </p:txBody>
      </p:sp>
      <p:cxnSp>
        <p:nvCxnSpPr>
          <p:cNvPr id="191" name="Connector 191"/>
          <p:cNvCxnSpPr/>
          <p:nvPr/>
        </p:nvCxnSpPr>
        <p:spPr>
          <a:xfrm>
            <a:off x="2971800" y="1344168"/>
            <a:ext cx="594360" cy="0"/>
          </a:xfrm>
          <a:prstGeom prst="straightConnector1">
            <a:avLst/>
          </a:prstGeom>
          <a:ln w="12700">
            <a:solidFill>
              <a:srgbClr val="000000"/>
            </a:solidFill>
            <a:headEnd type="triangle" w="med" len="med"/>
            <a:tailEnd type="triangle" w="med" len="med"/>
          </a:ln>
        </p:spPr>
      </p:cxnSp>
      <p:sp>
        <p:nvSpPr>
          <p:cNvPr id="192" name="Shape 192"/>
          <p:cNvSpPr/>
          <p:nvPr/>
        </p:nvSpPr>
        <p:spPr>
          <a:xfrm>
            <a:off x="1463040" y="1810512"/>
            <a:ext cx="1234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Run Manager</a:t>
            </a:r>
            <a:endParaRPr lang="en-US" sz="900" dirty="0"/>
          </a:p>
        </p:txBody>
      </p:sp>
      <p:sp>
        <p:nvSpPr>
          <p:cNvPr id="193" name="Shape 193"/>
          <p:cNvSpPr/>
          <p:nvPr/>
        </p:nvSpPr>
        <p:spPr>
          <a:xfrm>
            <a:off x="2788920" y="1810512"/>
            <a:ext cx="1234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SSE Event Stream</a:t>
            </a:r>
            <a:endParaRPr lang="en-US" sz="900" dirty="0"/>
          </a:p>
        </p:txBody>
      </p:sp>
      <p:sp>
        <p:nvSpPr>
          <p:cNvPr id="194" name="Shape 194"/>
          <p:cNvSpPr/>
          <p:nvPr/>
        </p:nvSpPr>
        <p:spPr>
          <a:xfrm>
            <a:off x="4114800" y="1810512"/>
            <a:ext cx="1234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Preview Proxy</a:t>
            </a:r>
            <a:endParaRPr lang="en-US" sz="900" dirty="0"/>
          </a:p>
        </p:txBody>
      </p:sp>
      <p:cxnSp>
        <p:nvCxnSpPr>
          <p:cNvPr id="195" name="Connector 195"/>
          <p:cNvCxnSpPr/>
          <p:nvPr/>
        </p:nvCxnSpPr>
        <p:spPr>
          <a:xfrm>
            <a:off x="3657600" y="1508760"/>
            <a:ext cx="0" cy="301752"/>
          </a:xfrm>
          <a:prstGeom prst="straightConnector1">
            <a:avLst/>
          </a:prstGeom>
          <a:ln w="12700">
            <a:solidFill>
              <a:srgbClr val="000000"/>
            </a:solidFill>
            <a:headEnd type="triangle" w="med" len="med"/>
            <a:tailEnd type="triangle" w="med" len="med"/>
          </a:ln>
        </p:spPr>
      </p:cxnSp>
      <p:sp>
        <p:nvSpPr>
          <p:cNvPr id="196" name="Shape 196"/>
          <p:cNvSpPr/>
          <p:nvPr/>
        </p:nvSpPr>
        <p:spPr>
          <a:xfrm>
            <a:off x="1417320" y="2432304"/>
            <a:ext cx="731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Architect</a:t>
            </a:r>
            <a:endParaRPr lang="en-US" sz="800" dirty="0"/>
          </a:p>
        </p:txBody>
      </p:sp>
      <p:cxnSp>
        <p:nvCxnSpPr>
          <p:cNvPr id="197" name="Connector 197"/>
          <p:cNvCxnSpPr/>
          <p:nvPr/>
        </p:nvCxnSpPr>
        <p:spPr>
          <a:xfrm>
            <a:off x="2148840" y="2596896"/>
            <a:ext cx="9144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98" name="Shape 198"/>
          <p:cNvSpPr/>
          <p:nvPr/>
        </p:nvSpPr>
        <p:spPr>
          <a:xfrm>
            <a:off x="2240280" y="2432304"/>
            <a:ext cx="731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Planner</a:t>
            </a:r>
            <a:endParaRPr lang="en-US" sz="800" dirty="0"/>
          </a:p>
        </p:txBody>
      </p:sp>
      <p:cxnSp>
        <p:nvCxnSpPr>
          <p:cNvPr id="199" name="Connector 199"/>
          <p:cNvCxnSpPr/>
          <p:nvPr/>
        </p:nvCxnSpPr>
        <p:spPr>
          <a:xfrm>
            <a:off x="2971800" y="2596896"/>
            <a:ext cx="9144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00" name="Shape 200"/>
          <p:cNvSpPr/>
          <p:nvPr/>
        </p:nvSpPr>
        <p:spPr>
          <a:xfrm>
            <a:off x="3063240" y="2432304"/>
            <a:ext cx="731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Code Gen</a:t>
            </a:r>
            <a:endParaRPr lang="en-US" sz="800" dirty="0"/>
          </a:p>
        </p:txBody>
      </p:sp>
      <p:cxnSp>
        <p:nvCxnSpPr>
          <p:cNvPr id="201" name="Connector 201"/>
          <p:cNvCxnSpPr/>
          <p:nvPr/>
        </p:nvCxnSpPr>
        <p:spPr>
          <a:xfrm>
            <a:off x="3794760" y="2596896"/>
            <a:ext cx="9144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02" name="Shape 202"/>
          <p:cNvSpPr/>
          <p:nvPr/>
        </p:nvSpPr>
        <p:spPr>
          <a:xfrm>
            <a:off x="3886200" y="2432304"/>
            <a:ext cx="731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Validator</a:t>
            </a:r>
            <a:endParaRPr lang="en-US" sz="800" dirty="0"/>
          </a:p>
        </p:txBody>
      </p:sp>
      <p:cxnSp>
        <p:nvCxnSpPr>
          <p:cNvPr id="203" name="Connector 203"/>
          <p:cNvCxnSpPr/>
          <p:nvPr/>
        </p:nvCxnSpPr>
        <p:spPr>
          <a:xfrm>
            <a:off x="4617720" y="2596896"/>
            <a:ext cx="9144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04" name="Shape 204"/>
          <p:cNvSpPr/>
          <p:nvPr/>
        </p:nvSpPr>
        <p:spPr>
          <a:xfrm>
            <a:off x="4709160" y="2432304"/>
            <a:ext cx="731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Packager</a:t>
            </a:r>
            <a:endParaRPr lang="en-US" sz="800" dirty="0"/>
          </a:p>
        </p:txBody>
      </p:sp>
      <p:cxnSp>
        <p:nvCxnSpPr>
          <p:cNvPr id="205" name="Connector 205"/>
          <p:cNvCxnSpPr/>
          <p:nvPr/>
        </p:nvCxnSpPr>
        <p:spPr>
          <a:xfrm>
            <a:off x="1783080" y="2121408"/>
            <a:ext cx="0" cy="310896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06" name="Shape 206"/>
          <p:cNvSpPr/>
          <p:nvPr/>
        </p:nvSpPr>
        <p:spPr>
          <a:xfrm>
            <a:off x="3108960" y="2944368"/>
            <a:ext cx="868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Reflector</a:t>
            </a:r>
            <a:endParaRPr lang="en-US" sz="800" dirty="0"/>
          </a:p>
        </p:txBody>
      </p:sp>
      <p:sp>
        <p:nvSpPr>
          <p:cNvPr id="207" name="Shape 207"/>
          <p:cNvSpPr/>
          <p:nvPr/>
        </p:nvSpPr>
        <p:spPr>
          <a:xfrm>
            <a:off x="4069080" y="2944368"/>
            <a:ext cx="822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Classifier</a:t>
            </a:r>
            <a:endParaRPr lang="en-US" sz="800" dirty="0"/>
          </a:p>
        </p:txBody>
      </p:sp>
      <p:cxnSp>
        <p:nvCxnSpPr>
          <p:cNvPr id="208" name="Connector 208"/>
          <p:cNvCxnSpPr/>
          <p:nvPr/>
        </p:nvCxnSpPr>
        <p:spPr>
          <a:xfrm>
            <a:off x="4526280" y="2761488"/>
            <a:ext cx="0" cy="18288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09" name="Connector 209"/>
          <p:cNvCxnSpPr/>
          <p:nvPr/>
        </p:nvCxnSpPr>
        <p:spPr>
          <a:xfrm flipH="1">
            <a:off x="3977640" y="3099816"/>
            <a:ext cx="9144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10" name="Connector 210"/>
          <p:cNvCxnSpPr/>
          <p:nvPr/>
        </p:nvCxnSpPr>
        <p:spPr>
          <a:xfrm flipV="1">
            <a:off x="3931920" y="2761488"/>
            <a:ext cx="0" cy="18288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11" name="Shape 211"/>
          <p:cNvSpPr txBox="1"/>
          <p:nvPr/>
        </p:nvSpPr>
        <p:spPr>
          <a:xfrm>
            <a:off x="4572000" y="2779776"/>
            <a:ext cx="3657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fail</a:t>
            </a:r>
            <a:endParaRPr lang="en-US" sz="700" dirty="0"/>
          </a:p>
        </p:txBody>
      </p:sp>
      <p:sp>
        <p:nvSpPr>
          <p:cNvPr id="212" name="Shape 212"/>
          <p:cNvSpPr txBox="1"/>
          <p:nvPr/>
        </p:nvSpPr>
        <p:spPr>
          <a:xfrm>
            <a:off x="3611880" y="2779776"/>
            <a:ext cx="301752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patch</a:t>
            </a:r>
            <a:endParaRPr lang="en-US" sz="700" dirty="0"/>
          </a:p>
        </p:txBody>
      </p:sp>
      <p:sp>
        <p:nvSpPr>
          <p:cNvPr id="213" name="Shape 213"/>
          <p:cNvSpPr/>
          <p:nvPr/>
        </p:nvSpPr>
        <p:spPr>
          <a:xfrm>
            <a:off x="1417320" y="3593592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OpenRouter LLM API</a:t>
            </a:r>
            <a:endParaRPr lang="en-US" sz="750" dirty="0"/>
          </a:p>
        </p:txBody>
      </p:sp>
      <p:cxnSp>
        <p:nvCxnSpPr>
          <p:cNvPr id="214" name="Connector 214"/>
          <p:cNvCxnSpPr/>
          <p:nvPr/>
        </p:nvCxnSpPr>
        <p:spPr>
          <a:xfrm>
            <a:off x="1874520" y="3364992"/>
            <a:ext cx="0" cy="22860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15" name="Shape 215"/>
          <p:cNvSpPr/>
          <p:nvPr/>
        </p:nvSpPr>
        <p:spPr>
          <a:xfrm>
            <a:off x="2468880" y="3593592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Isolated Sandbox</a:t>
            </a:r>
            <a:endParaRPr lang="en-US" sz="750" dirty="0"/>
          </a:p>
        </p:txBody>
      </p:sp>
      <p:cxnSp>
        <p:nvCxnSpPr>
          <p:cNvPr id="216" name="Connector 216"/>
          <p:cNvCxnSpPr/>
          <p:nvPr/>
        </p:nvCxnSpPr>
        <p:spPr>
          <a:xfrm>
            <a:off x="2926080" y="3364992"/>
            <a:ext cx="0" cy="22860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17" name="Shape 217"/>
          <p:cNvSpPr/>
          <p:nvPr/>
        </p:nvSpPr>
        <p:spPr>
          <a:xfrm>
            <a:off x="3520440" y="3593592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SQLite Checkpoints</a:t>
            </a:r>
            <a:endParaRPr lang="en-US" sz="750" dirty="0"/>
          </a:p>
        </p:txBody>
      </p:sp>
      <p:cxnSp>
        <p:nvCxnSpPr>
          <p:cNvPr id="218" name="Connector 218"/>
          <p:cNvCxnSpPr/>
          <p:nvPr/>
        </p:nvCxnSpPr>
        <p:spPr>
          <a:xfrm>
            <a:off x="3977640" y="3364992"/>
            <a:ext cx="0" cy="22860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19" name="Shape 219"/>
          <p:cNvSpPr/>
          <p:nvPr/>
        </p:nvSpPr>
        <p:spPr>
          <a:xfrm>
            <a:off x="4572000" y="3593592"/>
            <a:ext cx="868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Run Artifacts</a:t>
            </a:r>
            <a:endParaRPr lang="en-US" sz="750" dirty="0"/>
          </a:p>
        </p:txBody>
      </p:sp>
      <p:cxnSp>
        <p:nvCxnSpPr>
          <p:cNvPr id="220" name="Connector 220"/>
          <p:cNvCxnSpPr/>
          <p:nvPr/>
        </p:nvCxnSpPr>
        <p:spPr>
          <a:xfrm>
            <a:off x="5006340" y="3364992"/>
            <a:ext cx="0" cy="22860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21" name="Shape 221"/>
          <p:cNvSpPr txBox="1"/>
          <p:nvPr/>
        </p:nvSpPr>
        <p:spPr>
          <a:xfrm>
            <a:off x="457200" y="395935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(a) Overall system architecture</a:t>
            </a:r>
            <a:endParaRPr lang="en-US" sz="900" dirty="0"/>
          </a:p>
        </p:txBody>
      </p:sp>
      <p:sp>
        <p:nvSpPr>
          <p:cNvPr id="222" name="Shape 222"/>
          <p:cNvSpPr/>
          <p:nvPr/>
        </p:nvSpPr>
        <p:spPr>
          <a:xfrm>
            <a:off x="5715000" y="1143000"/>
            <a:ext cx="1783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Web UI &amp; API</a:t>
            </a:r>
            <a:endParaRPr lang="en-US" sz="900" dirty="0"/>
          </a:p>
        </p:txBody>
      </p:sp>
      <p:cxnSp>
        <p:nvCxnSpPr>
          <p:cNvPr id="223" name="Connector 223"/>
          <p:cNvCxnSpPr/>
          <p:nvPr/>
        </p:nvCxnSpPr>
        <p:spPr>
          <a:xfrm>
            <a:off x="6601968" y="1490472"/>
            <a:ext cx="0" cy="201168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24" name="Shape 224"/>
          <p:cNvSpPr/>
          <p:nvPr/>
        </p:nvSpPr>
        <p:spPr>
          <a:xfrm>
            <a:off x="5715000" y="1691640"/>
            <a:ext cx="1783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Architect</a:t>
            </a:r>
            <a:endParaRPr lang="en-US" sz="900" dirty="0"/>
          </a:p>
        </p:txBody>
      </p:sp>
      <p:cxnSp>
        <p:nvCxnSpPr>
          <p:cNvPr id="225" name="Connector 225"/>
          <p:cNvCxnSpPr/>
          <p:nvPr/>
        </p:nvCxnSpPr>
        <p:spPr>
          <a:xfrm>
            <a:off x="6601968" y="2039112"/>
            <a:ext cx="0" cy="201168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26" name="Shape 226"/>
          <p:cNvSpPr/>
          <p:nvPr/>
        </p:nvSpPr>
        <p:spPr>
          <a:xfrm>
            <a:off x="5715000" y="2240280"/>
            <a:ext cx="1783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Planner &amp; Code Generator</a:t>
            </a:r>
            <a:endParaRPr lang="en-US" sz="900" dirty="0"/>
          </a:p>
        </p:txBody>
      </p:sp>
      <p:cxnSp>
        <p:nvCxnSpPr>
          <p:cNvPr id="227" name="Connector 227"/>
          <p:cNvCxnSpPr/>
          <p:nvPr/>
        </p:nvCxnSpPr>
        <p:spPr>
          <a:xfrm>
            <a:off x="6601968" y="2587752"/>
            <a:ext cx="0" cy="201168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28" name="Shape 228"/>
          <p:cNvSpPr/>
          <p:nvPr/>
        </p:nvSpPr>
        <p:spPr>
          <a:xfrm>
            <a:off x="5715000" y="2788920"/>
            <a:ext cx="1783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Sandbox Validator</a:t>
            </a:r>
            <a:endParaRPr lang="en-US" sz="900" dirty="0"/>
          </a:p>
        </p:txBody>
      </p:sp>
      <p:cxnSp>
        <p:nvCxnSpPr>
          <p:cNvPr id="229" name="Connector 229"/>
          <p:cNvCxnSpPr/>
          <p:nvPr/>
        </p:nvCxnSpPr>
        <p:spPr>
          <a:xfrm>
            <a:off x="6601968" y="3136392"/>
            <a:ext cx="0" cy="201168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30" name="Shape 230"/>
          <p:cNvSpPr/>
          <p:nvPr/>
        </p:nvSpPr>
        <p:spPr>
          <a:xfrm>
            <a:off x="5715000" y="3337560"/>
            <a:ext cx="1783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Packager &amp; Live Preview</a:t>
            </a:r>
            <a:endParaRPr lang="en-US" sz="900" dirty="0"/>
          </a:p>
        </p:txBody>
      </p:sp>
      <p:sp>
        <p:nvSpPr>
          <p:cNvPr id="231" name="Shape 231"/>
          <p:cNvSpPr/>
          <p:nvPr/>
        </p:nvSpPr>
        <p:spPr>
          <a:xfrm>
            <a:off x="7772400" y="2743200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Self-Healing</a:t>
            </a:r>
            <a:endParaRPr lang="en-US" sz="85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Engine</a:t>
            </a:r>
            <a:endParaRPr lang="en-US" sz="850" dirty="0"/>
          </a:p>
        </p:txBody>
      </p:sp>
      <p:cxnSp>
        <p:nvCxnSpPr>
          <p:cNvPr id="232" name="Connector 232"/>
          <p:cNvCxnSpPr/>
          <p:nvPr/>
        </p:nvCxnSpPr>
        <p:spPr>
          <a:xfrm>
            <a:off x="7498080" y="2880360"/>
            <a:ext cx="27432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33" name="Connector 233"/>
          <p:cNvCxnSpPr/>
          <p:nvPr/>
        </p:nvCxnSpPr>
        <p:spPr>
          <a:xfrm flipH="1">
            <a:off x="7498080" y="3063240"/>
            <a:ext cx="27432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34" name="Shape 234"/>
          <p:cNvSpPr txBox="1"/>
          <p:nvPr/>
        </p:nvSpPr>
        <p:spPr>
          <a:xfrm>
            <a:off x="5715000" y="3749040"/>
            <a:ext cx="2971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(b) Module block diagram</a:t>
            </a:r>
            <a:endParaRPr lang="en-US" sz="900" dirty="0"/>
          </a:p>
        </p:txBody>
      </p:sp>
      <p:sp>
        <p:nvSpPr>
          <p:cNvPr id="235" name="Shape 235"/>
          <p:cNvSpPr/>
          <p:nvPr/>
        </p:nvSpPr>
        <p:spPr>
          <a:xfrm>
            <a:off x="457200" y="4206240"/>
            <a:ext cx="822960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Software: </a:t>
            </a: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Python 3.11, Node.js 22, FastAPI, LangGraph, OpenRouter API, Docker.   </a:t>
            </a: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Hardware: </a:t>
            </a: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4-core CPU, 8 GB RAM, 10 GB disk; Railway 1 vCPU / 1 GB container; no GPU.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43" name="Shape 443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Methodology</a:t>
            </a:r>
            <a:endParaRPr lang="en-US" sz="2800" dirty="0"/>
          </a:p>
        </p:txBody>
      </p:sp>
      <p:sp>
        <p:nvSpPr>
          <p:cNvPr id="444" name="Footer bar 444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45" name="Shape 445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46" name="Shape 446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7</a:t>
            </a:r>
            <a:endParaRPr lang="en-US" sz="1400" dirty="0"/>
          </a:p>
        </p:txBody>
      </p:sp>
      <p:sp>
        <p:nvSpPr>
          <p:cNvPr id="236" name="Shape 236"/>
          <p:cNvSpPr/>
          <p:nvPr/>
        </p:nvSpPr>
        <p:spPr>
          <a:xfrm>
            <a:off x="868680" y="1097280"/>
            <a:ext cx="1188720" cy="274320"/>
          </a:xfrm>
          <a:prstGeom prst="flowChartTerminator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Start</a:t>
            </a:r>
            <a:endParaRPr lang="en-US" sz="950" dirty="0"/>
          </a:p>
        </p:txBody>
      </p:sp>
      <p:sp>
        <p:nvSpPr>
          <p:cNvPr id="237" name="Shape 237"/>
          <p:cNvSpPr/>
          <p:nvPr/>
        </p:nvSpPr>
        <p:spPr>
          <a:xfrm>
            <a:off x="640080" y="146304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Design architecture</a:t>
            </a:r>
            <a:endParaRPr lang="en-US" sz="950" dirty="0"/>
          </a:p>
        </p:txBody>
      </p:sp>
      <p:sp>
        <p:nvSpPr>
          <p:cNvPr id="238" name="Shape 238"/>
          <p:cNvSpPr/>
          <p:nvPr/>
        </p:nvSpPr>
        <p:spPr>
          <a:xfrm>
            <a:off x="640080" y="1810512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Plan &amp; generate code</a:t>
            </a:r>
            <a:endParaRPr lang="en-US" sz="950" dirty="0"/>
          </a:p>
        </p:txBody>
      </p:sp>
      <p:sp>
        <p:nvSpPr>
          <p:cNvPr id="239" name="Shape 239"/>
          <p:cNvSpPr/>
          <p:nvPr/>
        </p:nvSpPr>
        <p:spPr>
          <a:xfrm>
            <a:off x="640080" y="2157984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Validate in sandbox</a:t>
            </a:r>
            <a:endParaRPr lang="en-US" sz="950" dirty="0"/>
          </a:p>
        </p:txBody>
      </p:sp>
      <p:sp>
        <p:nvSpPr>
          <p:cNvPr id="240" name="Shape 240"/>
          <p:cNvSpPr/>
          <p:nvPr/>
        </p:nvSpPr>
        <p:spPr>
          <a:xfrm>
            <a:off x="640080" y="2523744"/>
            <a:ext cx="1645920" cy="502920"/>
          </a:xfrm>
          <a:prstGeom prst="flowChartDecision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All gates pass?</a:t>
            </a:r>
            <a:endParaRPr lang="en-US" sz="900" dirty="0"/>
          </a:p>
        </p:txBody>
      </p:sp>
      <p:sp>
        <p:nvSpPr>
          <p:cNvPr id="241" name="Shape 241"/>
          <p:cNvSpPr/>
          <p:nvPr/>
        </p:nvSpPr>
        <p:spPr>
          <a:xfrm>
            <a:off x="640080" y="320040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Package &amp; live preview</a:t>
            </a:r>
            <a:endParaRPr lang="en-US" sz="950" dirty="0"/>
          </a:p>
        </p:txBody>
      </p:sp>
      <p:sp>
        <p:nvSpPr>
          <p:cNvPr id="242" name="Shape 242"/>
          <p:cNvSpPr/>
          <p:nvPr/>
        </p:nvSpPr>
        <p:spPr>
          <a:xfrm>
            <a:off x="868680" y="3584448"/>
            <a:ext cx="1188720" cy="274320"/>
          </a:xfrm>
          <a:prstGeom prst="flowChartTerminator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End</a:t>
            </a:r>
            <a:endParaRPr lang="en-US" sz="950" dirty="0"/>
          </a:p>
        </p:txBody>
      </p:sp>
      <p:cxnSp>
        <p:nvCxnSpPr>
          <p:cNvPr id="243" name="Connector 243"/>
          <p:cNvCxnSpPr/>
          <p:nvPr/>
        </p:nvCxnSpPr>
        <p:spPr>
          <a:xfrm>
            <a:off x="1463040" y="1371600"/>
            <a:ext cx="0" cy="9144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44" name="Connector 244"/>
          <p:cNvCxnSpPr/>
          <p:nvPr/>
        </p:nvCxnSpPr>
        <p:spPr>
          <a:xfrm>
            <a:off x="1463040" y="1737360"/>
            <a:ext cx="0" cy="73152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45" name="Connector 245"/>
          <p:cNvCxnSpPr/>
          <p:nvPr/>
        </p:nvCxnSpPr>
        <p:spPr>
          <a:xfrm>
            <a:off x="1463040" y="2084832"/>
            <a:ext cx="0" cy="73152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46" name="Connector 246"/>
          <p:cNvCxnSpPr/>
          <p:nvPr/>
        </p:nvCxnSpPr>
        <p:spPr>
          <a:xfrm>
            <a:off x="1463040" y="2432304"/>
            <a:ext cx="0" cy="9144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47" name="Connector 247"/>
          <p:cNvCxnSpPr/>
          <p:nvPr/>
        </p:nvCxnSpPr>
        <p:spPr>
          <a:xfrm>
            <a:off x="1463040" y="3026664"/>
            <a:ext cx="0" cy="173736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48" name="Connector 248"/>
          <p:cNvCxnSpPr/>
          <p:nvPr/>
        </p:nvCxnSpPr>
        <p:spPr>
          <a:xfrm>
            <a:off x="1463040" y="3474720"/>
            <a:ext cx="0" cy="109728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49" name="Shape 249"/>
          <p:cNvSpPr txBox="1"/>
          <p:nvPr/>
        </p:nvSpPr>
        <p:spPr>
          <a:xfrm>
            <a:off x="1517904" y="3044952"/>
            <a:ext cx="3657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Yes</a:t>
            </a:r>
            <a:endParaRPr lang="en-US" sz="800" dirty="0"/>
          </a:p>
        </p:txBody>
      </p:sp>
      <p:sp>
        <p:nvSpPr>
          <p:cNvPr id="250" name="Shape 250"/>
          <p:cNvSpPr/>
          <p:nvPr/>
        </p:nvSpPr>
        <p:spPr>
          <a:xfrm>
            <a:off x="2651760" y="2523744"/>
            <a:ext cx="1371600" cy="502920"/>
          </a:xfrm>
          <a:prstGeom prst="flowChartDecision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Attempts</a:t>
            </a:r>
            <a:endParaRPr lang="en-US" sz="85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&lt; 3?</a:t>
            </a:r>
            <a:endParaRPr lang="en-US" sz="850" dirty="0"/>
          </a:p>
        </p:txBody>
      </p:sp>
      <p:cxnSp>
        <p:nvCxnSpPr>
          <p:cNvPr id="251" name="Connector 251"/>
          <p:cNvCxnSpPr/>
          <p:nvPr/>
        </p:nvCxnSpPr>
        <p:spPr>
          <a:xfrm>
            <a:off x="2286000" y="2775204"/>
            <a:ext cx="36576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52" name="Shape 252"/>
          <p:cNvSpPr txBox="1"/>
          <p:nvPr/>
        </p:nvSpPr>
        <p:spPr>
          <a:xfrm>
            <a:off x="2331720" y="2615184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No</a:t>
            </a:r>
            <a:endParaRPr lang="en-US" sz="800" dirty="0"/>
          </a:p>
        </p:txBody>
      </p:sp>
      <p:sp>
        <p:nvSpPr>
          <p:cNvPr id="253" name="Shape 253"/>
          <p:cNvSpPr/>
          <p:nvPr/>
        </p:nvSpPr>
        <p:spPr>
          <a:xfrm>
            <a:off x="2651760" y="2157984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Classify &amp; repair</a:t>
            </a:r>
            <a:endParaRPr lang="en-US" sz="950" dirty="0"/>
          </a:p>
        </p:txBody>
      </p:sp>
      <p:cxnSp>
        <p:nvCxnSpPr>
          <p:cNvPr id="254" name="Connector 254"/>
          <p:cNvCxnSpPr/>
          <p:nvPr/>
        </p:nvCxnSpPr>
        <p:spPr>
          <a:xfrm flipV="1">
            <a:off x="3337560" y="2432304"/>
            <a:ext cx="0" cy="9144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55" name="Shape 255"/>
          <p:cNvSpPr txBox="1"/>
          <p:nvPr/>
        </p:nvSpPr>
        <p:spPr>
          <a:xfrm>
            <a:off x="3392424" y="2441448"/>
            <a:ext cx="320040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Yes</a:t>
            </a:r>
            <a:endParaRPr lang="en-US" sz="800" dirty="0"/>
          </a:p>
        </p:txBody>
      </p:sp>
      <p:cxnSp>
        <p:nvCxnSpPr>
          <p:cNvPr id="256" name="Connector 256"/>
          <p:cNvCxnSpPr/>
          <p:nvPr/>
        </p:nvCxnSpPr>
        <p:spPr>
          <a:xfrm flipH="1">
            <a:off x="2286000" y="2295144"/>
            <a:ext cx="36576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57" name="Shape 257"/>
          <p:cNvSpPr txBox="1"/>
          <p:nvPr/>
        </p:nvSpPr>
        <p:spPr>
          <a:xfrm>
            <a:off x="2304288" y="2130552"/>
            <a:ext cx="3657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patch</a:t>
            </a:r>
            <a:endParaRPr lang="en-US" sz="800" dirty="0"/>
          </a:p>
        </p:txBody>
      </p:sp>
      <p:sp>
        <p:nvSpPr>
          <p:cNvPr id="258" name="Shape 258"/>
          <p:cNvSpPr/>
          <p:nvPr/>
        </p:nvSpPr>
        <p:spPr>
          <a:xfrm>
            <a:off x="2651760" y="3200400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Circuit breaker report</a:t>
            </a:r>
            <a:endParaRPr lang="en-US" sz="950" dirty="0"/>
          </a:p>
        </p:txBody>
      </p:sp>
      <p:cxnSp>
        <p:nvCxnSpPr>
          <p:cNvPr id="259" name="Connector 259"/>
          <p:cNvCxnSpPr/>
          <p:nvPr/>
        </p:nvCxnSpPr>
        <p:spPr>
          <a:xfrm>
            <a:off x="3337560" y="3026664"/>
            <a:ext cx="0" cy="173736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60" name="Shape 260"/>
          <p:cNvSpPr txBox="1"/>
          <p:nvPr/>
        </p:nvSpPr>
        <p:spPr>
          <a:xfrm>
            <a:off x="3392424" y="3044952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No</a:t>
            </a:r>
            <a:endParaRPr lang="en-US" sz="800" dirty="0"/>
          </a:p>
        </p:txBody>
      </p:sp>
      <p:cxnSp>
        <p:nvCxnSpPr>
          <p:cNvPr id="261" name="Connector 261"/>
          <p:cNvCxnSpPr/>
          <p:nvPr/>
        </p:nvCxnSpPr>
        <p:spPr>
          <a:xfrm>
            <a:off x="3337560" y="3474720"/>
            <a:ext cx="0" cy="246888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262" name="Connector 262"/>
          <p:cNvCxnSpPr/>
          <p:nvPr/>
        </p:nvCxnSpPr>
        <p:spPr>
          <a:xfrm flipH="1">
            <a:off x="2057400" y="3721608"/>
            <a:ext cx="128016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63" name="Shape 263"/>
          <p:cNvSpPr txBox="1"/>
          <p:nvPr/>
        </p:nvSpPr>
        <p:spPr>
          <a:xfrm>
            <a:off x="548640" y="402336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Flowchart of the Generate → Validate → Heal algorithm</a:t>
            </a:r>
            <a:endParaRPr lang="en-US" sz="900" dirty="0"/>
          </a:p>
        </p:txBody>
      </p:sp>
      <p:sp>
        <p:nvSpPr>
          <p:cNvPr id="264" name="Shape 264"/>
          <p:cNvSpPr txBox="1"/>
          <p:nvPr/>
        </p:nvSpPr>
        <p:spPr>
          <a:xfrm>
            <a:off x="4343400" y="1097280"/>
            <a:ext cx="4343400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Processing steps &amp; workflow</a:t>
            </a:r>
            <a:endParaRPr lang="en-US" sz="1250" dirty="0"/>
          </a:p>
          <a:p>
            <a:pPr algn="l"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1. Requirement capture: </a:t>
            </a:r>
            <a:r>
              <a:rPr lang="en-US" sz="1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user describes the app in plain English in the web UI.</a:t>
            </a:r>
            <a:endParaRPr lang="en-US" sz="1000" dirty="0"/>
          </a:p>
          <a:p>
            <a:pPr algn="l"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2. Architecture: </a:t>
            </a:r>
            <a:r>
              <a:rPr lang="en-US" sz="1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Architect LLM → ProjectSpec (entities, fields, FKs, auth), schema-validated.</a:t>
            </a:r>
            <a:endParaRPr lang="en-US" sz="1000" dirty="0"/>
          </a:p>
          <a:p>
            <a:pPr algn="l"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3. Planning: </a:t>
            </a:r>
            <a:r>
              <a:rPr lang="en-US" sz="1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dependency-ordered file plan; verified templates act as the contract.</a:t>
            </a:r>
            <a:endParaRPr lang="en-US" sz="1000" dirty="0"/>
          </a:p>
          <a:p>
            <a:pPr algn="l"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4. Generation: </a:t>
            </a:r>
            <a:r>
              <a:rPr lang="en-US" sz="1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per-entity models, schemas and routers written in parallel.</a:t>
            </a:r>
            <a:endParaRPr lang="en-US" sz="1000" dirty="0"/>
          </a:p>
          <a:p>
            <a:pPr algn="l"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5. Validation: </a:t>
            </a:r>
            <a:r>
              <a:rPr lang="en-US" sz="1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sandbox gates import → boot (/health) → API contract tests.</a:t>
            </a:r>
            <a:endParaRPr lang="en-US" sz="1000" dirty="0"/>
          </a:p>
          <a:p>
            <a:pPr algn="l"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6. Self-healing: </a:t>
            </a:r>
            <a:r>
              <a:rPr lang="en-US" sz="1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classify → localise → patch (Qwen3 → Sonnet → template), max 3 attempts.</a:t>
            </a:r>
            <a:endParaRPr lang="en-US" sz="1000" dirty="0"/>
          </a:p>
          <a:p>
            <a:pPr algn="l"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7. Delivery: </a:t>
            </a:r>
            <a:r>
              <a:rPr lang="en-US" sz="1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zip + Dockerfile + change ledger; app started as a live preview.</a:t>
            </a:r>
            <a:endParaRPr lang="en-US" sz="1000" dirty="0"/>
          </a:p>
          <a:p>
            <a:pPr algn="l"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AI-project items</a:t>
            </a:r>
            <a:endParaRPr lang="en-US" sz="1250" dirty="0"/>
          </a:p>
          <a:p>
            <a:pPr algn="l" marL="228600" indent="-228600">
              <a:spcAft>
                <a:spcPts val="1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Dataset: </a:t>
            </a:r>
            <a:r>
              <a:rPr lang="en-US" sz="1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10 benchmark prompts (backend/evals).</a:t>
            </a:r>
            <a:endParaRPr lang="en-US" sz="1000" dirty="0"/>
          </a:p>
          <a:p>
            <a:pPr algn="l" marL="228600" indent="-228600">
              <a:spcAft>
                <a:spcPts val="1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Pre-processing: </a:t>
            </a:r>
            <a:r>
              <a:rPr lang="en-US" sz="1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prompt → schema-validated spec; repair round-trip on invalid JSON.</a:t>
            </a:r>
            <a:endParaRPr lang="en-US" sz="1000" dirty="0"/>
          </a:p>
          <a:p>
            <a:pPr algn="l" marL="228600" indent="-228600">
              <a:spcAft>
                <a:spcPts val="1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Training: </a:t>
            </a:r>
            <a:r>
              <a:rPr lang="en-US" sz="1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none; pre-trained LLMs via API (no fine-tuning).</a:t>
            </a:r>
            <a:endParaRPr lang="en-US" sz="1000" dirty="0"/>
          </a:p>
          <a:p>
            <a:pPr algn="l" marL="228600" indent="-228600">
              <a:spcAft>
                <a:spcPts val="1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Testing: </a:t>
            </a:r>
            <a:r>
              <a:rPr lang="en-US" sz="1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36 automated tests with a deterministic fake LLM + benchmark runner.</a:t>
            </a:r>
            <a:endParaRPr lang="en-US" sz="1000" dirty="0"/>
          </a:p>
          <a:p>
            <a:pPr algn="l" marL="228600" indent="-228600">
              <a:spcAft>
                <a:spcPts val="1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Deployment: </a:t>
            </a:r>
            <a:r>
              <a:rPr lang="en-US" sz="1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Docker image on Railway; same image via docker compose.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47" name="Shape 447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Technology Used</a:t>
            </a:r>
            <a:endParaRPr lang="en-US" sz="2800" dirty="0"/>
          </a:p>
        </p:txBody>
      </p:sp>
      <p:sp>
        <p:nvSpPr>
          <p:cNvPr id="448" name="Footer bar 448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49" name="Shape 449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50" name="Shape 450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8</a:t>
            </a:r>
            <a:endParaRPr lang="en-US" sz="1400" dirty="0"/>
          </a:p>
        </p:txBody>
      </p:sp>
      <p:sp>
        <p:nvSpPr>
          <p:cNvPr id="265" name="Shape 265"/>
          <p:cNvSpPr/>
          <p:nvPr/>
        </p:nvSpPr>
        <p:spPr>
          <a:xfrm>
            <a:off x="548640" y="1097280"/>
            <a:ext cx="1572768" cy="26060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Category</a:t>
            </a:r>
            <a:endParaRPr lang="en-US" sz="1000" dirty="0"/>
          </a:p>
        </p:txBody>
      </p:sp>
      <p:sp>
        <p:nvSpPr>
          <p:cNvPr id="266" name="Shape 266"/>
          <p:cNvSpPr/>
          <p:nvPr/>
        </p:nvSpPr>
        <p:spPr>
          <a:xfrm>
            <a:off x="2148840" y="1097280"/>
            <a:ext cx="2578608" cy="26060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Choice</a:t>
            </a:r>
            <a:endParaRPr lang="en-US" sz="1000" dirty="0"/>
          </a:p>
        </p:txBody>
      </p:sp>
      <p:sp>
        <p:nvSpPr>
          <p:cNvPr id="267" name="Shape 267"/>
          <p:cNvSpPr/>
          <p:nvPr/>
        </p:nvSpPr>
        <p:spPr>
          <a:xfrm>
            <a:off x="4754880" y="1097280"/>
            <a:ext cx="3813048" cy="26060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Why it was selected</a:t>
            </a:r>
            <a:endParaRPr lang="en-US" sz="1000" dirty="0"/>
          </a:p>
        </p:txBody>
      </p:sp>
      <p:sp>
        <p:nvSpPr>
          <p:cNvPr id="268" name="Shape 268"/>
          <p:cNvSpPr/>
          <p:nvPr/>
        </p:nvSpPr>
        <p:spPr>
          <a:xfrm>
            <a:off x="548640" y="1385316"/>
            <a:ext cx="1572768" cy="2606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Programming languages</a:t>
            </a:r>
            <a:endParaRPr lang="en-US" sz="900" dirty="0"/>
          </a:p>
        </p:txBody>
      </p:sp>
      <p:sp>
        <p:nvSpPr>
          <p:cNvPr id="269" name="Shape 269"/>
          <p:cNvSpPr/>
          <p:nvPr/>
        </p:nvSpPr>
        <p:spPr>
          <a:xfrm>
            <a:off x="2148840" y="1385316"/>
            <a:ext cx="2578608" cy="2606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Python 3.11, TypeScript</a:t>
            </a:r>
            <a:endParaRPr lang="en-US" sz="900" dirty="0"/>
          </a:p>
        </p:txBody>
      </p:sp>
      <p:sp>
        <p:nvSpPr>
          <p:cNvPr id="270" name="Shape 270"/>
          <p:cNvSpPr/>
          <p:nvPr/>
        </p:nvSpPr>
        <p:spPr>
          <a:xfrm>
            <a:off x="4754880" y="1385316"/>
            <a:ext cx="3813048" cy="2606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Python: AI ecosystem and our output language; TS: type-safe UI</a:t>
            </a:r>
            <a:endParaRPr lang="en-US" sz="900" dirty="0"/>
          </a:p>
        </p:txBody>
      </p:sp>
      <p:sp>
        <p:nvSpPr>
          <p:cNvPr id="271" name="Shape 271"/>
          <p:cNvSpPr/>
          <p:nvPr/>
        </p:nvSpPr>
        <p:spPr>
          <a:xfrm>
            <a:off x="548640" y="1673352"/>
            <a:ext cx="1572768" cy="2606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Backend framework</a:t>
            </a:r>
            <a:endParaRPr lang="en-US" sz="900" dirty="0"/>
          </a:p>
        </p:txBody>
      </p:sp>
      <p:sp>
        <p:nvSpPr>
          <p:cNvPr id="272" name="Shape 272"/>
          <p:cNvSpPr/>
          <p:nvPr/>
        </p:nvSpPr>
        <p:spPr>
          <a:xfrm>
            <a:off x="2148840" y="1673352"/>
            <a:ext cx="2578608" cy="2606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FastAPI, SQLAlchemy 2.0, Pydantic v2</a:t>
            </a:r>
            <a:endParaRPr lang="en-US" sz="900" dirty="0"/>
          </a:p>
        </p:txBody>
      </p:sp>
      <p:sp>
        <p:nvSpPr>
          <p:cNvPr id="273" name="Shape 273"/>
          <p:cNvSpPr/>
          <p:nvPr/>
        </p:nvSpPr>
        <p:spPr>
          <a:xfrm>
            <a:off x="4754880" y="1673352"/>
            <a:ext cx="3813048" cy="2606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Async, auto API docs, typed models; same stack we generate</a:t>
            </a:r>
            <a:endParaRPr lang="en-US" sz="900" dirty="0"/>
          </a:p>
        </p:txBody>
      </p:sp>
      <p:sp>
        <p:nvSpPr>
          <p:cNvPr id="274" name="Shape 274"/>
          <p:cNvSpPr/>
          <p:nvPr/>
        </p:nvSpPr>
        <p:spPr>
          <a:xfrm>
            <a:off x="548640" y="1961388"/>
            <a:ext cx="1572768" cy="2606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Agent orchestration</a:t>
            </a:r>
            <a:endParaRPr lang="en-US" sz="900" dirty="0"/>
          </a:p>
        </p:txBody>
      </p:sp>
      <p:sp>
        <p:nvSpPr>
          <p:cNvPr id="275" name="Shape 275"/>
          <p:cNvSpPr/>
          <p:nvPr/>
        </p:nvSpPr>
        <p:spPr>
          <a:xfrm>
            <a:off x="2148840" y="1961388"/>
            <a:ext cx="2578608" cy="2606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LangGraph</a:t>
            </a:r>
            <a:endParaRPr lang="en-US" sz="900" dirty="0"/>
          </a:p>
        </p:txBody>
      </p:sp>
      <p:sp>
        <p:nvSpPr>
          <p:cNvPr id="276" name="Shape 276"/>
          <p:cNvSpPr/>
          <p:nvPr/>
        </p:nvSpPr>
        <p:spPr>
          <a:xfrm>
            <a:off x="4754880" y="1961388"/>
            <a:ext cx="3813048" cy="2606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State machine with loops and checkpoints for the heal cycle</a:t>
            </a:r>
            <a:endParaRPr lang="en-US" sz="900" dirty="0"/>
          </a:p>
        </p:txBody>
      </p:sp>
      <p:sp>
        <p:nvSpPr>
          <p:cNvPr id="277" name="Shape 277"/>
          <p:cNvSpPr/>
          <p:nvPr/>
        </p:nvSpPr>
        <p:spPr>
          <a:xfrm>
            <a:off x="548640" y="2249424"/>
            <a:ext cx="1572768" cy="2606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LLMs / cloud AI</a:t>
            </a:r>
            <a:endParaRPr lang="en-US" sz="900" dirty="0"/>
          </a:p>
        </p:txBody>
      </p:sp>
      <p:sp>
        <p:nvSpPr>
          <p:cNvPr id="278" name="Shape 278"/>
          <p:cNvSpPr/>
          <p:nvPr/>
        </p:nvSpPr>
        <p:spPr>
          <a:xfrm>
            <a:off x="2148840" y="2249424"/>
            <a:ext cx="2578608" cy="2606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OpenRouter (Sonnet 4.6, Qwen3 Coder)</a:t>
            </a:r>
            <a:endParaRPr lang="en-US" sz="900" dirty="0"/>
          </a:p>
        </p:txBody>
      </p:sp>
      <p:sp>
        <p:nvSpPr>
          <p:cNvPr id="279" name="Shape 279"/>
          <p:cNvSpPr/>
          <p:nvPr/>
        </p:nvSpPr>
        <p:spPr>
          <a:xfrm>
            <a:off x="4754880" y="2249424"/>
            <a:ext cx="3813048" cy="2606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One API: tiered cost routing and fallback</a:t>
            </a:r>
            <a:endParaRPr lang="en-US" sz="900" dirty="0"/>
          </a:p>
        </p:txBody>
      </p:sp>
      <p:sp>
        <p:nvSpPr>
          <p:cNvPr id="280" name="Shape 280"/>
          <p:cNvSpPr/>
          <p:nvPr/>
        </p:nvSpPr>
        <p:spPr>
          <a:xfrm>
            <a:off x="548640" y="2537460"/>
            <a:ext cx="1572768" cy="2606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Frontend</a:t>
            </a:r>
            <a:endParaRPr lang="en-US" sz="900" dirty="0"/>
          </a:p>
        </p:txBody>
      </p:sp>
      <p:sp>
        <p:nvSpPr>
          <p:cNvPr id="281" name="Shape 281"/>
          <p:cNvSpPr/>
          <p:nvPr/>
        </p:nvSpPr>
        <p:spPr>
          <a:xfrm>
            <a:off x="2148840" y="2537460"/>
            <a:ext cx="2578608" cy="2606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Next.js 16, React 19, Tailwind CSS</a:t>
            </a:r>
            <a:endParaRPr lang="en-US" sz="900" dirty="0"/>
          </a:p>
        </p:txBody>
      </p:sp>
      <p:sp>
        <p:nvSpPr>
          <p:cNvPr id="282" name="Shape 282"/>
          <p:cNvSpPr/>
          <p:nvPr/>
        </p:nvSpPr>
        <p:spPr>
          <a:xfrm>
            <a:off x="4754880" y="2537460"/>
            <a:ext cx="3813048" cy="2606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Static export served by FastAPI; fast, projector-friendly UI</a:t>
            </a:r>
            <a:endParaRPr lang="en-US" sz="900" dirty="0"/>
          </a:p>
        </p:txBody>
      </p:sp>
      <p:sp>
        <p:nvSpPr>
          <p:cNvPr id="283" name="Shape 283"/>
          <p:cNvSpPr/>
          <p:nvPr/>
        </p:nvSpPr>
        <p:spPr>
          <a:xfrm>
            <a:off x="548640" y="2825496"/>
            <a:ext cx="1572768" cy="2606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Database</a:t>
            </a:r>
            <a:endParaRPr lang="en-US" sz="900" dirty="0"/>
          </a:p>
        </p:txBody>
      </p:sp>
      <p:sp>
        <p:nvSpPr>
          <p:cNvPr id="284" name="Shape 284"/>
          <p:cNvSpPr/>
          <p:nvPr/>
        </p:nvSpPr>
        <p:spPr>
          <a:xfrm>
            <a:off x="2148840" y="2825496"/>
            <a:ext cx="2578608" cy="2606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SQLite</a:t>
            </a:r>
            <a:endParaRPr lang="en-US" sz="900" dirty="0"/>
          </a:p>
        </p:txBody>
      </p:sp>
      <p:sp>
        <p:nvSpPr>
          <p:cNvPr id="285" name="Shape 285"/>
          <p:cNvSpPr/>
          <p:nvPr/>
        </p:nvSpPr>
        <p:spPr>
          <a:xfrm>
            <a:off x="4754880" y="2825496"/>
            <a:ext cx="3813048" cy="2606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Zero-setup storage for checkpoints and apps; Postgres planned</a:t>
            </a:r>
            <a:endParaRPr lang="en-US" sz="900" dirty="0"/>
          </a:p>
        </p:txBody>
      </p:sp>
      <p:sp>
        <p:nvSpPr>
          <p:cNvPr id="286" name="Shape 286"/>
          <p:cNvSpPr/>
          <p:nvPr/>
        </p:nvSpPr>
        <p:spPr>
          <a:xfrm>
            <a:off x="548640" y="3113532"/>
            <a:ext cx="1572768" cy="2606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Protocols</a:t>
            </a:r>
            <a:endParaRPr lang="en-US" sz="900" dirty="0"/>
          </a:p>
        </p:txBody>
      </p:sp>
      <p:sp>
        <p:nvSpPr>
          <p:cNvPr id="287" name="Shape 287"/>
          <p:cNvSpPr/>
          <p:nvPr/>
        </p:nvSpPr>
        <p:spPr>
          <a:xfrm>
            <a:off x="2148840" y="3113532"/>
            <a:ext cx="2578608" cy="2606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HTTP/REST, Server-Sent Events, JWT</a:t>
            </a:r>
            <a:endParaRPr lang="en-US" sz="900" dirty="0"/>
          </a:p>
        </p:txBody>
      </p:sp>
      <p:sp>
        <p:nvSpPr>
          <p:cNvPr id="288" name="Shape 288"/>
          <p:cNvSpPr/>
          <p:nvPr/>
        </p:nvSpPr>
        <p:spPr>
          <a:xfrm>
            <a:off x="4754880" y="3113532"/>
            <a:ext cx="3813048" cy="2606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SSE streams agent progress live; JWT secures generated apps</a:t>
            </a:r>
            <a:endParaRPr lang="en-US" sz="900" dirty="0"/>
          </a:p>
        </p:txBody>
      </p:sp>
      <p:sp>
        <p:nvSpPr>
          <p:cNvPr id="289" name="Shape 289"/>
          <p:cNvSpPr/>
          <p:nvPr/>
        </p:nvSpPr>
        <p:spPr>
          <a:xfrm>
            <a:off x="548640" y="3401568"/>
            <a:ext cx="1572768" cy="2606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Libraries</a:t>
            </a:r>
            <a:endParaRPr lang="en-US" sz="900" dirty="0"/>
          </a:p>
        </p:txBody>
      </p:sp>
      <p:sp>
        <p:nvSpPr>
          <p:cNvPr id="290" name="Shape 290"/>
          <p:cNvSpPr/>
          <p:nvPr/>
        </p:nvSpPr>
        <p:spPr>
          <a:xfrm>
            <a:off x="2148840" y="3401568"/>
            <a:ext cx="2578608" cy="2606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Jinja2, httpx, uvicorn, pytest</a:t>
            </a:r>
            <a:endParaRPr lang="en-US" sz="900" dirty="0"/>
          </a:p>
        </p:txBody>
      </p:sp>
      <p:sp>
        <p:nvSpPr>
          <p:cNvPr id="291" name="Shape 291"/>
          <p:cNvSpPr/>
          <p:nvPr/>
        </p:nvSpPr>
        <p:spPr>
          <a:xfrm>
            <a:off x="4754880" y="3401568"/>
            <a:ext cx="3813048" cy="2606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Verified templates, LLM calls, app server, contract tests</a:t>
            </a:r>
            <a:endParaRPr lang="en-US" sz="900" dirty="0"/>
          </a:p>
        </p:txBody>
      </p:sp>
      <p:sp>
        <p:nvSpPr>
          <p:cNvPr id="292" name="Shape 292"/>
          <p:cNvSpPr/>
          <p:nvPr/>
        </p:nvSpPr>
        <p:spPr>
          <a:xfrm>
            <a:off x="548640" y="3689604"/>
            <a:ext cx="1572768" cy="2606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Cloud platform</a:t>
            </a:r>
            <a:endParaRPr lang="en-US" sz="900" dirty="0"/>
          </a:p>
        </p:txBody>
      </p:sp>
      <p:sp>
        <p:nvSpPr>
          <p:cNvPr id="293" name="Shape 293"/>
          <p:cNvSpPr/>
          <p:nvPr/>
        </p:nvSpPr>
        <p:spPr>
          <a:xfrm>
            <a:off x="2148840" y="3689604"/>
            <a:ext cx="2578608" cy="2606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Railway + Docker</a:t>
            </a:r>
            <a:endParaRPr lang="en-US" sz="900" dirty="0"/>
          </a:p>
        </p:txBody>
      </p:sp>
      <p:sp>
        <p:nvSpPr>
          <p:cNvPr id="294" name="Shape 294"/>
          <p:cNvSpPr/>
          <p:nvPr/>
        </p:nvSpPr>
        <p:spPr>
          <a:xfrm>
            <a:off x="4754880" y="3689604"/>
            <a:ext cx="3813048" cy="2606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$5/month, Git deploys, volume; Docker to self-host</a:t>
            </a:r>
            <a:endParaRPr lang="en-US" sz="900" dirty="0"/>
          </a:p>
        </p:txBody>
      </p:sp>
      <p:sp>
        <p:nvSpPr>
          <p:cNvPr id="295" name="Shape 295"/>
          <p:cNvSpPr/>
          <p:nvPr/>
        </p:nvSpPr>
        <p:spPr>
          <a:xfrm>
            <a:off x="548640" y="3977640"/>
            <a:ext cx="1572768" cy="2606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IDE &amp; tools</a:t>
            </a:r>
            <a:endParaRPr lang="en-US" sz="900" dirty="0"/>
          </a:p>
        </p:txBody>
      </p:sp>
      <p:sp>
        <p:nvSpPr>
          <p:cNvPr id="296" name="Shape 296"/>
          <p:cNvSpPr/>
          <p:nvPr/>
        </p:nvSpPr>
        <p:spPr>
          <a:xfrm>
            <a:off x="2148840" y="3977640"/>
            <a:ext cx="2578608" cy="2606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VS Code, Git/GitHub, ruff</a:t>
            </a:r>
            <a:endParaRPr lang="en-US" sz="900" dirty="0"/>
          </a:p>
        </p:txBody>
      </p:sp>
      <p:sp>
        <p:nvSpPr>
          <p:cNvPr id="297" name="Shape 297"/>
          <p:cNvSpPr/>
          <p:nvPr/>
        </p:nvSpPr>
        <p:spPr>
          <a:xfrm>
            <a:off x="4754880" y="3977640"/>
            <a:ext cx="3813048" cy="2606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Shared team tooling, linting and version control</a:t>
            </a:r>
            <a:endParaRPr lang="en-US" sz="900" dirty="0"/>
          </a:p>
        </p:txBody>
      </p:sp>
      <p:sp>
        <p:nvSpPr>
          <p:cNvPr id="298" name="Shape 298"/>
          <p:cNvSpPr/>
          <p:nvPr/>
        </p:nvSpPr>
        <p:spPr>
          <a:xfrm>
            <a:off x="548640" y="4265676"/>
            <a:ext cx="1572768" cy="2606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Hardware</a:t>
            </a:r>
            <a:endParaRPr lang="en-US" sz="900" dirty="0"/>
          </a:p>
        </p:txBody>
      </p:sp>
      <p:sp>
        <p:nvSpPr>
          <p:cNvPr id="299" name="Shape 299"/>
          <p:cNvSpPr/>
          <p:nvPr/>
        </p:nvSpPr>
        <p:spPr>
          <a:xfrm>
            <a:off x="2148840" y="4265676"/>
            <a:ext cx="2578608" cy="2606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4-core CPU, 8 GB RAM; no GPU</a:t>
            </a:r>
            <a:endParaRPr lang="en-US" sz="900" dirty="0"/>
          </a:p>
        </p:txBody>
      </p:sp>
      <p:sp>
        <p:nvSpPr>
          <p:cNvPr id="300" name="Shape 300"/>
          <p:cNvSpPr/>
          <p:nvPr/>
        </p:nvSpPr>
        <p:spPr>
          <a:xfrm>
            <a:off x="4754880" y="4265676"/>
            <a:ext cx="3813048" cy="2606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Models are API-hosted, so no local GPU is required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51" name="Shape 451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Preliminary / Interim Results</a:t>
            </a:r>
            <a:endParaRPr lang="en-US" sz="2800" dirty="0"/>
          </a:p>
        </p:txBody>
      </p:sp>
      <p:sp>
        <p:nvSpPr>
          <p:cNvPr id="452" name="Footer bar 452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53" name="Shape 453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54" name="Shape 454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9</a:t>
            </a:r>
            <a:endParaRPr lang="en-US" sz="1400" dirty="0"/>
          </a:p>
        </p:txBody>
      </p:sp>
      <p:sp>
        <p:nvSpPr>
          <p:cNvPr id="301" name="Shape 301"/>
          <p:cNvSpPr/>
          <p:nvPr/>
        </p:nvSpPr>
        <p:spPr>
          <a:xfrm>
            <a:off x="548640" y="1097280"/>
            <a:ext cx="16002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576" tIns="36576" rIns="36576" bIns="36576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36</a:t>
            </a:r>
            <a:endParaRPr lang="en-US" sz="200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automated tests passing</a:t>
            </a:r>
            <a:endParaRPr lang="en-US" sz="850" dirty="0"/>
          </a:p>
        </p:txBody>
      </p:sp>
      <p:sp>
        <p:nvSpPr>
          <p:cNvPr id="302" name="Shape 302"/>
          <p:cNvSpPr/>
          <p:nvPr/>
        </p:nvSpPr>
        <p:spPr>
          <a:xfrm>
            <a:off x="2240280" y="1097280"/>
            <a:ext cx="16002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576" tIns="36576" rIns="36576" bIns="36576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10 / 10</a:t>
            </a:r>
            <a:endParaRPr lang="en-US" sz="200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benchmark projects healed</a:t>
            </a:r>
            <a:endParaRPr lang="en-US" sz="85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(planted bug, harness eval)</a:t>
            </a:r>
            <a:endParaRPr lang="en-US" sz="850" dirty="0"/>
          </a:p>
        </p:txBody>
      </p:sp>
      <p:sp>
        <p:nvSpPr>
          <p:cNvPr id="303" name="Shape 303"/>
          <p:cNvSpPr/>
          <p:nvPr/>
        </p:nvSpPr>
        <p:spPr>
          <a:xfrm>
            <a:off x="3931920" y="1097280"/>
            <a:ext cx="16002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576" tIns="36576" rIns="36576" bIns="36576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1</a:t>
            </a:r>
            <a:endParaRPr lang="en-US" sz="200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repair iteration to fix</a:t>
            </a:r>
            <a:endParaRPr lang="en-US" sz="85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a planted bug</a:t>
            </a:r>
            <a:endParaRPr lang="en-US" sz="850" dirty="0"/>
          </a:p>
        </p:txBody>
      </p:sp>
      <p:sp>
        <p:nvSpPr>
          <p:cNvPr id="304" name="Shape 304"/>
          <p:cNvSpPr/>
          <p:nvPr/>
        </p:nvSpPr>
        <p:spPr>
          <a:xfrm>
            <a:off x="548640" y="2029968"/>
            <a:ext cx="16002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576" tIns="36576" rIns="36576" bIns="36576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~51 s</a:t>
            </a:r>
            <a:endParaRPr lang="en-US" sz="200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end-to-end real run on</a:t>
            </a:r>
            <a:endParaRPr lang="en-US" sz="85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Railway (blog + JWT auth)</a:t>
            </a:r>
            <a:endParaRPr lang="en-US" sz="850" dirty="0"/>
          </a:p>
        </p:txBody>
      </p:sp>
      <p:sp>
        <p:nvSpPr>
          <p:cNvPr id="305" name="Shape 305"/>
          <p:cNvSpPr/>
          <p:nvPr/>
        </p:nvSpPr>
        <p:spPr>
          <a:xfrm>
            <a:off x="2240280" y="2029968"/>
            <a:ext cx="16002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576" tIns="36576" rIns="36576" bIns="36576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$0.009</a:t>
            </a:r>
            <a:endParaRPr lang="en-US" sz="200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API cost of that run</a:t>
            </a:r>
            <a:endParaRPr lang="en-US" sz="85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(~9.6k tokens)</a:t>
            </a:r>
            <a:endParaRPr lang="en-US" sz="850" dirty="0"/>
          </a:p>
        </p:txBody>
      </p:sp>
      <p:sp>
        <p:nvSpPr>
          <p:cNvPr id="306" name="Shape 306"/>
          <p:cNvSpPr/>
          <p:nvPr/>
        </p:nvSpPr>
        <p:spPr>
          <a:xfrm>
            <a:off x="3931920" y="2029968"/>
            <a:ext cx="16002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576" tIns="36576" rIns="36576" bIns="36576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3 / 3</a:t>
            </a:r>
            <a:endParaRPr lang="en-US" sz="200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gates passed: import,</a:t>
            </a:r>
            <a:endParaRPr lang="en-US" sz="85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boot, API tests</a:t>
            </a:r>
            <a:endParaRPr lang="en-US" sz="850" dirty="0"/>
          </a:p>
        </p:txBody>
      </p:sp>
      <p:sp>
        <p:nvSpPr>
          <p:cNvPr id="307" name="Shape 307"/>
          <p:cNvSpPr/>
          <p:nvPr/>
        </p:nvSpPr>
        <p:spPr>
          <a:xfrm>
            <a:off x="5715000" y="1097280"/>
            <a:ext cx="2880360" cy="1773936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  <a:prstDash val="dash"/>
          </a:ln>
        </p:spPr>
        <p:txBody>
          <a:bodyPr wrap="square" lIns="137160" tIns="137160" rIns="137160" bIns="13716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Screenshot</a:t>
            </a:r>
            <a:endParaRPr lang="en-US" sz="13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Insert: VibeStack UI with the self-healing diff and the live app preview</a:t>
            </a:r>
            <a:endParaRPr lang="en-US" sz="1000" dirty="0"/>
          </a:p>
        </p:txBody>
      </p:sp>
      <p:sp>
        <p:nvSpPr>
          <p:cNvPr id="308" name="Shape 308"/>
          <p:cNvSpPr/>
          <p:nvPr/>
        </p:nvSpPr>
        <p:spPr>
          <a:xfrm>
            <a:off x="548640" y="3017520"/>
            <a:ext cx="2715768" cy="2560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Performance indicator</a:t>
            </a:r>
            <a:endParaRPr lang="en-US" sz="1000" dirty="0"/>
          </a:p>
        </p:txBody>
      </p:sp>
      <p:sp>
        <p:nvSpPr>
          <p:cNvPr id="309" name="Shape 309"/>
          <p:cNvSpPr/>
          <p:nvPr/>
        </p:nvSpPr>
        <p:spPr>
          <a:xfrm>
            <a:off x="3291840" y="3017520"/>
            <a:ext cx="2350008" cy="2560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Expected</a:t>
            </a:r>
            <a:endParaRPr lang="en-US" sz="1000" dirty="0"/>
          </a:p>
        </p:txBody>
      </p:sp>
      <p:sp>
        <p:nvSpPr>
          <p:cNvPr id="310" name="Shape 310"/>
          <p:cNvSpPr/>
          <p:nvPr/>
        </p:nvSpPr>
        <p:spPr>
          <a:xfrm>
            <a:off x="5669280" y="3017520"/>
            <a:ext cx="2898648" cy="2560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Achieved (prototype)</a:t>
            </a:r>
            <a:endParaRPr lang="en-US" sz="1000" dirty="0"/>
          </a:p>
        </p:txBody>
      </p:sp>
      <p:sp>
        <p:nvSpPr>
          <p:cNvPr id="311" name="Shape 311"/>
          <p:cNvSpPr/>
          <p:nvPr/>
        </p:nvSpPr>
        <p:spPr>
          <a:xfrm>
            <a:off x="548640" y="3300984"/>
            <a:ext cx="2715768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Architecture produced from a prompt</a:t>
            </a:r>
            <a:endParaRPr lang="en-US" sz="900" dirty="0"/>
          </a:p>
        </p:txBody>
      </p:sp>
      <p:sp>
        <p:nvSpPr>
          <p:cNvPr id="312" name="Shape 312"/>
          <p:cNvSpPr/>
          <p:nvPr/>
        </p:nvSpPr>
        <p:spPr>
          <a:xfrm>
            <a:off x="3291840" y="3300984"/>
            <a:ext cx="2350008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Valid, schema-checked spec</a:t>
            </a:r>
            <a:endParaRPr lang="en-US" sz="900" dirty="0"/>
          </a:p>
        </p:txBody>
      </p:sp>
      <p:sp>
        <p:nvSpPr>
          <p:cNvPr id="313" name="Shape 313"/>
          <p:cNvSpPr/>
          <p:nvPr/>
        </p:nvSpPr>
        <p:spPr>
          <a:xfrm>
            <a:off x="5669280" y="3300984"/>
            <a:ext cx="2898648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Yes, every run</a:t>
            </a:r>
            <a:endParaRPr lang="en-US" sz="900" dirty="0"/>
          </a:p>
        </p:txBody>
      </p:sp>
      <p:sp>
        <p:nvSpPr>
          <p:cNvPr id="314" name="Shape 314"/>
          <p:cNvSpPr/>
          <p:nvPr/>
        </p:nvSpPr>
        <p:spPr>
          <a:xfrm>
            <a:off x="548640" y="3584448"/>
            <a:ext cx="271576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Generated app passes all 3 gates</a:t>
            </a:r>
            <a:endParaRPr lang="en-US" sz="900" dirty="0"/>
          </a:p>
        </p:txBody>
      </p:sp>
      <p:sp>
        <p:nvSpPr>
          <p:cNvPr id="315" name="Shape 315"/>
          <p:cNvSpPr/>
          <p:nvPr/>
        </p:nvSpPr>
        <p:spPr>
          <a:xfrm>
            <a:off x="3291840" y="3584448"/>
            <a:ext cx="23500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≥ 80% of benchmark prompts</a:t>
            </a:r>
            <a:endParaRPr lang="en-US" sz="900" dirty="0"/>
          </a:p>
        </p:txBody>
      </p:sp>
      <p:sp>
        <p:nvSpPr>
          <p:cNvPr id="316" name="Shape 316"/>
          <p:cNvSpPr/>
          <p:nvPr/>
        </p:nvSpPr>
        <p:spPr>
          <a:xfrm>
            <a:off x="5669280" y="3584448"/>
            <a:ext cx="28986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10/10 after healing (harness evaluation)</a:t>
            </a:r>
            <a:endParaRPr lang="en-US" sz="900" dirty="0"/>
          </a:p>
        </p:txBody>
      </p:sp>
      <p:sp>
        <p:nvSpPr>
          <p:cNvPr id="317" name="Shape 317"/>
          <p:cNvSpPr/>
          <p:nvPr/>
        </p:nvSpPr>
        <p:spPr>
          <a:xfrm>
            <a:off x="548640" y="3867912"/>
            <a:ext cx="2715768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Repair attempts per failure</a:t>
            </a:r>
            <a:endParaRPr lang="en-US" sz="900" dirty="0"/>
          </a:p>
        </p:txBody>
      </p:sp>
      <p:sp>
        <p:nvSpPr>
          <p:cNvPr id="318" name="Shape 318"/>
          <p:cNvSpPr/>
          <p:nvPr/>
        </p:nvSpPr>
        <p:spPr>
          <a:xfrm>
            <a:off x="3291840" y="3867912"/>
            <a:ext cx="2350008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≤ 3 (circuit breaker)</a:t>
            </a:r>
            <a:endParaRPr lang="en-US" sz="900" dirty="0"/>
          </a:p>
        </p:txBody>
      </p:sp>
      <p:sp>
        <p:nvSpPr>
          <p:cNvPr id="319" name="Shape 319"/>
          <p:cNvSpPr/>
          <p:nvPr/>
        </p:nvSpPr>
        <p:spPr>
          <a:xfrm>
            <a:off x="5669280" y="3867912"/>
            <a:ext cx="2898648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1 on the planted-bug runs</a:t>
            </a:r>
            <a:endParaRPr lang="en-US" sz="900" dirty="0"/>
          </a:p>
        </p:txBody>
      </p:sp>
      <p:sp>
        <p:nvSpPr>
          <p:cNvPr id="320" name="Shape 320"/>
          <p:cNvSpPr/>
          <p:nvPr/>
        </p:nvSpPr>
        <p:spPr>
          <a:xfrm>
            <a:off x="548640" y="4151376"/>
            <a:ext cx="271576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API cost per generated app</a:t>
            </a:r>
            <a:endParaRPr lang="en-US" sz="900" dirty="0"/>
          </a:p>
        </p:txBody>
      </p:sp>
      <p:sp>
        <p:nvSpPr>
          <p:cNvPr id="321" name="Shape 321"/>
          <p:cNvSpPr/>
          <p:nvPr/>
        </p:nvSpPr>
        <p:spPr>
          <a:xfrm>
            <a:off x="3291840" y="4151376"/>
            <a:ext cx="23500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&lt; $0.25</a:t>
            </a:r>
            <a:endParaRPr lang="en-US" sz="900" dirty="0"/>
          </a:p>
        </p:txBody>
      </p:sp>
      <p:sp>
        <p:nvSpPr>
          <p:cNvPr id="322" name="Shape 322"/>
          <p:cNvSpPr/>
          <p:nvPr/>
        </p:nvSpPr>
        <p:spPr>
          <a:xfrm>
            <a:off x="5669280" y="4151376"/>
            <a:ext cx="289864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$0.009 (budget models) to ~$0.20 (Sonnet)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55" name="Shape 455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Remaining Work</a:t>
            </a:r>
            <a:endParaRPr lang="en-US" sz="2800" dirty="0"/>
          </a:p>
        </p:txBody>
      </p:sp>
      <p:sp>
        <p:nvSpPr>
          <p:cNvPr id="456" name="Footer bar 456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57" name="Shape 457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58" name="Shape 458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10</a:t>
            </a:r>
            <a:endParaRPr lang="en-US" sz="1400" dirty="0"/>
          </a:p>
        </p:txBody>
      </p:sp>
      <p:sp>
        <p:nvSpPr>
          <p:cNvPr id="323" name="Shape 323"/>
          <p:cNvSpPr/>
          <p:nvPr/>
        </p:nvSpPr>
        <p:spPr>
          <a:xfrm>
            <a:off x="548640" y="1097280"/>
            <a:ext cx="1344168" cy="3566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Activity</a:t>
            </a:r>
            <a:endParaRPr lang="en-US" sz="1050" dirty="0"/>
          </a:p>
        </p:txBody>
      </p:sp>
      <p:sp>
        <p:nvSpPr>
          <p:cNvPr id="324" name="Shape 324"/>
          <p:cNvSpPr/>
          <p:nvPr/>
        </p:nvSpPr>
        <p:spPr>
          <a:xfrm>
            <a:off x="1920240" y="1097280"/>
            <a:ext cx="4178808" cy="3566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Deliverable</a:t>
            </a:r>
            <a:endParaRPr lang="en-US" sz="1050" dirty="0"/>
          </a:p>
        </p:txBody>
      </p:sp>
      <p:sp>
        <p:nvSpPr>
          <p:cNvPr id="325" name="Shape 325"/>
          <p:cNvSpPr/>
          <p:nvPr/>
        </p:nvSpPr>
        <p:spPr>
          <a:xfrm>
            <a:off x="6126480" y="1097280"/>
            <a:ext cx="658368" cy="3566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Done</a:t>
            </a:r>
            <a:endParaRPr lang="en-US" sz="1050" dirty="0"/>
          </a:p>
        </p:txBody>
      </p:sp>
      <p:sp>
        <p:nvSpPr>
          <p:cNvPr id="326" name="Shape 326"/>
          <p:cNvSpPr/>
          <p:nvPr/>
        </p:nvSpPr>
        <p:spPr>
          <a:xfrm>
            <a:off x="6812280" y="1097280"/>
            <a:ext cx="1755648" cy="3566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Progress</a:t>
            </a:r>
            <a:endParaRPr lang="en-US" sz="1050" dirty="0"/>
          </a:p>
        </p:txBody>
      </p:sp>
      <p:sp>
        <p:nvSpPr>
          <p:cNvPr id="327" name="Shape 327"/>
          <p:cNvSpPr/>
          <p:nvPr/>
        </p:nvSpPr>
        <p:spPr>
          <a:xfrm>
            <a:off x="548640" y="1481328"/>
            <a:ext cx="1344168" cy="3566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Integration</a:t>
            </a:r>
            <a:endParaRPr lang="en-US" sz="1000" dirty="0"/>
          </a:p>
        </p:txBody>
      </p:sp>
      <p:sp>
        <p:nvSpPr>
          <p:cNvPr id="328" name="Shape 328"/>
          <p:cNvSpPr/>
          <p:nvPr/>
        </p:nvSpPr>
        <p:spPr>
          <a:xfrm>
            <a:off x="1920240" y="1481328"/>
            <a:ext cx="4178808" cy="3566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ChromaDB memory and MCP tool servers wired into the graph</a:t>
            </a:r>
            <a:endParaRPr lang="en-US" sz="1000" dirty="0"/>
          </a:p>
        </p:txBody>
      </p:sp>
      <p:sp>
        <p:nvSpPr>
          <p:cNvPr id="329" name="Shape 329"/>
          <p:cNvSpPr/>
          <p:nvPr/>
        </p:nvSpPr>
        <p:spPr>
          <a:xfrm>
            <a:off x="6126480" y="1481328"/>
            <a:ext cx="658368" cy="3566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0%</a:t>
            </a:r>
            <a:endParaRPr lang="en-US" sz="1000" dirty="0"/>
          </a:p>
        </p:txBody>
      </p:sp>
      <p:sp>
        <p:nvSpPr>
          <p:cNvPr id="330" name="Shape 330"/>
          <p:cNvSpPr/>
          <p:nvPr/>
        </p:nvSpPr>
        <p:spPr>
          <a:xfrm>
            <a:off x="6812280" y="1481328"/>
            <a:ext cx="1755648" cy="3566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/>
            </a:r>
            <a:endParaRPr lang="en-US" sz="1000" dirty="0"/>
          </a:p>
        </p:txBody>
      </p:sp>
      <p:sp>
        <p:nvSpPr>
          <p:cNvPr id="331" name="Shape 331"/>
          <p:cNvSpPr/>
          <p:nvPr/>
        </p:nvSpPr>
        <p:spPr>
          <a:xfrm>
            <a:off x="548640" y="1865376"/>
            <a:ext cx="1344168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Testing</a:t>
            </a:r>
            <a:endParaRPr lang="en-US" sz="1000" dirty="0"/>
          </a:p>
        </p:txBody>
      </p:sp>
      <p:sp>
        <p:nvSpPr>
          <p:cNvPr id="332" name="Shape 332"/>
          <p:cNvSpPr/>
          <p:nvPr/>
        </p:nvSpPr>
        <p:spPr>
          <a:xfrm>
            <a:off x="1920240" y="1865376"/>
            <a:ext cx="4178808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Benchmark report: 10 prompts, real models (pass rate, cost)</a:t>
            </a:r>
            <a:endParaRPr lang="en-US" sz="1000" dirty="0"/>
          </a:p>
        </p:txBody>
      </p:sp>
      <p:sp>
        <p:nvSpPr>
          <p:cNvPr id="333" name="Shape 333"/>
          <p:cNvSpPr/>
          <p:nvPr/>
        </p:nvSpPr>
        <p:spPr>
          <a:xfrm>
            <a:off x="6126480" y="1865376"/>
            <a:ext cx="658368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40%</a:t>
            </a:r>
            <a:endParaRPr lang="en-US" sz="1000" dirty="0"/>
          </a:p>
        </p:txBody>
      </p:sp>
      <p:sp>
        <p:nvSpPr>
          <p:cNvPr id="334" name="Shape 334"/>
          <p:cNvSpPr/>
          <p:nvPr/>
        </p:nvSpPr>
        <p:spPr>
          <a:xfrm>
            <a:off x="6812280" y="1865376"/>
            <a:ext cx="1755648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/>
            </a:r>
            <a:endParaRPr lang="en-US" sz="1000" dirty="0"/>
          </a:p>
        </p:txBody>
      </p:sp>
      <p:sp>
        <p:nvSpPr>
          <p:cNvPr id="335" name="Shape 335"/>
          <p:cNvSpPr/>
          <p:nvPr/>
        </p:nvSpPr>
        <p:spPr>
          <a:xfrm>
            <a:off x="548640" y="2249424"/>
            <a:ext cx="1344168" cy="3566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Optimisation</a:t>
            </a:r>
            <a:endParaRPr lang="en-US" sz="1000" dirty="0"/>
          </a:p>
        </p:txBody>
      </p:sp>
      <p:sp>
        <p:nvSpPr>
          <p:cNvPr id="336" name="Shape 336"/>
          <p:cNvSpPr/>
          <p:nvPr/>
        </p:nvSpPr>
        <p:spPr>
          <a:xfrm>
            <a:off x="1920240" y="2249424"/>
            <a:ext cx="4178808" cy="3566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Lower token cost and latency (prompt caching)</a:t>
            </a:r>
            <a:endParaRPr lang="en-US" sz="1000" dirty="0"/>
          </a:p>
        </p:txBody>
      </p:sp>
      <p:sp>
        <p:nvSpPr>
          <p:cNvPr id="337" name="Shape 337"/>
          <p:cNvSpPr/>
          <p:nvPr/>
        </p:nvSpPr>
        <p:spPr>
          <a:xfrm>
            <a:off x="6126480" y="2249424"/>
            <a:ext cx="658368" cy="3566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20%</a:t>
            </a:r>
            <a:endParaRPr lang="en-US" sz="1000" dirty="0"/>
          </a:p>
        </p:txBody>
      </p:sp>
      <p:sp>
        <p:nvSpPr>
          <p:cNvPr id="338" name="Shape 338"/>
          <p:cNvSpPr/>
          <p:nvPr/>
        </p:nvSpPr>
        <p:spPr>
          <a:xfrm>
            <a:off x="6812280" y="2249424"/>
            <a:ext cx="1755648" cy="3566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/>
            </a:r>
            <a:endParaRPr lang="en-US" sz="1000" dirty="0"/>
          </a:p>
        </p:txBody>
      </p:sp>
      <p:sp>
        <p:nvSpPr>
          <p:cNvPr id="339" name="Shape 339"/>
          <p:cNvSpPr/>
          <p:nvPr/>
        </p:nvSpPr>
        <p:spPr>
          <a:xfrm>
            <a:off x="548640" y="2633472"/>
            <a:ext cx="1344168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Security</a:t>
            </a:r>
            <a:endParaRPr lang="en-US" sz="1000" dirty="0"/>
          </a:p>
        </p:txBody>
      </p:sp>
      <p:sp>
        <p:nvSpPr>
          <p:cNvPr id="340" name="Shape 340"/>
          <p:cNvSpPr/>
          <p:nvPr/>
        </p:nvSpPr>
        <p:spPr>
          <a:xfrm>
            <a:off x="1920240" y="2633472"/>
            <a:ext cx="4178808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Trivy / Checkov scan gate added to the sandbox</a:t>
            </a:r>
            <a:endParaRPr lang="en-US" sz="1000" dirty="0"/>
          </a:p>
        </p:txBody>
      </p:sp>
      <p:sp>
        <p:nvSpPr>
          <p:cNvPr id="341" name="Shape 341"/>
          <p:cNvSpPr/>
          <p:nvPr/>
        </p:nvSpPr>
        <p:spPr>
          <a:xfrm>
            <a:off x="6126480" y="2633472"/>
            <a:ext cx="658368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0%</a:t>
            </a:r>
            <a:endParaRPr lang="en-US" sz="1000" dirty="0"/>
          </a:p>
        </p:txBody>
      </p:sp>
      <p:sp>
        <p:nvSpPr>
          <p:cNvPr id="342" name="Shape 342"/>
          <p:cNvSpPr/>
          <p:nvPr/>
        </p:nvSpPr>
        <p:spPr>
          <a:xfrm>
            <a:off x="6812280" y="2633472"/>
            <a:ext cx="1755648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/>
            </a:r>
            <a:endParaRPr lang="en-US" sz="1000" dirty="0"/>
          </a:p>
        </p:txBody>
      </p:sp>
      <p:sp>
        <p:nvSpPr>
          <p:cNvPr id="343" name="Shape 343"/>
          <p:cNvSpPr/>
          <p:nvPr/>
        </p:nvSpPr>
        <p:spPr>
          <a:xfrm>
            <a:off x="548640" y="3017520"/>
            <a:ext cx="1344168" cy="3566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Documentation</a:t>
            </a:r>
            <a:endParaRPr lang="en-US" sz="1000" dirty="0"/>
          </a:p>
        </p:txBody>
      </p:sp>
      <p:sp>
        <p:nvSpPr>
          <p:cNvPr id="344" name="Shape 344"/>
          <p:cNvSpPr/>
          <p:nvPr/>
        </p:nvSpPr>
        <p:spPr>
          <a:xfrm>
            <a:off x="1920240" y="3017520"/>
            <a:ext cx="4178808" cy="3566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Project report, user guide and API documentation</a:t>
            </a:r>
            <a:endParaRPr lang="en-US" sz="1000" dirty="0"/>
          </a:p>
        </p:txBody>
      </p:sp>
      <p:sp>
        <p:nvSpPr>
          <p:cNvPr id="345" name="Shape 345"/>
          <p:cNvSpPr/>
          <p:nvPr/>
        </p:nvSpPr>
        <p:spPr>
          <a:xfrm>
            <a:off x="6126480" y="3017520"/>
            <a:ext cx="658368" cy="3566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50%</a:t>
            </a:r>
            <a:endParaRPr lang="en-US" sz="1000" dirty="0"/>
          </a:p>
        </p:txBody>
      </p:sp>
      <p:sp>
        <p:nvSpPr>
          <p:cNvPr id="346" name="Shape 346"/>
          <p:cNvSpPr/>
          <p:nvPr/>
        </p:nvSpPr>
        <p:spPr>
          <a:xfrm>
            <a:off x="6812280" y="3017520"/>
            <a:ext cx="1755648" cy="3566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/>
            </a:r>
            <a:endParaRPr lang="en-US" sz="1000" dirty="0"/>
          </a:p>
        </p:txBody>
      </p:sp>
      <p:sp>
        <p:nvSpPr>
          <p:cNvPr id="347" name="Shape 347"/>
          <p:cNvSpPr/>
          <p:nvPr/>
        </p:nvSpPr>
        <p:spPr>
          <a:xfrm>
            <a:off x="548640" y="3401568"/>
            <a:ext cx="1344168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Publication</a:t>
            </a:r>
            <a:endParaRPr lang="en-US" sz="1000" dirty="0"/>
          </a:p>
        </p:txBody>
      </p:sp>
      <p:sp>
        <p:nvSpPr>
          <p:cNvPr id="348" name="Shape 348"/>
          <p:cNvSpPr/>
          <p:nvPr/>
        </p:nvSpPr>
        <p:spPr>
          <a:xfrm>
            <a:off x="1920240" y="3401568"/>
            <a:ext cx="4178808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Conference paper draft on the self-healing harness</a:t>
            </a:r>
            <a:endParaRPr lang="en-US" sz="1000" dirty="0"/>
          </a:p>
        </p:txBody>
      </p:sp>
      <p:sp>
        <p:nvSpPr>
          <p:cNvPr id="349" name="Shape 349"/>
          <p:cNvSpPr/>
          <p:nvPr/>
        </p:nvSpPr>
        <p:spPr>
          <a:xfrm>
            <a:off x="6126480" y="3401568"/>
            <a:ext cx="658368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10%</a:t>
            </a:r>
            <a:endParaRPr lang="en-US" sz="1000" dirty="0"/>
          </a:p>
        </p:txBody>
      </p:sp>
      <p:sp>
        <p:nvSpPr>
          <p:cNvPr id="350" name="Shape 350"/>
          <p:cNvSpPr/>
          <p:nvPr/>
        </p:nvSpPr>
        <p:spPr>
          <a:xfrm>
            <a:off x="6812280" y="3401568"/>
            <a:ext cx="1755648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/>
            </a:r>
            <a:endParaRPr lang="en-US" sz="1000" dirty="0"/>
          </a:p>
        </p:txBody>
      </p:sp>
      <p:sp>
        <p:nvSpPr>
          <p:cNvPr id="351" name="Shape 351"/>
          <p:cNvSpPr/>
          <p:nvPr/>
        </p:nvSpPr>
        <p:spPr>
          <a:xfrm>
            <a:off x="548640" y="3785616"/>
            <a:ext cx="1344168" cy="3566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Copyright</a:t>
            </a:r>
            <a:endParaRPr lang="en-US" sz="1000" dirty="0"/>
          </a:p>
        </p:txBody>
      </p:sp>
      <p:sp>
        <p:nvSpPr>
          <p:cNvPr id="352" name="Shape 352"/>
          <p:cNvSpPr/>
          <p:nvPr/>
        </p:nvSpPr>
        <p:spPr>
          <a:xfrm>
            <a:off x="1920240" y="3785616"/>
            <a:ext cx="4178808" cy="3566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Software copyright registration for VibeStack</a:t>
            </a:r>
            <a:endParaRPr lang="en-US" sz="1000" dirty="0"/>
          </a:p>
        </p:txBody>
      </p:sp>
      <p:sp>
        <p:nvSpPr>
          <p:cNvPr id="353" name="Shape 353"/>
          <p:cNvSpPr/>
          <p:nvPr/>
        </p:nvSpPr>
        <p:spPr>
          <a:xfrm>
            <a:off x="6126480" y="3785616"/>
            <a:ext cx="658368" cy="3566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0%</a:t>
            </a:r>
            <a:endParaRPr lang="en-US" sz="1000" dirty="0"/>
          </a:p>
        </p:txBody>
      </p:sp>
      <p:sp>
        <p:nvSpPr>
          <p:cNvPr id="354" name="Shape 354"/>
          <p:cNvSpPr/>
          <p:nvPr/>
        </p:nvSpPr>
        <p:spPr>
          <a:xfrm>
            <a:off x="6812280" y="3785616"/>
            <a:ext cx="1755648" cy="3566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/>
            </a:r>
            <a:endParaRPr lang="en-US" sz="1000" dirty="0"/>
          </a:p>
        </p:txBody>
      </p:sp>
      <p:sp>
        <p:nvSpPr>
          <p:cNvPr id="355" name="Shape 355"/>
          <p:cNvSpPr/>
          <p:nvPr/>
        </p:nvSpPr>
        <p:spPr>
          <a:xfrm>
            <a:off x="6858000" y="1600200"/>
            <a:ext cx="1645920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56" name="Shape 356"/>
          <p:cNvSpPr/>
          <p:nvPr/>
        </p:nvSpPr>
        <p:spPr>
          <a:xfrm>
            <a:off x="6858000" y="1984248"/>
            <a:ext cx="1645920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57" name="Shape 357"/>
          <p:cNvSpPr/>
          <p:nvPr/>
        </p:nvSpPr>
        <p:spPr>
          <a:xfrm>
            <a:off x="6858000" y="1984248"/>
            <a:ext cx="658368" cy="1280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58" name="Shape 358"/>
          <p:cNvSpPr/>
          <p:nvPr/>
        </p:nvSpPr>
        <p:spPr>
          <a:xfrm>
            <a:off x="6858000" y="2368296"/>
            <a:ext cx="1645920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59" name="Shape 359"/>
          <p:cNvSpPr/>
          <p:nvPr/>
        </p:nvSpPr>
        <p:spPr>
          <a:xfrm>
            <a:off x="6858000" y="2368296"/>
            <a:ext cx="329184" cy="1280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60" name="Shape 360"/>
          <p:cNvSpPr/>
          <p:nvPr/>
        </p:nvSpPr>
        <p:spPr>
          <a:xfrm>
            <a:off x="6858000" y="2752344"/>
            <a:ext cx="1645920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61" name="Shape 361"/>
          <p:cNvSpPr/>
          <p:nvPr/>
        </p:nvSpPr>
        <p:spPr>
          <a:xfrm>
            <a:off x="6858000" y="3136392"/>
            <a:ext cx="1645920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62" name="Shape 362"/>
          <p:cNvSpPr/>
          <p:nvPr/>
        </p:nvSpPr>
        <p:spPr>
          <a:xfrm>
            <a:off x="6858000" y="3136392"/>
            <a:ext cx="822960" cy="1280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63" name="Shape 363"/>
          <p:cNvSpPr/>
          <p:nvPr/>
        </p:nvSpPr>
        <p:spPr>
          <a:xfrm>
            <a:off x="6858000" y="3520440"/>
            <a:ext cx="1645920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64" name="Shape 364"/>
          <p:cNvSpPr/>
          <p:nvPr/>
        </p:nvSpPr>
        <p:spPr>
          <a:xfrm>
            <a:off x="6858000" y="3520440"/>
            <a:ext cx="164592" cy="1280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65" name="Shape 365"/>
          <p:cNvSpPr/>
          <p:nvPr/>
        </p:nvSpPr>
        <p:spPr>
          <a:xfrm>
            <a:off x="6858000" y="3904488"/>
            <a:ext cx="1645920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66" name="Shape 366"/>
          <p:cNvSpPr/>
          <p:nvPr/>
        </p:nvSpPr>
        <p:spPr>
          <a:xfrm>
            <a:off x="548640" y="4206240"/>
            <a:ext cx="8046720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Overall completion ≈ 65% of planned scope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   (6 of 8 milestones done)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59" name="Shape 459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Updated Timelines</a:t>
            </a:r>
            <a:endParaRPr lang="en-US" sz="2800" dirty="0"/>
          </a:p>
        </p:txBody>
      </p:sp>
      <p:sp>
        <p:nvSpPr>
          <p:cNvPr id="460" name="Footer bar 460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61" name="Shape 461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62" name="Shape 462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11</a:t>
            </a:r>
            <a:endParaRPr lang="en-US" sz="1400" dirty="0"/>
          </a:p>
        </p:txBody>
      </p:sp>
      <p:sp>
        <p:nvSpPr>
          <p:cNvPr id="367" name="Shape 367"/>
          <p:cNvSpPr/>
          <p:nvPr/>
        </p:nvSpPr>
        <p:spPr>
          <a:xfrm>
            <a:off x="548640" y="1097280"/>
            <a:ext cx="173736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64008" tIns="64008" rIns="64008" bIns="64008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Activity</a:t>
            </a:r>
            <a:endParaRPr lang="en-US" sz="1000" dirty="0"/>
          </a:p>
        </p:txBody>
      </p:sp>
      <p:sp>
        <p:nvSpPr>
          <p:cNvPr id="368" name="Shape 368"/>
          <p:cNvSpPr/>
          <p:nvPr/>
        </p:nvSpPr>
        <p:spPr>
          <a:xfrm>
            <a:off x="2331720" y="1097280"/>
            <a:ext cx="677672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Aug '26</a:t>
            </a:r>
            <a:endParaRPr lang="en-US" sz="900" dirty="0"/>
          </a:p>
        </p:txBody>
      </p:sp>
      <p:sp>
        <p:nvSpPr>
          <p:cNvPr id="369" name="Shape 369"/>
          <p:cNvSpPr/>
          <p:nvPr/>
        </p:nvSpPr>
        <p:spPr>
          <a:xfrm>
            <a:off x="3027680" y="1097280"/>
            <a:ext cx="677672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Sep '26</a:t>
            </a:r>
            <a:endParaRPr lang="en-US" sz="900" dirty="0"/>
          </a:p>
        </p:txBody>
      </p:sp>
      <p:sp>
        <p:nvSpPr>
          <p:cNvPr id="370" name="Shape 370"/>
          <p:cNvSpPr/>
          <p:nvPr/>
        </p:nvSpPr>
        <p:spPr>
          <a:xfrm>
            <a:off x="3723640" y="1097280"/>
            <a:ext cx="677672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Oct '26</a:t>
            </a:r>
            <a:endParaRPr lang="en-US" sz="900" dirty="0"/>
          </a:p>
        </p:txBody>
      </p:sp>
      <p:sp>
        <p:nvSpPr>
          <p:cNvPr id="371" name="Shape 371"/>
          <p:cNvSpPr/>
          <p:nvPr/>
        </p:nvSpPr>
        <p:spPr>
          <a:xfrm>
            <a:off x="4419600" y="1097280"/>
            <a:ext cx="677672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Nov '26</a:t>
            </a:r>
            <a:endParaRPr lang="en-US" sz="900" dirty="0"/>
          </a:p>
        </p:txBody>
      </p:sp>
      <p:sp>
        <p:nvSpPr>
          <p:cNvPr id="372" name="Shape 372"/>
          <p:cNvSpPr/>
          <p:nvPr/>
        </p:nvSpPr>
        <p:spPr>
          <a:xfrm>
            <a:off x="5115560" y="1097280"/>
            <a:ext cx="677672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Dec '26</a:t>
            </a:r>
            <a:endParaRPr lang="en-US" sz="900" dirty="0"/>
          </a:p>
        </p:txBody>
      </p:sp>
      <p:sp>
        <p:nvSpPr>
          <p:cNvPr id="373" name="Shape 373"/>
          <p:cNvSpPr/>
          <p:nvPr/>
        </p:nvSpPr>
        <p:spPr>
          <a:xfrm>
            <a:off x="5811520" y="1097280"/>
            <a:ext cx="677672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Jan '27</a:t>
            </a:r>
            <a:endParaRPr lang="en-US" sz="900" dirty="0"/>
          </a:p>
        </p:txBody>
      </p:sp>
      <p:sp>
        <p:nvSpPr>
          <p:cNvPr id="374" name="Shape 374"/>
          <p:cNvSpPr/>
          <p:nvPr/>
        </p:nvSpPr>
        <p:spPr>
          <a:xfrm>
            <a:off x="6507480" y="1097280"/>
            <a:ext cx="677672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Feb '27</a:t>
            </a:r>
            <a:endParaRPr lang="en-US" sz="900" dirty="0"/>
          </a:p>
        </p:txBody>
      </p:sp>
      <p:sp>
        <p:nvSpPr>
          <p:cNvPr id="375" name="Shape 375"/>
          <p:cNvSpPr/>
          <p:nvPr/>
        </p:nvSpPr>
        <p:spPr>
          <a:xfrm>
            <a:off x="7203440" y="1097280"/>
            <a:ext cx="677672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Mar '27</a:t>
            </a:r>
            <a:endParaRPr lang="en-US" sz="900" dirty="0"/>
          </a:p>
        </p:txBody>
      </p:sp>
      <p:sp>
        <p:nvSpPr>
          <p:cNvPr id="376" name="Shape 376"/>
          <p:cNvSpPr/>
          <p:nvPr/>
        </p:nvSpPr>
        <p:spPr>
          <a:xfrm>
            <a:off x="7899400" y="1097280"/>
            <a:ext cx="677672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Apr '27</a:t>
            </a:r>
            <a:endParaRPr lang="en-US" sz="900" dirty="0"/>
          </a:p>
        </p:txBody>
      </p:sp>
      <p:sp>
        <p:nvSpPr>
          <p:cNvPr id="377" name="Shape 377"/>
          <p:cNvSpPr/>
          <p:nvPr/>
        </p:nvSpPr>
        <p:spPr>
          <a:xfrm>
            <a:off x="548640" y="1417320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Literature &amp; zeroth review</a:t>
            </a:r>
            <a:endParaRPr lang="en-US" sz="900" dirty="0"/>
          </a:p>
        </p:txBody>
      </p:sp>
      <p:sp>
        <p:nvSpPr>
          <p:cNvPr id="378" name="Shape 378"/>
          <p:cNvSpPr/>
          <p:nvPr/>
        </p:nvSpPr>
        <p:spPr>
          <a:xfrm>
            <a:off x="2331720" y="1417320"/>
            <a:ext cx="6263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79" name="Shape 379"/>
          <p:cNvSpPr/>
          <p:nvPr/>
        </p:nvSpPr>
        <p:spPr>
          <a:xfrm>
            <a:off x="2331720" y="1472184"/>
            <a:ext cx="695960" cy="16459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80" name="Shape 380"/>
          <p:cNvSpPr/>
          <p:nvPr/>
        </p:nvSpPr>
        <p:spPr>
          <a:xfrm>
            <a:off x="548640" y="1719072"/>
            <a:ext cx="173736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Design (architecture, DFDs)</a:t>
            </a:r>
            <a:endParaRPr lang="en-US" sz="900" dirty="0"/>
          </a:p>
        </p:txBody>
      </p:sp>
      <p:sp>
        <p:nvSpPr>
          <p:cNvPr id="381" name="Shape 381"/>
          <p:cNvSpPr/>
          <p:nvPr/>
        </p:nvSpPr>
        <p:spPr>
          <a:xfrm>
            <a:off x="2331720" y="1719072"/>
            <a:ext cx="626364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82" name="Shape 382"/>
          <p:cNvSpPr/>
          <p:nvPr/>
        </p:nvSpPr>
        <p:spPr>
          <a:xfrm>
            <a:off x="2679700" y="1773936"/>
            <a:ext cx="904748" cy="16459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83" name="Shape 383"/>
          <p:cNvSpPr/>
          <p:nvPr/>
        </p:nvSpPr>
        <p:spPr>
          <a:xfrm>
            <a:off x="548640" y="2020824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Implementation (harness, UI)</a:t>
            </a:r>
            <a:endParaRPr lang="en-US" sz="900" dirty="0"/>
          </a:p>
        </p:txBody>
      </p:sp>
      <p:sp>
        <p:nvSpPr>
          <p:cNvPr id="384" name="Shape 384"/>
          <p:cNvSpPr/>
          <p:nvPr/>
        </p:nvSpPr>
        <p:spPr>
          <a:xfrm>
            <a:off x="2331720" y="2020824"/>
            <a:ext cx="6263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85" name="Shape 385"/>
          <p:cNvSpPr/>
          <p:nvPr/>
        </p:nvSpPr>
        <p:spPr>
          <a:xfrm>
            <a:off x="3027680" y="2075688"/>
            <a:ext cx="2435860" cy="164592"/>
          </a:xfrm>
          <a:prstGeom prst="rect">
            <a:avLst/>
          </a:prstGeom>
          <a:solidFill>
            <a:srgbClr val="7F7F7F"/>
          </a:solidFill>
          <a:ln w="9525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86" name="Shape 386"/>
          <p:cNvSpPr/>
          <p:nvPr/>
        </p:nvSpPr>
        <p:spPr>
          <a:xfrm>
            <a:off x="548640" y="2322576"/>
            <a:ext cx="173736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Review 1 (8 Oct)</a:t>
            </a:r>
            <a:endParaRPr lang="en-US" sz="900" dirty="0"/>
          </a:p>
        </p:txBody>
      </p:sp>
      <p:sp>
        <p:nvSpPr>
          <p:cNvPr id="387" name="Shape 387"/>
          <p:cNvSpPr/>
          <p:nvPr/>
        </p:nvSpPr>
        <p:spPr>
          <a:xfrm>
            <a:off x="2331720" y="2322576"/>
            <a:ext cx="626364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88" name="Shape 388"/>
          <p:cNvSpPr/>
          <p:nvPr/>
        </p:nvSpPr>
        <p:spPr>
          <a:xfrm>
            <a:off x="3862832" y="2377440"/>
            <a:ext cx="83515" cy="164592"/>
          </a:xfrm>
          <a:prstGeom prst="diamond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89" name="Shape 389"/>
          <p:cNvSpPr/>
          <p:nvPr/>
        </p:nvSpPr>
        <p:spPr>
          <a:xfrm>
            <a:off x="548640" y="2624328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Testing &amp; benchmarks</a:t>
            </a:r>
            <a:endParaRPr lang="en-US" sz="900" dirty="0"/>
          </a:p>
        </p:txBody>
      </p:sp>
      <p:sp>
        <p:nvSpPr>
          <p:cNvPr id="390" name="Shape 390"/>
          <p:cNvSpPr/>
          <p:nvPr/>
        </p:nvSpPr>
        <p:spPr>
          <a:xfrm>
            <a:off x="2331720" y="2624328"/>
            <a:ext cx="6263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91" name="Shape 391"/>
          <p:cNvSpPr/>
          <p:nvPr/>
        </p:nvSpPr>
        <p:spPr>
          <a:xfrm>
            <a:off x="3723640" y="2679192"/>
            <a:ext cx="2435860" cy="164592"/>
          </a:xfrm>
          <a:prstGeom prst="rect">
            <a:avLst/>
          </a:prstGeom>
          <a:solidFill>
            <a:srgbClr val="7F7F7F"/>
          </a:solidFill>
          <a:ln w="9525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92" name="Shape 392"/>
          <p:cNvSpPr/>
          <p:nvPr/>
        </p:nvSpPr>
        <p:spPr>
          <a:xfrm>
            <a:off x="548640" y="2926080"/>
            <a:ext cx="173736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Validation with real models</a:t>
            </a:r>
            <a:endParaRPr lang="en-US" sz="900" dirty="0"/>
          </a:p>
        </p:txBody>
      </p:sp>
      <p:sp>
        <p:nvSpPr>
          <p:cNvPr id="393" name="Shape 393"/>
          <p:cNvSpPr/>
          <p:nvPr/>
        </p:nvSpPr>
        <p:spPr>
          <a:xfrm>
            <a:off x="2331720" y="2926080"/>
            <a:ext cx="626364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94" name="Shape 394"/>
          <p:cNvSpPr/>
          <p:nvPr/>
        </p:nvSpPr>
        <p:spPr>
          <a:xfrm>
            <a:off x="5115560" y="2980944"/>
            <a:ext cx="1739900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95" name="Shape 395"/>
          <p:cNvSpPr/>
          <p:nvPr/>
        </p:nvSpPr>
        <p:spPr>
          <a:xfrm>
            <a:off x="548640" y="3227832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Documentation &amp; report</a:t>
            </a:r>
            <a:endParaRPr lang="en-US" sz="900" dirty="0"/>
          </a:p>
        </p:txBody>
      </p:sp>
      <p:sp>
        <p:nvSpPr>
          <p:cNvPr id="396" name="Shape 396"/>
          <p:cNvSpPr/>
          <p:nvPr/>
        </p:nvSpPr>
        <p:spPr>
          <a:xfrm>
            <a:off x="2331720" y="3227832"/>
            <a:ext cx="6263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97" name="Shape 397"/>
          <p:cNvSpPr/>
          <p:nvPr/>
        </p:nvSpPr>
        <p:spPr>
          <a:xfrm>
            <a:off x="4071620" y="3282696"/>
            <a:ext cx="3827780" cy="164592"/>
          </a:xfrm>
          <a:prstGeom prst="rect">
            <a:avLst/>
          </a:prstGeom>
          <a:solidFill>
            <a:srgbClr val="7F7F7F"/>
          </a:solidFill>
          <a:ln w="9525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98" name="Shape 398"/>
          <p:cNvSpPr/>
          <p:nvPr/>
        </p:nvSpPr>
        <p:spPr>
          <a:xfrm>
            <a:off x="548640" y="3529584"/>
            <a:ext cx="173736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Review 2</a:t>
            </a:r>
            <a:endParaRPr lang="en-US" sz="900" dirty="0"/>
          </a:p>
        </p:txBody>
      </p:sp>
      <p:sp>
        <p:nvSpPr>
          <p:cNvPr id="399" name="Shape 399"/>
          <p:cNvSpPr/>
          <p:nvPr/>
        </p:nvSpPr>
        <p:spPr>
          <a:xfrm>
            <a:off x="2331720" y="3529584"/>
            <a:ext cx="626364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00" name="Shape 400"/>
          <p:cNvSpPr/>
          <p:nvPr/>
        </p:nvSpPr>
        <p:spPr>
          <a:xfrm>
            <a:off x="6089904" y="3584448"/>
            <a:ext cx="139192" cy="164592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01" name="Shape 401"/>
          <p:cNvSpPr/>
          <p:nvPr/>
        </p:nvSpPr>
        <p:spPr>
          <a:xfrm>
            <a:off x="548640" y="3831336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Final project &amp; viva</a:t>
            </a:r>
            <a:endParaRPr lang="en-US" sz="900" dirty="0"/>
          </a:p>
        </p:txBody>
      </p:sp>
      <p:sp>
        <p:nvSpPr>
          <p:cNvPr id="402" name="Shape 402"/>
          <p:cNvSpPr/>
          <p:nvPr/>
        </p:nvSpPr>
        <p:spPr>
          <a:xfrm>
            <a:off x="2331720" y="3831336"/>
            <a:ext cx="6263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03" name="Shape 403"/>
          <p:cNvSpPr/>
          <p:nvPr/>
        </p:nvSpPr>
        <p:spPr>
          <a:xfrm>
            <a:off x="7551420" y="3886200"/>
            <a:ext cx="1043940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cxnSp>
        <p:nvCxnSpPr>
          <p:cNvPr id="404" name="Connector 404"/>
          <p:cNvCxnSpPr/>
          <p:nvPr/>
        </p:nvCxnSpPr>
        <p:spPr>
          <a:xfrm>
            <a:off x="3027680" y="1417320"/>
            <a:ext cx="0" cy="2715768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405" name="Connector 405"/>
          <p:cNvCxnSpPr/>
          <p:nvPr/>
        </p:nvCxnSpPr>
        <p:spPr>
          <a:xfrm>
            <a:off x="3723640" y="1417320"/>
            <a:ext cx="0" cy="2715768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406" name="Connector 406"/>
          <p:cNvCxnSpPr/>
          <p:nvPr/>
        </p:nvCxnSpPr>
        <p:spPr>
          <a:xfrm>
            <a:off x="4419600" y="1417320"/>
            <a:ext cx="0" cy="2715768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407" name="Connector 407"/>
          <p:cNvCxnSpPr/>
          <p:nvPr/>
        </p:nvCxnSpPr>
        <p:spPr>
          <a:xfrm>
            <a:off x="5115560" y="1417320"/>
            <a:ext cx="0" cy="2715768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408" name="Connector 408"/>
          <p:cNvCxnSpPr/>
          <p:nvPr/>
        </p:nvCxnSpPr>
        <p:spPr>
          <a:xfrm>
            <a:off x="5811520" y="1417320"/>
            <a:ext cx="0" cy="2715768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409" name="Connector 409"/>
          <p:cNvCxnSpPr/>
          <p:nvPr/>
        </p:nvCxnSpPr>
        <p:spPr>
          <a:xfrm>
            <a:off x="6507480" y="1417320"/>
            <a:ext cx="0" cy="2715768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410" name="Connector 410"/>
          <p:cNvCxnSpPr/>
          <p:nvPr/>
        </p:nvCxnSpPr>
        <p:spPr>
          <a:xfrm>
            <a:off x="7203440" y="1417320"/>
            <a:ext cx="0" cy="2715768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411" name="Connector 411"/>
          <p:cNvCxnSpPr/>
          <p:nvPr/>
        </p:nvCxnSpPr>
        <p:spPr>
          <a:xfrm>
            <a:off x="7899400" y="1417320"/>
            <a:ext cx="0" cy="2715768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412" name="Connector 412"/>
          <p:cNvCxnSpPr/>
          <p:nvPr/>
        </p:nvCxnSpPr>
        <p:spPr>
          <a:xfrm>
            <a:off x="3880792" y="1371600"/>
            <a:ext cx="0" cy="2761488"/>
          </a:xfrm>
          <a:prstGeom prst="straightConnector1">
            <a:avLst/>
          </a:prstGeom>
          <a:ln w="19050">
            <a:solidFill>
              <a:srgbClr val="CC0000"/>
            </a:solidFill>
            <a:prstDash val="dash"/>
          </a:ln>
        </p:spPr>
      </p:cxnSp>
      <p:sp>
        <p:nvSpPr>
          <p:cNvPr id="413" name="Shape 413"/>
          <p:cNvSpPr txBox="1"/>
          <p:nvPr/>
        </p:nvSpPr>
        <p:spPr>
          <a:xfrm>
            <a:off x="3926512" y="416052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Today: 8 Oct 2026</a:t>
            </a:r>
            <a:endParaRPr lang="en-US" sz="800" dirty="0"/>
          </a:p>
        </p:txBody>
      </p:sp>
      <p:sp>
        <p:nvSpPr>
          <p:cNvPr id="414" name="Shape 414"/>
          <p:cNvSpPr/>
          <p:nvPr/>
        </p:nvSpPr>
        <p:spPr>
          <a:xfrm>
            <a:off x="548640" y="4379976"/>
            <a:ext cx="320040" cy="146304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15" name="Shape 415"/>
          <p:cNvSpPr txBox="1"/>
          <p:nvPr/>
        </p:nvSpPr>
        <p:spPr>
          <a:xfrm>
            <a:off x="932688" y="435254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Completed</a:t>
            </a:r>
            <a:endParaRPr lang="en-US" sz="900" dirty="0"/>
          </a:p>
        </p:txBody>
      </p:sp>
      <p:sp>
        <p:nvSpPr>
          <p:cNvPr id="416" name="Shape 416"/>
          <p:cNvSpPr/>
          <p:nvPr/>
        </p:nvSpPr>
        <p:spPr>
          <a:xfrm>
            <a:off x="1874520" y="4379976"/>
            <a:ext cx="320040" cy="146304"/>
          </a:xfrm>
          <a:prstGeom prst="rect">
            <a:avLst/>
          </a:prstGeom>
          <a:solidFill>
            <a:srgbClr val="7F7F7F"/>
          </a:solidFill>
          <a:ln w="9525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17" name="Shape 417"/>
          <p:cNvSpPr txBox="1"/>
          <p:nvPr/>
        </p:nvSpPr>
        <p:spPr>
          <a:xfrm>
            <a:off x="2258568" y="435254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Ongoing</a:t>
            </a:r>
            <a:endParaRPr lang="en-US" sz="900" dirty="0"/>
          </a:p>
        </p:txBody>
      </p:sp>
      <p:sp>
        <p:nvSpPr>
          <p:cNvPr id="418" name="Shape 418"/>
          <p:cNvSpPr/>
          <p:nvPr/>
        </p:nvSpPr>
        <p:spPr>
          <a:xfrm>
            <a:off x="3200400" y="4379976"/>
            <a:ext cx="32004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19" name="Shape 419"/>
          <p:cNvSpPr txBox="1"/>
          <p:nvPr/>
        </p:nvSpPr>
        <p:spPr>
          <a:xfrm>
            <a:off x="3584448" y="435254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Pending</a:t>
            </a:r>
            <a:endParaRPr lang="en-US" sz="900" dirty="0"/>
          </a:p>
        </p:txBody>
      </p:sp>
      <p:sp>
        <p:nvSpPr>
          <p:cNvPr id="420" name="Shape 420"/>
          <p:cNvSpPr txBox="1"/>
          <p:nvPr/>
        </p:nvSpPr>
        <p:spPr>
          <a:xfrm>
            <a:off x="4572000" y="4352544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◆ milestone (review)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63" name="Shape 463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References</a:t>
            </a:r>
            <a:endParaRPr lang="en-US" sz="2800" dirty="0"/>
          </a:p>
        </p:txBody>
      </p:sp>
      <p:sp>
        <p:nvSpPr>
          <p:cNvPr id="464" name="Footer bar 464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65" name="Shape 465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66" name="Shape 466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12</a:t>
            </a:r>
            <a:endParaRPr lang="en-US" sz="1400" dirty="0"/>
          </a:p>
        </p:txBody>
      </p:sp>
      <p:sp>
        <p:nvSpPr>
          <p:cNvPr id="421" name="Shape 421"/>
          <p:cNvSpPr txBox="1"/>
          <p:nvPr/>
        </p:nvSpPr>
        <p:spPr>
          <a:xfrm>
            <a:off x="548640" y="1097280"/>
            <a:ext cx="3931920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[1] </a:t>
            </a: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N. Shinn et al., "Reflexion: Language agents with verbal reinforcement learning," NeurIPS, 2023.</a:t>
            </a:r>
            <a:endParaRPr lang="en-US" sz="950" dirty="0"/>
          </a:p>
          <a:p>
            <a:pPr algn="l" marL="0" indent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[2] </a:t>
            </a: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X. Chen, M. Lin, N. Schärli and D. Zhou, "Teaching large language models to self-debug," ICLR, 2024.</a:t>
            </a:r>
            <a:endParaRPr lang="en-US" sz="950" dirty="0"/>
          </a:p>
          <a:p>
            <a:pPr algn="l" marL="0" indent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[3] </a:t>
            </a: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Z. Gou et al., "CRITIC: Large language models can self-correct with tool-interactive critiquing," ICLR, 2024.</a:t>
            </a:r>
            <a:endParaRPr lang="en-US" sz="950" dirty="0"/>
          </a:p>
          <a:p>
            <a:pPr algn="l" marL="0" indent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[4] </a:t>
            </a: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S. Yao et al., "ReAct: Synergizing reasoning and acting in language models," ICLR, 2023.</a:t>
            </a:r>
            <a:endParaRPr lang="en-US" sz="950" dirty="0"/>
          </a:p>
          <a:p>
            <a:pPr algn="l" marL="0" indent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[5] </a:t>
            </a: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C. E. Jimenez et al., "SWE-bench: Can language models resolve real-world GitHub issues?," ICLR, 2024.</a:t>
            </a:r>
            <a:endParaRPr lang="en-US" sz="950" dirty="0"/>
          </a:p>
          <a:p>
            <a:pPr algn="l" marL="0" indent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[6] </a:t>
            </a: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J. Yang et al., "SWE-agent: Agent-computer interfaces enable automated software engineering," NeurIPS, 2024.</a:t>
            </a:r>
            <a:endParaRPr lang="en-US" sz="950" dirty="0"/>
          </a:p>
          <a:p>
            <a:pPr algn="l" marL="0" indent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[7] </a:t>
            </a: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D. Huang et al., "AgentCoder: Multi-agent code generation with iterative testing and optimisation," arXiv:2312.13010, 2023.</a:t>
            </a:r>
            <a:endParaRPr lang="en-US" sz="950" dirty="0"/>
          </a:p>
          <a:p>
            <a:pPr algn="l" marL="0" indent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[8] </a:t>
            </a: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M. Chen et al., "Evaluating large language models trained on code," arXiv:2107.03374, 2021.</a:t>
            </a:r>
            <a:endParaRPr lang="en-US" sz="950" dirty="0"/>
          </a:p>
        </p:txBody>
      </p:sp>
      <p:sp>
        <p:nvSpPr>
          <p:cNvPr id="422" name="Shape 422"/>
          <p:cNvSpPr txBox="1"/>
          <p:nvPr/>
        </p:nvSpPr>
        <p:spPr>
          <a:xfrm>
            <a:off x="4663440" y="1097280"/>
            <a:ext cx="3931920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[9] </a:t>
            </a: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LangChain Inc., "LangGraph documentation," langchain-ai.github.io/langgraph, 2025.</a:t>
            </a:r>
            <a:endParaRPr lang="en-US" sz="950" dirty="0"/>
          </a:p>
          <a:p>
            <a:pPr algn="l" marL="0" indent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[10] </a:t>
            </a: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S. Ramírez, "FastAPI documentation," fastapi.tiangolo.com, 2025.</a:t>
            </a:r>
            <a:endParaRPr lang="en-US" sz="950" dirty="0"/>
          </a:p>
          <a:p>
            <a:pPr algn="l" marL="0" indent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[11] </a:t>
            </a: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SQLAlchemy Project, "SQLAlchemy 2.0 documentation," docs.sqlalchemy.org, 2025.</a:t>
            </a:r>
            <a:endParaRPr lang="en-US" sz="950" dirty="0"/>
          </a:p>
          <a:p>
            <a:pPr algn="l" marL="0" indent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[12] </a:t>
            </a: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Pydantic, "Pydantic v2 documentation," docs.pydantic.dev, 2025.</a:t>
            </a:r>
            <a:endParaRPr lang="en-US" sz="950" dirty="0"/>
          </a:p>
          <a:p>
            <a:pPr algn="l" marL="0" indent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[13] </a:t>
            </a: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OpenRouter, "OpenRouter API reference," openrouter.ai/docs, 2025.</a:t>
            </a:r>
            <a:endParaRPr lang="en-US" sz="950" dirty="0"/>
          </a:p>
          <a:p>
            <a:pPr algn="l" marL="0" indent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[14] </a:t>
            </a: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Vercel, "Next.js documentation," nextjs.org/docs, 2025.</a:t>
            </a:r>
            <a:endParaRPr lang="en-US" sz="950" dirty="0"/>
          </a:p>
          <a:p>
            <a:pPr algn="l" marL="0" indent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[15] </a:t>
            </a:r>
            <a:r>
              <a:rPr lang="en-US" sz="95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pytest-dev, "pytest documentation," docs.pytest.org, 2025.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218</Words>
  <Application>Microsoft Office PowerPoint</Application>
  <PresentationFormat>On-screen Show (16:9)</PresentationFormat>
  <Paragraphs>52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Jerrin Joseph</cp:lastModifiedBy>
  <cp:revision>3</cp:revision>
  <dcterms:created xsi:type="dcterms:W3CDTF">2026-10-01T06:52:13Z</dcterms:created>
  <dcterms:modified xsi:type="dcterms:W3CDTF">2026-10-02T02:51:54Z</dcterms:modified>
</cp:coreProperties>
</file>