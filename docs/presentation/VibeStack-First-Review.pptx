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00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8131"/>
            <a:ext cx="1737360" cy="9867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b="1" dirty="0"/>
              <a:t>VibeStack</a:t>
            </a:r>
            <a:br>
              <a:rPr lang="en-IN" sz="2800" dirty="0"/>
            </a:br>
            <a:r>
              <a:rPr lang="en-IN" sz="2800" b="1" dirty="0"/>
              <a:t>Architecture-Aware AI Software Engineering Harness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dirty="0"/>
              <a:t>First Review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/>
              <a:t>8 October 2026</a:t>
            </a:r>
            <a:endParaRPr lang="en-IN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Guide</a:t>
            </a:r>
            <a:br>
              <a:rPr lang="en-IN" sz="1400" dirty="0"/>
            </a:br>
            <a:r>
              <a:rPr lang="en-IN" sz="1400" dirty="0"/>
              <a:t>Nimmi M K</a:t>
            </a:r>
            <a:br>
              <a:rPr lang="en-IN" sz="1400" dirty="0"/>
            </a:br>
            <a:r>
              <a:rPr lang="en-IN" sz="1400" dirty="0"/>
              <a:t>Assistant Professor</a:t>
            </a:r>
            <a:br>
              <a:rPr lang="en-IN" sz="1400" dirty="0"/>
            </a:br>
            <a:r>
              <a:rPr lang="en-IN" sz="1400" dirty="0"/>
              <a:t>Dept of AI and DS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IN" sz="1400" b="1" dirty="0"/>
              <a:t>Team Members</a:t>
            </a:r>
            <a:br>
              <a:rPr lang="en-IN" sz="1400" dirty="0"/>
            </a:br>
            <a:r>
              <a:rPr lang="en-IN" sz="1400" dirty="0"/>
              <a:t>Reuben Sabu V (MUT23CA060)</a:t>
            </a:r>
            <a:br>
              <a:rPr lang="en-IN" sz="1400" dirty="0"/>
            </a:br>
            <a:r>
              <a:rPr lang="en-IN" sz="1400" dirty="0"/>
              <a:t>Sidharth Ravi (MUT23CA063)</a:t>
            </a:r>
            <a:br>
              <a:rPr lang="en-IN" sz="1400" dirty="0"/>
            </a:br>
            <a:r>
              <a:rPr lang="en-IN" sz="1400" dirty="0"/>
              <a:t>Jino Jenz (MUT23CA035)</a:t>
            </a:r>
            <a:br>
              <a:rPr lang="en-IN" sz="1400" dirty="0"/>
            </a:br>
            <a:r>
              <a:rPr lang="en-IN" sz="1400" dirty="0"/>
              <a:t>Nikhil Jimmy (MUT23CA055)</a:t>
            </a:r>
          </a:p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VibeStack, Dept of AI and DS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 and H/W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15494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Core Techniques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VibeStack,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463" name="Shape 463"/>
          <p:cNvSpPr txBox="1"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Thank You</a:t>
            </a:r>
            <a:endParaRPr lang="en-US" sz="4400" dirty="0"/>
          </a:p>
        </p:txBody>
      </p:sp>
      <p:sp>
        <p:nvSpPr>
          <p:cNvPr id="464" name="Shape 464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VibeStack: prompt → architecture → working, self-healed app</a:t>
            </a:r>
            <a:endParaRPr lang="en-US" sz="1800" dirty="0"/>
          </a:p>
        </p:txBody>
      </p:sp>
      <p:sp>
        <p:nvSpPr>
          <p:cNvPr id="465" name="Shape 465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87" name="Shape 38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Introduction</a:t>
            </a:r>
            <a:endParaRPr lang="en-US" sz="2800" dirty="0"/>
          </a:p>
        </p:txBody>
      </p:sp>
      <p:sp>
        <p:nvSpPr>
          <p:cNvPr id="388" name="Footer bar 38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9" name="Shape 38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390" name="Shape 39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</a:t>
            </a:r>
            <a:endParaRPr lang="en-US" sz="1400" dirty="0"/>
          </a:p>
        </p:txBody>
      </p:sp>
      <p:sp>
        <p:nvSpPr>
          <p:cNvPr id="101" name="Shape 101"/>
          <p:cNvSpPr txBox="1"/>
          <p:nvPr/>
        </p:nvSpPr>
        <p:spPr>
          <a:xfrm>
            <a:off x="54864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AI coding assistants generate code fast, but the output is rarely verified, explained, or architecturally consistent.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Backends are the hard part: data models, APIs, authentication and tests must stay consistent across many files.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VibeStack is an architecture-aware AI software-engineering harness that turns a plain-English description into a working, tested FastAPI application.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Built on LangGraph: specialised agents design, generate, validate in a sandbox, and repair their own mistakes.</a:t>
            </a:r>
            <a:endParaRPr lang="en-US" sz="1500" dirty="0"/>
          </a:p>
        </p:txBody>
      </p:sp>
      <p:sp>
        <p:nvSpPr>
          <p:cNvPr id="102" name="Shape 102"/>
          <p:cNvSpPr/>
          <p:nvPr/>
        </p:nvSpPr>
        <p:spPr>
          <a:xfrm>
            <a:off x="5760720" y="1188720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Prompt</a:t>
            </a:r>
            <a:endParaRPr lang="en-US" sz="1500" dirty="0"/>
          </a:p>
        </p:txBody>
      </p:sp>
      <p:cxnSp>
        <p:nvCxnSpPr>
          <p:cNvPr id="103" name="Connector 103"/>
          <p:cNvCxnSpPr/>
          <p:nvPr/>
        </p:nvCxnSpPr>
        <p:spPr>
          <a:xfrm>
            <a:off x="7178040" y="1755648"/>
            <a:ext cx="0" cy="27432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04" name="Shape 104"/>
          <p:cNvSpPr/>
          <p:nvPr/>
        </p:nvSpPr>
        <p:spPr>
          <a:xfrm>
            <a:off x="5760720" y="2029968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Architecture</a:t>
            </a:r>
            <a:endParaRPr lang="en-US" sz="1500" dirty="0"/>
          </a:p>
        </p:txBody>
      </p:sp>
      <p:cxnSp>
        <p:nvCxnSpPr>
          <p:cNvPr id="105" name="Connector 105"/>
          <p:cNvCxnSpPr/>
          <p:nvPr/>
        </p:nvCxnSpPr>
        <p:spPr>
          <a:xfrm>
            <a:off x="7178040" y="2596896"/>
            <a:ext cx="0" cy="27432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06" name="Shape 106"/>
          <p:cNvSpPr/>
          <p:nvPr/>
        </p:nvSpPr>
        <p:spPr>
          <a:xfrm>
            <a:off x="5760720" y="2871216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Generated code</a:t>
            </a:r>
            <a:endParaRPr lang="en-US" sz="1500" dirty="0"/>
          </a:p>
        </p:txBody>
      </p:sp>
      <p:cxnSp>
        <p:nvCxnSpPr>
          <p:cNvPr id="107" name="Connector 107"/>
          <p:cNvCxnSpPr/>
          <p:nvPr/>
        </p:nvCxnSpPr>
        <p:spPr>
          <a:xfrm>
            <a:off x="7178040" y="3438144"/>
            <a:ext cx="0" cy="27432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08" name="Shape 108"/>
          <p:cNvSpPr/>
          <p:nvPr/>
        </p:nvSpPr>
        <p:spPr>
          <a:xfrm>
            <a:off x="5760720" y="3712464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Verified, running app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91" name="Shape 39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Problem Statement</a:t>
            </a:r>
            <a:endParaRPr lang="en-US" sz="2800" dirty="0"/>
          </a:p>
        </p:txBody>
      </p:sp>
      <p:sp>
        <p:nvSpPr>
          <p:cNvPr id="392" name="Footer bar 39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3" name="Shape 39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394" name="Shape 39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</a:t>
            </a:r>
            <a:endParaRPr lang="en-US" sz="1400" dirty="0"/>
          </a:p>
        </p:txBody>
      </p:sp>
      <p:sp>
        <p:nvSpPr>
          <p:cNvPr id="109" name="Shape 109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137160" tIns="137160" rIns="137160" bIns="13716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Problem: 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Developers increasingly ship AI-generated code they do not fully understand. Existing tools generate code but do not design a coherent architecture, prove that the result runs, fix their own errors, or explain what they changed.</a:t>
            </a:r>
            <a:endParaRPr lang="en-US" sz="1500" dirty="0"/>
          </a:p>
        </p:txBody>
      </p:sp>
      <p:sp>
        <p:nvSpPr>
          <p:cNvPr id="110" name="Card 110"/>
          <p:cNvSpPr/>
          <p:nvPr/>
        </p:nvSpPr>
        <p:spPr>
          <a:xfrm>
            <a:off x="5486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11" name="Shape 111"/>
          <p:cNvSpPr/>
          <p:nvPr/>
        </p:nvSpPr>
        <p:spPr>
          <a:xfrm>
            <a:off x="685800" y="2468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</a:t>
            </a:r>
            <a:endParaRPr lang="en-US" sz="1300" dirty="0"/>
          </a:p>
        </p:txBody>
      </p:sp>
      <p:sp>
        <p:nvSpPr>
          <p:cNvPr id="112" name="Shape 112"/>
          <p:cNvSpPr txBox="1"/>
          <p:nvPr/>
        </p:nvSpPr>
        <p:spPr>
          <a:xfrm>
            <a:off x="1188720" y="2450592"/>
            <a:ext cx="11704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Unverified output</a:t>
            </a:r>
            <a:endParaRPr lang="en-US" sz="1300" dirty="0"/>
          </a:p>
        </p:txBody>
      </p:sp>
      <p:sp>
        <p:nvSpPr>
          <p:cNvPr id="113" name="Shape 113"/>
          <p:cNvSpPr txBox="1"/>
          <p:nvPr/>
        </p:nvSpPr>
        <p:spPr>
          <a:xfrm>
            <a:off x="6858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Generated code is handed over without being executed or tested.</a:t>
            </a:r>
            <a:endParaRPr lang="en-US" sz="1200" dirty="0"/>
          </a:p>
        </p:txBody>
      </p:sp>
      <p:sp>
        <p:nvSpPr>
          <p:cNvPr id="114" name="Card 114"/>
          <p:cNvSpPr/>
          <p:nvPr/>
        </p:nvSpPr>
        <p:spPr>
          <a:xfrm>
            <a:off x="26060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15" name="Shape 115"/>
          <p:cNvSpPr/>
          <p:nvPr/>
        </p:nvSpPr>
        <p:spPr>
          <a:xfrm>
            <a:off x="2743200" y="2468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</a:t>
            </a:r>
            <a:endParaRPr lang="en-US" sz="1300" dirty="0"/>
          </a:p>
        </p:txBody>
      </p:sp>
      <p:sp>
        <p:nvSpPr>
          <p:cNvPr id="116" name="Shape 116"/>
          <p:cNvSpPr txBox="1"/>
          <p:nvPr/>
        </p:nvSpPr>
        <p:spPr>
          <a:xfrm>
            <a:off x="3246120" y="2450592"/>
            <a:ext cx="11704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Design drift</a:t>
            </a:r>
            <a:endParaRPr lang="en-US" sz="1300" dirty="0"/>
          </a:p>
        </p:txBody>
      </p:sp>
      <p:sp>
        <p:nvSpPr>
          <p:cNvPr id="117" name="Shape 117"/>
          <p:cNvSpPr txBox="1"/>
          <p:nvPr/>
        </p:nvSpPr>
        <p:spPr>
          <a:xfrm>
            <a:off x="27432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Models, routes and auth are generated independently and fall out of sync.</a:t>
            </a:r>
            <a:endParaRPr lang="en-US" sz="1200" dirty="0"/>
          </a:p>
        </p:txBody>
      </p:sp>
      <p:sp>
        <p:nvSpPr>
          <p:cNvPr id="118" name="Card 118"/>
          <p:cNvSpPr/>
          <p:nvPr/>
        </p:nvSpPr>
        <p:spPr>
          <a:xfrm>
            <a:off x="46634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19" name="Shape 119"/>
          <p:cNvSpPr/>
          <p:nvPr/>
        </p:nvSpPr>
        <p:spPr>
          <a:xfrm>
            <a:off x="4800600" y="2468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</a:t>
            </a:r>
            <a:endParaRPr lang="en-US" sz="1300" dirty="0"/>
          </a:p>
        </p:txBody>
      </p:sp>
      <p:sp>
        <p:nvSpPr>
          <p:cNvPr id="120" name="Shape 120"/>
          <p:cNvSpPr txBox="1"/>
          <p:nvPr/>
        </p:nvSpPr>
        <p:spPr>
          <a:xfrm>
            <a:off x="5303520" y="2450592"/>
            <a:ext cx="11704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self-correction</a:t>
            </a:r>
            <a:endParaRPr lang="en-US" sz="1300" dirty="0"/>
          </a:p>
        </p:txBody>
      </p:sp>
      <p:sp>
        <p:nvSpPr>
          <p:cNvPr id="121" name="Shape 121"/>
          <p:cNvSpPr txBox="1"/>
          <p:nvPr/>
        </p:nvSpPr>
        <p:spPr>
          <a:xfrm>
            <a:off x="48006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When code breaks, the developer has to debug the AI's mistakes by hand.</a:t>
            </a:r>
            <a:endParaRPr lang="en-US" sz="1200" dirty="0"/>
          </a:p>
        </p:txBody>
      </p:sp>
      <p:sp>
        <p:nvSpPr>
          <p:cNvPr id="122" name="Card 122"/>
          <p:cNvSpPr/>
          <p:nvPr/>
        </p:nvSpPr>
        <p:spPr>
          <a:xfrm>
            <a:off x="6720840" y="233172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23" name="Shape 123"/>
          <p:cNvSpPr/>
          <p:nvPr/>
        </p:nvSpPr>
        <p:spPr>
          <a:xfrm>
            <a:off x="6858000" y="2468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</a:t>
            </a:r>
            <a:endParaRPr lang="en-US" sz="1300" dirty="0"/>
          </a:p>
        </p:txBody>
      </p:sp>
      <p:sp>
        <p:nvSpPr>
          <p:cNvPr id="124" name="Shape 124"/>
          <p:cNvSpPr txBox="1"/>
          <p:nvPr/>
        </p:nvSpPr>
        <p:spPr>
          <a:xfrm>
            <a:off x="7360920" y="2450592"/>
            <a:ext cx="11704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traceability</a:t>
            </a:r>
            <a:endParaRPr lang="en-US" sz="1300" dirty="0"/>
          </a:p>
        </p:txBody>
      </p:sp>
      <p:sp>
        <p:nvSpPr>
          <p:cNvPr id="125" name="Shape 125"/>
          <p:cNvSpPr txBox="1"/>
          <p:nvPr/>
        </p:nvSpPr>
        <p:spPr>
          <a:xfrm>
            <a:off x="6858000" y="2935224"/>
            <a:ext cx="1645920" cy="14081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No record of what changed, where, or why; hard to review or maintain.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95" name="Shape 39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Objectives</a:t>
            </a:r>
            <a:endParaRPr lang="en-US" sz="2800" dirty="0"/>
          </a:p>
        </p:txBody>
      </p:sp>
      <p:sp>
        <p:nvSpPr>
          <p:cNvPr id="396" name="Footer bar 39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97" name="Shape 39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398" name="Shape 39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</a:t>
            </a:r>
            <a:endParaRPr lang="en-US" sz="1400" dirty="0"/>
          </a:p>
        </p:txBody>
      </p:sp>
      <p:sp>
        <p:nvSpPr>
          <p:cNvPr id="126" name="Shape 126"/>
          <p:cNvSpPr/>
          <p:nvPr/>
        </p:nvSpPr>
        <p:spPr>
          <a:xfrm>
            <a:off x="548640" y="1143000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O1</a:t>
            </a:r>
            <a:endParaRPr lang="en-US" sz="1300" dirty="0"/>
          </a:p>
        </p:txBody>
      </p:sp>
      <p:sp>
        <p:nvSpPr>
          <p:cNvPr id="127" name="Shape 127"/>
          <p:cNvSpPr txBox="1"/>
          <p:nvPr/>
        </p:nvSpPr>
        <p:spPr>
          <a:xfrm>
            <a:off x="1188720" y="1115568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Understand: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Convert a natural-language description into a validated architecture (entities, relations, API, auth).</a:t>
            </a:r>
            <a:endParaRPr lang="en-US" sz="1500" dirty="0"/>
          </a:p>
        </p:txBody>
      </p:sp>
      <p:sp>
        <p:nvSpPr>
          <p:cNvPr id="128" name="Shape 128"/>
          <p:cNvSpPr/>
          <p:nvPr/>
        </p:nvSpPr>
        <p:spPr>
          <a:xfrm>
            <a:off x="548640" y="1819656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O2</a:t>
            </a:r>
            <a:endParaRPr lang="en-US" sz="1300" dirty="0"/>
          </a:p>
        </p:txBody>
      </p:sp>
      <p:sp>
        <p:nvSpPr>
          <p:cNvPr id="129" name="Shape 129"/>
          <p:cNvSpPr txBox="1"/>
          <p:nvPr/>
        </p:nvSpPr>
        <p:spPr>
          <a:xfrm>
            <a:off x="1188720" y="1792224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Generate: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Produce a complete, runnable FastAPI + SQLAlchemy backend with JWT auth, Docker and tests.</a:t>
            </a:r>
            <a:endParaRPr lang="en-US" sz="1500" dirty="0"/>
          </a:p>
        </p:txBody>
      </p:sp>
      <p:sp>
        <p:nvSpPr>
          <p:cNvPr id="130" name="Shape 130"/>
          <p:cNvSpPr/>
          <p:nvPr/>
        </p:nvSpPr>
        <p:spPr>
          <a:xfrm>
            <a:off x="548640" y="2496312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O3</a:t>
            </a:r>
            <a:endParaRPr lang="en-US" sz="1300" dirty="0"/>
          </a:p>
        </p:txBody>
      </p:sp>
      <p:sp>
        <p:nvSpPr>
          <p:cNvPr id="131" name="Shape 131"/>
          <p:cNvSpPr txBox="1"/>
          <p:nvPr/>
        </p:nvSpPr>
        <p:spPr>
          <a:xfrm>
            <a:off x="1188720" y="2468880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Verify: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Execute every generated app in an isolated sandbox: import, boot and API contract tests.</a:t>
            </a:r>
            <a:endParaRPr lang="en-US" sz="1500" dirty="0"/>
          </a:p>
        </p:txBody>
      </p:sp>
      <p:sp>
        <p:nvSpPr>
          <p:cNvPr id="132" name="Shape 132"/>
          <p:cNvSpPr/>
          <p:nvPr/>
        </p:nvSpPr>
        <p:spPr>
          <a:xfrm>
            <a:off x="548640" y="3172968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O4</a:t>
            </a:r>
            <a:endParaRPr lang="en-US" sz="1300" dirty="0"/>
          </a:p>
        </p:txBody>
      </p:sp>
      <p:sp>
        <p:nvSpPr>
          <p:cNvPr id="133" name="Shape 133"/>
          <p:cNvSpPr txBox="1"/>
          <p:nvPr/>
        </p:nvSpPr>
        <p:spPr>
          <a:xfrm>
            <a:off x="1188720" y="3145536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Self-heal: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Classify failures, patch only the faulty file, re-validate; stop after 3 attempts (circuit breaker).</a:t>
            </a:r>
            <a:endParaRPr lang="en-US" sz="1500" dirty="0"/>
          </a:p>
        </p:txBody>
      </p:sp>
      <p:sp>
        <p:nvSpPr>
          <p:cNvPr id="134" name="Shape 134"/>
          <p:cNvSpPr/>
          <p:nvPr/>
        </p:nvSpPr>
        <p:spPr>
          <a:xfrm>
            <a:off x="548640" y="3849624"/>
            <a:ext cx="475488" cy="47548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O5</a:t>
            </a:r>
            <a:endParaRPr lang="en-US" sz="1300" dirty="0"/>
          </a:p>
        </p:txBody>
      </p:sp>
      <p:sp>
        <p:nvSpPr>
          <p:cNvPr id="135" name="Shape 135"/>
          <p:cNvSpPr txBox="1"/>
          <p:nvPr/>
        </p:nvSpPr>
        <p:spPr>
          <a:xfrm>
            <a:off x="1188720" y="3822192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Explain &amp; deliver: </a:t>
            </a: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Record every agent action in a change ledger, show code diffs, run a live preview of the app.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99" name="Shape 39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Existing System</a:t>
            </a:r>
            <a:endParaRPr lang="en-US" sz="2800" dirty="0"/>
          </a:p>
        </p:txBody>
      </p:sp>
      <p:sp>
        <p:nvSpPr>
          <p:cNvPr id="400" name="Footer bar 40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1" name="Shape 40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02" name="Shape 40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6</a:t>
            </a:r>
            <a:endParaRPr lang="en-US" sz="1400" dirty="0"/>
          </a:p>
        </p:txBody>
      </p:sp>
      <p:sp>
        <p:nvSpPr>
          <p:cNvPr id="136" name="Shape 136"/>
          <p:cNvSpPr/>
          <p:nvPr/>
        </p:nvSpPr>
        <p:spPr>
          <a:xfrm>
            <a:off x="548640" y="1188720"/>
            <a:ext cx="2148840" cy="5852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Tool</a:t>
            </a:r>
            <a:endParaRPr lang="en-US" sz="1400" dirty="0"/>
          </a:p>
        </p:txBody>
      </p:sp>
      <p:sp>
        <p:nvSpPr>
          <p:cNvPr id="137" name="Shape 137"/>
          <p:cNvSpPr/>
          <p:nvPr/>
        </p:nvSpPr>
        <p:spPr>
          <a:xfrm>
            <a:off x="2743200" y="1188720"/>
            <a:ext cx="2697480" cy="5852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Approach</a:t>
            </a:r>
            <a:endParaRPr lang="en-US" sz="1400" dirty="0"/>
          </a:p>
        </p:txBody>
      </p:sp>
      <p:sp>
        <p:nvSpPr>
          <p:cNvPr id="138" name="Shape 138"/>
          <p:cNvSpPr/>
          <p:nvPr/>
        </p:nvSpPr>
        <p:spPr>
          <a:xfrm>
            <a:off x="5486400" y="1188720"/>
            <a:ext cx="3063240" cy="58521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Limitation</a:t>
            </a:r>
            <a:endParaRPr lang="en-US" sz="1400" dirty="0"/>
          </a:p>
        </p:txBody>
      </p:sp>
      <p:sp>
        <p:nvSpPr>
          <p:cNvPr id="139" name="Shape 139"/>
          <p:cNvSpPr/>
          <p:nvPr/>
        </p:nvSpPr>
        <p:spPr>
          <a:xfrm>
            <a:off x="548640" y="1828800"/>
            <a:ext cx="214884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GitHub Copilot</a:t>
            </a:r>
            <a:endParaRPr lang="en-US" sz="1300" dirty="0"/>
          </a:p>
        </p:txBody>
      </p:sp>
      <p:sp>
        <p:nvSpPr>
          <p:cNvPr id="140" name="Shape 140"/>
          <p:cNvSpPr/>
          <p:nvPr/>
        </p:nvSpPr>
        <p:spPr>
          <a:xfrm>
            <a:off x="2743200" y="1828800"/>
            <a:ext cx="269748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Inline autocomplete in the editor</a:t>
            </a:r>
            <a:endParaRPr lang="en-US" sz="1300" dirty="0"/>
          </a:p>
        </p:txBody>
      </p:sp>
      <p:sp>
        <p:nvSpPr>
          <p:cNvPr id="141" name="Shape 141"/>
          <p:cNvSpPr/>
          <p:nvPr/>
        </p:nvSpPr>
        <p:spPr>
          <a:xfrm>
            <a:off x="5486400" y="1828800"/>
            <a:ext cx="306324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project-level design; no verification</a:t>
            </a:r>
            <a:endParaRPr lang="en-US" sz="1300" dirty="0"/>
          </a:p>
        </p:txBody>
      </p:sp>
      <p:sp>
        <p:nvSpPr>
          <p:cNvPr id="142" name="Shape 142"/>
          <p:cNvSpPr/>
          <p:nvPr/>
        </p:nvSpPr>
        <p:spPr>
          <a:xfrm>
            <a:off x="548640" y="2468880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Cursor / Replit Agent</a:t>
            </a:r>
            <a:endParaRPr lang="en-US" sz="1300" dirty="0"/>
          </a:p>
        </p:txBody>
      </p:sp>
      <p:sp>
        <p:nvSpPr>
          <p:cNvPr id="143" name="Shape 143"/>
          <p:cNvSpPr/>
          <p:nvPr/>
        </p:nvSpPr>
        <p:spPr>
          <a:xfrm>
            <a:off x="2743200" y="2468880"/>
            <a:ext cx="2697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Multi-file edits from chat</a:t>
            </a:r>
            <a:endParaRPr lang="en-US" sz="1300" dirty="0"/>
          </a:p>
        </p:txBody>
      </p:sp>
      <p:sp>
        <p:nvSpPr>
          <p:cNvPr id="144" name="Shape 144"/>
          <p:cNvSpPr/>
          <p:nvPr/>
        </p:nvSpPr>
        <p:spPr>
          <a:xfrm>
            <a:off x="5486400" y="2468880"/>
            <a:ext cx="3063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Validation is opaque; cloud-hosted</a:t>
            </a:r>
            <a:endParaRPr lang="en-US" sz="1300" dirty="0"/>
          </a:p>
        </p:txBody>
      </p:sp>
      <p:sp>
        <p:nvSpPr>
          <p:cNvPr id="145" name="Shape 145"/>
          <p:cNvSpPr/>
          <p:nvPr/>
        </p:nvSpPr>
        <p:spPr>
          <a:xfrm>
            <a:off x="548640" y="3108960"/>
            <a:ext cx="214884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Lovable / Bolt.new</a:t>
            </a:r>
            <a:endParaRPr lang="en-US" sz="1300" dirty="0"/>
          </a:p>
        </p:txBody>
      </p:sp>
      <p:sp>
        <p:nvSpPr>
          <p:cNvPr id="146" name="Shape 146"/>
          <p:cNvSpPr/>
          <p:nvPr/>
        </p:nvSpPr>
        <p:spPr>
          <a:xfrm>
            <a:off x="2743200" y="3108960"/>
            <a:ext cx="269748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Full-stack app builders</a:t>
            </a:r>
            <a:endParaRPr lang="en-US" sz="1300" dirty="0"/>
          </a:p>
        </p:txBody>
      </p:sp>
      <p:sp>
        <p:nvSpPr>
          <p:cNvPr id="147" name="Shape 147"/>
          <p:cNvSpPr/>
          <p:nvPr/>
        </p:nvSpPr>
        <p:spPr>
          <a:xfrm>
            <a:off x="5486400" y="3108960"/>
            <a:ext cx="3063240" cy="58521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JS/TS-centric (React + Supabase); vendor lock-in</a:t>
            </a:r>
            <a:endParaRPr lang="en-US" sz="1300" dirty="0"/>
          </a:p>
        </p:txBody>
      </p:sp>
      <p:sp>
        <p:nvSpPr>
          <p:cNvPr id="148" name="Shape 148"/>
          <p:cNvSpPr/>
          <p:nvPr/>
        </p:nvSpPr>
        <p:spPr>
          <a:xfrm>
            <a:off x="548640" y="3749040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Template generators</a:t>
            </a:r>
            <a:endParaRPr lang="en-US" sz="1300" dirty="0"/>
          </a:p>
        </p:txBody>
      </p:sp>
      <p:sp>
        <p:nvSpPr>
          <p:cNvPr id="149" name="Shape 149"/>
          <p:cNvSpPr/>
          <p:nvPr/>
        </p:nvSpPr>
        <p:spPr>
          <a:xfrm>
            <a:off x="2743200" y="3749040"/>
            <a:ext cx="2697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Static scaffolds (e.g. Cookiecutter)</a:t>
            </a:r>
            <a:endParaRPr lang="en-US" sz="1300" dirty="0"/>
          </a:p>
        </p:txBody>
      </p:sp>
      <p:sp>
        <p:nvSpPr>
          <p:cNvPr id="150" name="Shape 150"/>
          <p:cNvSpPr/>
          <p:nvPr/>
        </p:nvSpPr>
        <p:spPr>
          <a:xfrm>
            <a:off x="5486400" y="3749040"/>
            <a:ext cx="30632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reasoning about the user's domain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03" name="Shape 40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Disadvantages of Existing System</a:t>
            </a:r>
            <a:endParaRPr lang="en-US" sz="2800" dirty="0"/>
          </a:p>
        </p:txBody>
      </p:sp>
      <p:sp>
        <p:nvSpPr>
          <p:cNvPr id="404" name="Footer bar 40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5" name="Shape 40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06" name="Shape 40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7</a:t>
            </a:r>
            <a:endParaRPr lang="en-US" sz="1400" dirty="0"/>
          </a:p>
        </p:txBody>
      </p:sp>
      <p:sp>
        <p:nvSpPr>
          <p:cNvPr id="151" name="Card 151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52" name="Shape 152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53" name="Shape 153"/>
          <p:cNvSpPr txBox="1"/>
          <p:nvPr/>
        </p:nvSpPr>
        <p:spPr>
          <a:xfrm>
            <a:off x="1188720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automatic validation</a:t>
            </a:r>
            <a:endParaRPr lang="en-US" sz="1300" dirty="0"/>
          </a:p>
        </p:txBody>
      </p:sp>
      <p:sp>
        <p:nvSpPr>
          <p:cNvPr id="154" name="Shape 154"/>
          <p:cNvSpPr txBox="1"/>
          <p:nvPr/>
        </p:nvSpPr>
        <p:spPr>
          <a:xfrm>
            <a:off x="685800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Code is not executed or tested before it reaches the user.</a:t>
            </a:r>
            <a:endParaRPr lang="en-US" sz="1200" dirty="0"/>
          </a:p>
        </p:txBody>
      </p:sp>
      <p:sp>
        <p:nvSpPr>
          <p:cNvPr id="155" name="Card 155"/>
          <p:cNvSpPr/>
          <p:nvPr/>
        </p:nvSpPr>
        <p:spPr>
          <a:xfrm>
            <a:off x="3264408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56" name="Shape 156"/>
          <p:cNvSpPr/>
          <p:nvPr/>
        </p:nvSpPr>
        <p:spPr>
          <a:xfrm>
            <a:off x="3401568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57" name="Shape 157"/>
          <p:cNvSpPr txBox="1"/>
          <p:nvPr/>
        </p:nvSpPr>
        <p:spPr>
          <a:xfrm>
            <a:off x="3904488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self-correction loop</a:t>
            </a:r>
            <a:endParaRPr lang="en-US" sz="1300" dirty="0"/>
          </a:p>
        </p:txBody>
      </p:sp>
      <p:sp>
        <p:nvSpPr>
          <p:cNvPr id="158" name="Shape 158"/>
          <p:cNvSpPr txBox="1"/>
          <p:nvPr/>
        </p:nvSpPr>
        <p:spPr>
          <a:xfrm>
            <a:off x="3401568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Errors are left for the developer to find and fix.</a:t>
            </a:r>
            <a:endParaRPr lang="en-US" sz="1200" dirty="0"/>
          </a:p>
        </p:txBody>
      </p:sp>
      <p:sp>
        <p:nvSpPr>
          <p:cNvPr id="159" name="Card 159"/>
          <p:cNvSpPr/>
          <p:nvPr/>
        </p:nvSpPr>
        <p:spPr>
          <a:xfrm>
            <a:off x="5980176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60" name="Shape 160"/>
          <p:cNvSpPr/>
          <p:nvPr/>
        </p:nvSpPr>
        <p:spPr>
          <a:xfrm>
            <a:off x="6117336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61" name="Shape 161"/>
          <p:cNvSpPr txBox="1"/>
          <p:nvPr/>
        </p:nvSpPr>
        <p:spPr>
          <a:xfrm>
            <a:off x="6620256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Inconsistent architecture</a:t>
            </a:r>
            <a:endParaRPr lang="en-US" sz="1300" dirty="0"/>
          </a:p>
        </p:txBody>
      </p:sp>
      <p:sp>
        <p:nvSpPr>
          <p:cNvPr id="162" name="Shape 162"/>
          <p:cNvSpPr txBox="1"/>
          <p:nvPr/>
        </p:nvSpPr>
        <p:spPr>
          <a:xfrm>
            <a:off x="6117336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Files are generated in isolation; schemas and routes drift.</a:t>
            </a:r>
            <a:endParaRPr lang="en-US" sz="1200" dirty="0"/>
          </a:p>
        </p:txBody>
      </p:sp>
      <p:sp>
        <p:nvSpPr>
          <p:cNvPr id="163" name="Card 163"/>
          <p:cNvSpPr/>
          <p:nvPr/>
        </p:nvSpPr>
        <p:spPr>
          <a:xfrm>
            <a:off x="548640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64" name="Shape 164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65" name="Shape 165"/>
          <p:cNvSpPr txBox="1"/>
          <p:nvPr/>
        </p:nvSpPr>
        <p:spPr>
          <a:xfrm>
            <a:off x="1188720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Opaque changes</a:t>
            </a:r>
            <a:endParaRPr lang="en-US" sz="1300" dirty="0"/>
          </a:p>
        </p:txBody>
      </p:sp>
      <p:sp>
        <p:nvSpPr>
          <p:cNvPr id="166" name="Shape 166"/>
          <p:cNvSpPr txBox="1"/>
          <p:nvPr/>
        </p:nvSpPr>
        <p:spPr>
          <a:xfrm>
            <a:off x="685800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No rationale, diff or history for AI-made modifications.</a:t>
            </a:r>
            <a:endParaRPr lang="en-US" sz="1200" dirty="0"/>
          </a:p>
        </p:txBody>
      </p:sp>
      <p:sp>
        <p:nvSpPr>
          <p:cNvPr id="167" name="Card 167"/>
          <p:cNvSpPr/>
          <p:nvPr/>
        </p:nvSpPr>
        <p:spPr>
          <a:xfrm>
            <a:off x="3264408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68" name="Shape 168"/>
          <p:cNvSpPr/>
          <p:nvPr/>
        </p:nvSpPr>
        <p:spPr>
          <a:xfrm>
            <a:off x="3401568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69" name="Shape 169"/>
          <p:cNvSpPr txBox="1"/>
          <p:nvPr/>
        </p:nvSpPr>
        <p:spPr>
          <a:xfrm>
            <a:off x="3904488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 backends underserved</a:t>
            </a:r>
            <a:endParaRPr lang="en-US" sz="1300" dirty="0"/>
          </a:p>
        </p:txBody>
      </p:sp>
      <p:sp>
        <p:nvSpPr>
          <p:cNvPr id="170" name="Shape 170"/>
          <p:cNvSpPr txBox="1"/>
          <p:nvPr/>
        </p:nvSpPr>
        <p:spPr>
          <a:xfrm>
            <a:off x="3401568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Leading app builders target JavaScript/TypeScript stacks.</a:t>
            </a:r>
            <a:endParaRPr lang="en-US" sz="1200" dirty="0"/>
          </a:p>
        </p:txBody>
      </p:sp>
      <p:sp>
        <p:nvSpPr>
          <p:cNvPr id="171" name="Card 171"/>
          <p:cNvSpPr/>
          <p:nvPr/>
        </p:nvSpPr>
        <p:spPr>
          <a:xfrm>
            <a:off x="5980176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72" name="Shape 172"/>
          <p:cNvSpPr/>
          <p:nvPr/>
        </p:nvSpPr>
        <p:spPr>
          <a:xfrm>
            <a:off x="6117336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✕</a:t>
            </a:r>
            <a:endParaRPr lang="en-US" sz="1300" dirty="0"/>
          </a:p>
        </p:txBody>
      </p:sp>
      <p:sp>
        <p:nvSpPr>
          <p:cNvPr id="173" name="Shape 173"/>
          <p:cNvSpPr txBox="1"/>
          <p:nvPr/>
        </p:nvSpPr>
        <p:spPr>
          <a:xfrm>
            <a:off x="6620256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Cloud lock-in</a:t>
            </a:r>
            <a:endParaRPr lang="en-US" sz="1300" dirty="0"/>
          </a:p>
        </p:txBody>
      </p:sp>
      <p:sp>
        <p:nvSpPr>
          <p:cNvPr id="174" name="Shape 174"/>
          <p:cNvSpPr txBox="1"/>
          <p:nvPr/>
        </p:nvSpPr>
        <p:spPr>
          <a:xfrm>
            <a:off x="6117336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Generated projects tied to proprietary hosting and services.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07" name="Shape 40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Proposed System</a:t>
            </a:r>
            <a:endParaRPr lang="en-US" sz="2800" dirty="0"/>
          </a:p>
        </p:txBody>
      </p:sp>
      <p:sp>
        <p:nvSpPr>
          <p:cNvPr id="408" name="Footer bar 40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09" name="Shape 40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10" name="Shape 41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8</a:t>
            </a:r>
            <a:endParaRPr lang="en-US" sz="1400" dirty="0"/>
          </a:p>
        </p:txBody>
      </p:sp>
      <p:sp>
        <p:nvSpPr>
          <p:cNvPr id="175" name="Shape 175"/>
          <p:cNvSpPr txBox="1"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VibeStack is a LangGraph multi-agent harness: an Architect designs the system, a Code Generator writes it, a sandbox proves it runs, and a self-healing loop repairs failures automatically. The verified app is then started as a live preview.</a:t>
            </a:r>
            <a:endParaRPr lang="en-US" sz="1500" dirty="0"/>
          </a:p>
        </p:txBody>
      </p:sp>
      <p:sp>
        <p:nvSpPr>
          <p:cNvPr id="176" name="Shape 176"/>
          <p:cNvSpPr/>
          <p:nvPr/>
        </p:nvSpPr>
        <p:spPr>
          <a:xfrm>
            <a:off x="548640" y="20574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Architect</a:t>
            </a:r>
            <a:endParaRPr lang="en-US" sz="1400" dirty="0"/>
          </a:p>
        </p:txBody>
      </p:sp>
      <p:cxnSp>
        <p:nvCxnSpPr>
          <p:cNvPr id="177" name="Connector 177"/>
          <p:cNvCxnSpPr/>
          <p:nvPr/>
        </p:nvCxnSpPr>
        <p:spPr>
          <a:xfrm>
            <a:off x="1920240" y="2487168"/>
            <a:ext cx="274320" cy="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78" name="Shape 178"/>
          <p:cNvSpPr/>
          <p:nvPr/>
        </p:nvSpPr>
        <p:spPr>
          <a:xfrm>
            <a:off x="2194560" y="20574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Planner</a:t>
            </a:r>
            <a:endParaRPr lang="en-US" sz="1400" dirty="0"/>
          </a:p>
        </p:txBody>
      </p:sp>
      <p:cxnSp>
        <p:nvCxnSpPr>
          <p:cNvPr id="179" name="Connector 179"/>
          <p:cNvCxnSpPr/>
          <p:nvPr/>
        </p:nvCxnSpPr>
        <p:spPr>
          <a:xfrm>
            <a:off x="3566160" y="2487168"/>
            <a:ext cx="274320" cy="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80" name="Shape 180"/>
          <p:cNvSpPr/>
          <p:nvPr/>
        </p:nvSpPr>
        <p:spPr>
          <a:xfrm>
            <a:off x="3840480" y="20574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Code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Generator</a:t>
            </a:r>
            <a:endParaRPr lang="en-US" sz="1400" dirty="0"/>
          </a:p>
        </p:txBody>
      </p:sp>
      <p:cxnSp>
        <p:nvCxnSpPr>
          <p:cNvPr id="181" name="Connector 181"/>
          <p:cNvCxnSpPr/>
          <p:nvPr/>
        </p:nvCxnSpPr>
        <p:spPr>
          <a:xfrm>
            <a:off x="5212080" y="2487168"/>
            <a:ext cx="274320" cy="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82" name="Shape 182"/>
          <p:cNvSpPr/>
          <p:nvPr/>
        </p:nvSpPr>
        <p:spPr>
          <a:xfrm>
            <a:off x="5486400" y="20574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Sandbox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Validator</a:t>
            </a:r>
            <a:endParaRPr lang="en-US" sz="1400" dirty="0"/>
          </a:p>
        </p:txBody>
      </p:sp>
      <p:cxnSp>
        <p:nvCxnSpPr>
          <p:cNvPr id="183" name="Connector 183"/>
          <p:cNvCxnSpPr/>
          <p:nvPr/>
        </p:nvCxnSpPr>
        <p:spPr>
          <a:xfrm>
            <a:off x="6858000" y="2487168"/>
            <a:ext cx="274320" cy="0"/>
          </a:xfrm>
          <a:prstGeom prst="straightConnector1">
            <a:avLst/>
          </a:prstGeom>
          <a:ln w="25400">
            <a:solidFill>
              <a:srgbClr val="CC0000"/>
            </a:solidFill>
            <a:tailEnd type="triangle" w="med" len="med"/>
          </a:ln>
        </p:spPr>
      </p:cxnSp>
      <p:sp>
        <p:nvSpPr>
          <p:cNvPr id="184" name="Shape 184"/>
          <p:cNvSpPr/>
          <p:nvPr/>
        </p:nvSpPr>
        <p:spPr>
          <a:xfrm>
            <a:off x="7132320" y="20574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Packager +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Live Preview</a:t>
            </a:r>
            <a:endParaRPr lang="en-US" sz="1400" dirty="0"/>
          </a:p>
        </p:txBody>
      </p:sp>
      <p:sp>
        <p:nvSpPr>
          <p:cNvPr id="185" name="Shape 185"/>
          <p:cNvSpPr/>
          <p:nvPr/>
        </p:nvSpPr>
        <p:spPr>
          <a:xfrm>
            <a:off x="3840480" y="342900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C0000"/>
            </a:solidFill>
            <a:prstDash val="dash"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Self-healing loop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Error Classifier → Reflector</a:t>
            </a:r>
            <a:endParaRPr lang="en-US" sz="1300" dirty="0"/>
          </a:p>
        </p:txBody>
      </p:sp>
      <p:cxnSp>
        <p:nvCxnSpPr>
          <p:cNvPr id="186" name="Connector 186"/>
          <p:cNvCxnSpPr/>
          <p:nvPr/>
        </p:nvCxnSpPr>
        <p:spPr>
          <a:xfrm>
            <a:off x="6172200" y="2926080"/>
            <a:ext cx="0" cy="502920"/>
          </a:xfrm>
          <a:prstGeom prst="straightConnector1">
            <a:avLst/>
          </a:prstGeom>
          <a:ln w="22225">
            <a:solidFill>
              <a:srgbClr val="CC0000"/>
            </a:solidFill>
            <a:tailEnd type="triangle" w="med" len="med"/>
          </a:ln>
        </p:spPr>
      </p:cxnSp>
      <p:cxnSp>
        <p:nvCxnSpPr>
          <p:cNvPr id="187" name="Connector 187"/>
          <p:cNvCxnSpPr/>
          <p:nvPr/>
        </p:nvCxnSpPr>
        <p:spPr>
          <a:xfrm flipV="1">
            <a:off x="4572000" y="2926080"/>
            <a:ext cx="0" cy="502920"/>
          </a:xfrm>
          <a:prstGeom prst="straightConnector1">
            <a:avLst/>
          </a:prstGeom>
          <a:ln w="22225">
            <a:solidFill>
              <a:srgbClr val="CC0000"/>
            </a:solidFill>
            <a:tailEnd type="triangle" w="med" len="med"/>
          </a:ln>
        </p:spPr>
      </p:cxnSp>
      <p:sp>
        <p:nvSpPr>
          <p:cNvPr id="188" name="Shape 188"/>
          <p:cNvSpPr txBox="1"/>
          <p:nvPr/>
        </p:nvSpPr>
        <p:spPr>
          <a:xfrm>
            <a:off x="548640" y="35204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fail → classify → patch → re-validate</a:t>
            </a:r>
            <a:endParaRPr lang="en-US" sz="1300" dirty="0"/>
          </a:p>
        </p:txBody>
      </p:sp>
      <p:sp>
        <p:nvSpPr>
          <p:cNvPr id="189" name="Shape 189"/>
          <p:cNvSpPr txBox="1"/>
          <p:nvPr/>
        </p:nvSpPr>
        <p:spPr>
          <a:xfrm>
            <a:off x="7040880" y="35204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max 3 attempts, then circuit breaker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11" name="Shape 41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Advantages of Proposed System</a:t>
            </a:r>
            <a:endParaRPr lang="en-US" sz="2800" dirty="0"/>
          </a:p>
        </p:txBody>
      </p:sp>
      <p:sp>
        <p:nvSpPr>
          <p:cNvPr id="412" name="Footer bar 41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13" name="Shape 41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14" name="Shape 41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9</a:t>
            </a:r>
            <a:endParaRPr lang="en-US" sz="1400" dirty="0"/>
          </a:p>
        </p:txBody>
      </p:sp>
      <p:sp>
        <p:nvSpPr>
          <p:cNvPr id="190" name="Card 190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91" name="Shape 191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192" name="Shape 192"/>
          <p:cNvSpPr txBox="1"/>
          <p:nvPr/>
        </p:nvSpPr>
        <p:spPr>
          <a:xfrm>
            <a:off x="1188720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Verified output</a:t>
            </a:r>
            <a:endParaRPr lang="en-US" sz="1300" dirty="0"/>
          </a:p>
        </p:txBody>
      </p:sp>
      <p:sp>
        <p:nvSpPr>
          <p:cNvPr id="193" name="Shape 193"/>
          <p:cNvSpPr txBox="1"/>
          <p:nvPr/>
        </p:nvSpPr>
        <p:spPr>
          <a:xfrm>
            <a:off x="685800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Every app is imported, booted and API-tested before delivery.</a:t>
            </a:r>
            <a:endParaRPr lang="en-US" sz="1200" dirty="0"/>
          </a:p>
        </p:txBody>
      </p:sp>
      <p:sp>
        <p:nvSpPr>
          <p:cNvPr id="194" name="Card 194"/>
          <p:cNvSpPr/>
          <p:nvPr/>
        </p:nvSpPr>
        <p:spPr>
          <a:xfrm>
            <a:off x="3264408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95" name="Shape 195"/>
          <p:cNvSpPr/>
          <p:nvPr/>
        </p:nvSpPr>
        <p:spPr>
          <a:xfrm>
            <a:off x="3401568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196" name="Shape 196"/>
          <p:cNvSpPr txBox="1"/>
          <p:nvPr/>
        </p:nvSpPr>
        <p:spPr>
          <a:xfrm>
            <a:off x="3904488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Autonomous self-healing</a:t>
            </a:r>
            <a:endParaRPr lang="en-US" sz="1300" dirty="0"/>
          </a:p>
        </p:txBody>
      </p:sp>
      <p:sp>
        <p:nvSpPr>
          <p:cNvPr id="197" name="Shape 197"/>
          <p:cNvSpPr txBox="1"/>
          <p:nvPr/>
        </p:nvSpPr>
        <p:spPr>
          <a:xfrm>
            <a:off x="3401568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Bugs are classified, located and patched without a human.</a:t>
            </a:r>
            <a:endParaRPr lang="en-US" sz="1200" dirty="0"/>
          </a:p>
        </p:txBody>
      </p:sp>
      <p:sp>
        <p:nvSpPr>
          <p:cNvPr id="198" name="Card 198"/>
          <p:cNvSpPr/>
          <p:nvPr/>
        </p:nvSpPr>
        <p:spPr>
          <a:xfrm>
            <a:off x="5980176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199" name="Shape 199"/>
          <p:cNvSpPr/>
          <p:nvPr/>
        </p:nvSpPr>
        <p:spPr>
          <a:xfrm>
            <a:off x="6117336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200" name="Shape 200"/>
          <p:cNvSpPr txBox="1"/>
          <p:nvPr/>
        </p:nvSpPr>
        <p:spPr>
          <a:xfrm>
            <a:off x="6620256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Explainable</a:t>
            </a:r>
            <a:endParaRPr lang="en-US" sz="1300" dirty="0"/>
          </a:p>
        </p:txBody>
      </p:sp>
      <p:sp>
        <p:nvSpPr>
          <p:cNvPr id="201" name="Shape 201"/>
          <p:cNvSpPr txBox="1"/>
          <p:nvPr/>
        </p:nvSpPr>
        <p:spPr>
          <a:xfrm>
            <a:off x="6117336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Change ledger and red/green diffs show what changed and why.</a:t>
            </a:r>
            <a:endParaRPr lang="en-US" sz="1200" dirty="0"/>
          </a:p>
        </p:txBody>
      </p:sp>
      <p:sp>
        <p:nvSpPr>
          <p:cNvPr id="202" name="Card 202"/>
          <p:cNvSpPr/>
          <p:nvPr/>
        </p:nvSpPr>
        <p:spPr>
          <a:xfrm>
            <a:off x="548640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203" name="Shape 203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204" name="Shape 204"/>
          <p:cNvSpPr txBox="1"/>
          <p:nvPr/>
        </p:nvSpPr>
        <p:spPr>
          <a:xfrm>
            <a:off x="1188720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Cost-efficient</a:t>
            </a:r>
            <a:endParaRPr lang="en-US" sz="1300" dirty="0"/>
          </a:p>
        </p:txBody>
      </p:sp>
      <p:sp>
        <p:nvSpPr>
          <p:cNvPr id="205" name="Shape 205"/>
          <p:cNvSpPr txBox="1"/>
          <p:nvPr/>
        </p:nvSpPr>
        <p:spPr>
          <a:xfrm>
            <a:off x="685800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Tiered models: about $0.01-0.20 per generated application.</a:t>
            </a:r>
            <a:endParaRPr lang="en-US" sz="1200" dirty="0"/>
          </a:p>
        </p:txBody>
      </p:sp>
      <p:sp>
        <p:nvSpPr>
          <p:cNvPr id="206" name="Card 206"/>
          <p:cNvSpPr/>
          <p:nvPr/>
        </p:nvSpPr>
        <p:spPr>
          <a:xfrm>
            <a:off x="3264408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207" name="Shape 207"/>
          <p:cNvSpPr/>
          <p:nvPr/>
        </p:nvSpPr>
        <p:spPr>
          <a:xfrm>
            <a:off x="3401568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208" name="Shape 208"/>
          <p:cNvSpPr txBox="1"/>
          <p:nvPr/>
        </p:nvSpPr>
        <p:spPr>
          <a:xfrm>
            <a:off x="3904488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lock-in</a:t>
            </a:r>
            <a:endParaRPr lang="en-US" sz="1300" dirty="0"/>
          </a:p>
        </p:txBody>
      </p:sp>
      <p:sp>
        <p:nvSpPr>
          <p:cNvPr id="209" name="Shape 209"/>
          <p:cNvSpPr txBox="1"/>
          <p:nvPr/>
        </p:nvSpPr>
        <p:spPr>
          <a:xfrm>
            <a:off x="3401568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Standard FastAPI + Docker project; download or self-host.</a:t>
            </a:r>
            <a:endParaRPr lang="en-US" sz="1200" dirty="0"/>
          </a:p>
        </p:txBody>
      </p:sp>
      <p:sp>
        <p:nvSpPr>
          <p:cNvPr id="210" name="Card 210"/>
          <p:cNvSpPr/>
          <p:nvPr/>
        </p:nvSpPr>
        <p:spPr>
          <a:xfrm>
            <a:off x="5980176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211" name="Shape 211"/>
          <p:cNvSpPr/>
          <p:nvPr/>
        </p:nvSpPr>
        <p:spPr>
          <a:xfrm>
            <a:off x="6117336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✓</a:t>
            </a:r>
            <a:endParaRPr lang="en-US" sz="1300" dirty="0"/>
          </a:p>
        </p:txBody>
      </p:sp>
      <p:sp>
        <p:nvSpPr>
          <p:cNvPr id="212" name="Shape 212"/>
          <p:cNvSpPr txBox="1"/>
          <p:nvPr/>
        </p:nvSpPr>
        <p:spPr>
          <a:xfrm>
            <a:off x="6620256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Live preview</a:t>
            </a:r>
            <a:endParaRPr lang="en-US" sz="1300" dirty="0"/>
          </a:p>
        </p:txBody>
      </p:sp>
      <p:sp>
        <p:nvSpPr>
          <p:cNvPr id="213" name="Shape 213"/>
          <p:cNvSpPr txBox="1"/>
          <p:nvPr/>
        </p:nvSpPr>
        <p:spPr>
          <a:xfrm>
            <a:off x="6117336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The generated app runs immediately and can be used in the browser.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15" name="Shape 41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S/W and H/W Requirements</a:t>
            </a:r>
            <a:endParaRPr lang="en-US" sz="2800" dirty="0"/>
          </a:p>
        </p:txBody>
      </p:sp>
      <p:sp>
        <p:nvSpPr>
          <p:cNvPr id="416" name="Footer bar 41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17" name="Shape 41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18" name="Shape 41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10</a:t>
            </a:r>
            <a:endParaRPr lang="en-US" sz="1400" dirty="0"/>
          </a:p>
        </p:txBody>
      </p:sp>
      <p:sp>
        <p:nvSpPr>
          <p:cNvPr id="214" name="Shape 214"/>
          <p:cNvSpPr/>
          <p:nvPr/>
        </p:nvSpPr>
        <p:spPr>
          <a:xfrm>
            <a:off x="548640" y="1143000"/>
            <a:ext cx="438912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Software</a:t>
            </a:r>
            <a:endParaRPr lang="en-US" sz="1500" dirty="0"/>
          </a:p>
        </p:txBody>
      </p:sp>
      <p:sp>
        <p:nvSpPr>
          <p:cNvPr id="215" name="Shape 215"/>
          <p:cNvSpPr/>
          <p:nvPr/>
        </p:nvSpPr>
        <p:spPr>
          <a:xfrm>
            <a:off x="548640" y="1600200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Language / runtime</a:t>
            </a:r>
            <a:endParaRPr lang="en-US" sz="1200" dirty="0"/>
          </a:p>
        </p:txBody>
      </p:sp>
      <p:sp>
        <p:nvSpPr>
          <p:cNvPr id="216" name="Shape 216"/>
          <p:cNvSpPr/>
          <p:nvPr/>
        </p:nvSpPr>
        <p:spPr>
          <a:xfrm>
            <a:off x="2185416" y="1600200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Python 3.11, Node.js 22</a:t>
            </a:r>
            <a:endParaRPr lang="en-US" sz="1200" dirty="0"/>
          </a:p>
        </p:txBody>
      </p:sp>
      <p:sp>
        <p:nvSpPr>
          <p:cNvPr id="217" name="Shape 217"/>
          <p:cNvSpPr/>
          <p:nvPr/>
        </p:nvSpPr>
        <p:spPr>
          <a:xfrm>
            <a:off x="548640" y="2075688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Agent orchestration</a:t>
            </a:r>
            <a:endParaRPr lang="en-US" sz="1200" dirty="0"/>
          </a:p>
        </p:txBody>
      </p:sp>
      <p:sp>
        <p:nvSpPr>
          <p:cNvPr id="218" name="Shape 218"/>
          <p:cNvSpPr/>
          <p:nvPr/>
        </p:nvSpPr>
        <p:spPr>
          <a:xfrm>
            <a:off x="2185416" y="2075688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LangGraph (state machine + checkpoints)</a:t>
            </a:r>
            <a:endParaRPr lang="en-US" sz="1200" dirty="0"/>
          </a:p>
        </p:txBody>
      </p:sp>
      <p:sp>
        <p:nvSpPr>
          <p:cNvPr id="219" name="Shape 219"/>
          <p:cNvSpPr/>
          <p:nvPr/>
        </p:nvSpPr>
        <p:spPr>
          <a:xfrm>
            <a:off x="548640" y="2551176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Backend framework</a:t>
            </a:r>
            <a:endParaRPr lang="en-US" sz="1200" dirty="0"/>
          </a:p>
        </p:txBody>
      </p:sp>
      <p:sp>
        <p:nvSpPr>
          <p:cNvPr id="220" name="Shape 220"/>
          <p:cNvSpPr/>
          <p:nvPr/>
        </p:nvSpPr>
        <p:spPr>
          <a:xfrm>
            <a:off x="2185416" y="2551176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FastAPI, SQLAlchemy 2.0, Pydantic v2</a:t>
            </a:r>
            <a:endParaRPr lang="en-US" sz="1200" dirty="0"/>
          </a:p>
        </p:txBody>
      </p:sp>
      <p:sp>
        <p:nvSpPr>
          <p:cNvPr id="221" name="Shape 221"/>
          <p:cNvSpPr/>
          <p:nvPr/>
        </p:nvSpPr>
        <p:spPr>
          <a:xfrm>
            <a:off x="548640" y="3026664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LLMs (via OpenRouter)</a:t>
            </a:r>
            <a:endParaRPr lang="en-US" sz="1200" dirty="0"/>
          </a:p>
        </p:txBody>
      </p:sp>
      <p:sp>
        <p:nvSpPr>
          <p:cNvPr id="222" name="Shape 222"/>
          <p:cNvSpPr/>
          <p:nvPr/>
        </p:nvSpPr>
        <p:spPr>
          <a:xfrm>
            <a:off x="2185416" y="3026664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Claude Sonnet 4.6, Qwen3 Coder, DeepSeek V3.1</a:t>
            </a:r>
            <a:endParaRPr lang="en-US" sz="1200" dirty="0"/>
          </a:p>
        </p:txBody>
      </p:sp>
      <p:sp>
        <p:nvSpPr>
          <p:cNvPr id="223" name="Shape 223"/>
          <p:cNvSpPr/>
          <p:nvPr/>
        </p:nvSpPr>
        <p:spPr>
          <a:xfrm>
            <a:off x="548640" y="3502152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Frontend</a:t>
            </a:r>
            <a:endParaRPr lang="en-US" sz="1200" dirty="0"/>
          </a:p>
        </p:txBody>
      </p:sp>
      <p:sp>
        <p:nvSpPr>
          <p:cNvPr id="224" name="Shape 224"/>
          <p:cNvSpPr/>
          <p:nvPr/>
        </p:nvSpPr>
        <p:spPr>
          <a:xfrm>
            <a:off x="2185416" y="3502152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Next.js 16, React 19, Tailwind CSS</a:t>
            </a:r>
            <a:endParaRPr lang="en-US" sz="1200" dirty="0"/>
          </a:p>
        </p:txBody>
      </p:sp>
      <p:sp>
        <p:nvSpPr>
          <p:cNvPr id="225" name="Shape 225"/>
          <p:cNvSpPr/>
          <p:nvPr/>
        </p:nvSpPr>
        <p:spPr>
          <a:xfrm>
            <a:off x="548640" y="3977640"/>
            <a:ext cx="16002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Testing / DevOps</a:t>
            </a:r>
            <a:endParaRPr lang="en-US" sz="1200" dirty="0"/>
          </a:p>
        </p:txBody>
      </p:sp>
      <p:sp>
        <p:nvSpPr>
          <p:cNvPr id="226" name="Shape 226"/>
          <p:cNvSpPr/>
          <p:nvPr/>
        </p:nvSpPr>
        <p:spPr>
          <a:xfrm>
            <a:off x="2185416" y="3977640"/>
            <a:ext cx="27523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pytest, ruff, Docker, Railway</a:t>
            </a:r>
            <a:endParaRPr lang="en-US" sz="1200" dirty="0"/>
          </a:p>
        </p:txBody>
      </p:sp>
      <p:sp>
        <p:nvSpPr>
          <p:cNvPr id="227" name="Shape 227"/>
          <p:cNvSpPr/>
          <p:nvPr/>
        </p:nvSpPr>
        <p:spPr>
          <a:xfrm>
            <a:off x="5120640" y="1143000"/>
            <a:ext cx="347472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Hardware</a:t>
            </a:r>
            <a:endParaRPr lang="en-US" sz="1500" dirty="0"/>
          </a:p>
        </p:txBody>
      </p:sp>
      <p:sp>
        <p:nvSpPr>
          <p:cNvPr id="228" name="Shape 228"/>
          <p:cNvSpPr/>
          <p:nvPr/>
        </p:nvSpPr>
        <p:spPr>
          <a:xfrm>
            <a:off x="5120640" y="1600200"/>
            <a:ext cx="1143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Development PC</a:t>
            </a:r>
            <a:endParaRPr lang="en-US" sz="1200" dirty="0"/>
          </a:p>
        </p:txBody>
      </p:sp>
      <p:sp>
        <p:nvSpPr>
          <p:cNvPr id="229" name="Shape 229"/>
          <p:cNvSpPr/>
          <p:nvPr/>
        </p:nvSpPr>
        <p:spPr>
          <a:xfrm>
            <a:off x="6300216" y="1600200"/>
            <a:ext cx="22951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4-core CPU, 8 GB RAM (16 GB recommended), 10 GB disk</a:t>
            </a:r>
            <a:endParaRPr lang="en-US" sz="1200" dirty="0"/>
          </a:p>
        </p:txBody>
      </p:sp>
      <p:sp>
        <p:nvSpPr>
          <p:cNvPr id="230" name="Shape 230"/>
          <p:cNvSpPr/>
          <p:nvPr/>
        </p:nvSpPr>
        <p:spPr>
          <a:xfrm>
            <a:off x="5120640" y="2075688"/>
            <a:ext cx="1143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Server</a:t>
            </a:r>
            <a:endParaRPr lang="en-US" sz="1200" dirty="0"/>
          </a:p>
        </p:txBody>
      </p:sp>
      <p:sp>
        <p:nvSpPr>
          <p:cNvPr id="231" name="Shape 231"/>
          <p:cNvSpPr/>
          <p:nvPr/>
        </p:nvSpPr>
        <p:spPr>
          <a:xfrm>
            <a:off x="6300216" y="2075688"/>
            <a:ext cx="22951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Railway container: 1 vCPU, 1 GB+ RAM, persistent volume</a:t>
            </a:r>
            <a:endParaRPr lang="en-US" sz="1200" dirty="0"/>
          </a:p>
        </p:txBody>
      </p:sp>
      <p:sp>
        <p:nvSpPr>
          <p:cNvPr id="232" name="Shape 232"/>
          <p:cNvSpPr/>
          <p:nvPr/>
        </p:nvSpPr>
        <p:spPr>
          <a:xfrm>
            <a:off x="5120640" y="2551176"/>
            <a:ext cx="1143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Network</a:t>
            </a:r>
            <a:endParaRPr lang="en-US" sz="1200" dirty="0"/>
          </a:p>
        </p:txBody>
      </p:sp>
      <p:sp>
        <p:nvSpPr>
          <p:cNvPr id="233" name="Shape 233"/>
          <p:cNvSpPr/>
          <p:nvPr/>
        </p:nvSpPr>
        <p:spPr>
          <a:xfrm>
            <a:off x="6300216" y="2551176"/>
            <a:ext cx="22951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Internet access for LLM API calls</a:t>
            </a:r>
            <a:endParaRPr lang="en-US" sz="1200" dirty="0"/>
          </a:p>
        </p:txBody>
      </p:sp>
      <p:sp>
        <p:nvSpPr>
          <p:cNvPr id="234" name="Shape 234"/>
          <p:cNvSpPr/>
          <p:nvPr/>
        </p:nvSpPr>
        <p:spPr>
          <a:xfrm>
            <a:off x="5120640" y="3026664"/>
            <a:ext cx="1143000" cy="438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GPU</a:t>
            </a:r>
            <a:endParaRPr lang="en-US" sz="1200" dirty="0"/>
          </a:p>
        </p:txBody>
      </p:sp>
      <p:sp>
        <p:nvSpPr>
          <p:cNvPr id="235" name="Shape 235"/>
          <p:cNvSpPr/>
          <p:nvPr/>
        </p:nvSpPr>
        <p:spPr>
          <a:xfrm>
            <a:off x="6300216" y="3026664"/>
            <a:ext cx="22951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Not required (models are API-hosted)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19" name="Shape 41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Feasibility Study</a:t>
            </a:r>
            <a:endParaRPr lang="en-US" sz="2800" dirty="0"/>
          </a:p>
        </p:txBody>
      </p:sp>
      <p:sp>
        <p:nvSpPr>
          <p:cNvPr id="420" name="Footer bar 42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21" name="Shape 42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22" name="Shape 42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11</a:t>
            </a:r>
            <a:endParaRPr lang="en-US" sz="1400" dirty="0"/>
          </a:p>
        </p:txBody>
      </p:sp>
      <p:sp>
        <p:nvSpPr>
          <p:cNvPr id="236" name="Shape 236"/>
          <p:cNvSpPr/>
          <p:nvPr/>
        </p:nvSpPr>
        <p:spPr>
          <a:xfrm>
            <a:off x="548640" y="1188720"/>
            <a:ext cx="1901952" cy="50292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Technical</a:t>
            </a:r>
            <a:endParaRPr lang="en-US" sz="1500" dirty="0"/>
          </a:p>
        </p:txBody>
      </p:sp>
      <p:sp>
        <p:nvSpPr>
          <p:cNvPr id="237" name="Shape 237"/>
          <p:cNvSpPr/>
          <p:nvPr/>
        </p:nvSpPr>
        <p:spPr>
          <a:xfrm>
            <a:off x="548640" y="1783080"/>
            <a:ext cx="1901952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Open-source, well-documented stack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Working prototype deployed on Railway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36 automated tests passing</a:t>
            </a:r>
            <a:endParaRPr lang="en-US" sz="1300" dirty="0"/>
          </a:p>
        </p:txBody>
      </p:sp>
      <p:sp>
        <p:nvSpPr>
          <p:cNvPr id="238" name="Shape 238"/>
          <p:cNvSpPr/>
          <p:nvPr/>
        </p:nvSpPr>
        <p:spPr>
          <a:xfrm>
            <a:off x="2587752" y="1188720"/>
            <a:ext cx="1901952" cy="50292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Economic</a:t>
            </a:r>
            <a:endParaRPr lang="en-US" sz="1500" dirty="0"/>
          </a:p>
        </p:txBody>
      </p:sp>
      <p:sp>
        <p:nvSpPr>
          <p:cNvPr id="239" name="Shape 239"/>
          <p:cNvSpPr/>
          <p:nvPr/>
        </p:nvSpPr>
        <p:spPr>
          <a:xfrm>
            <a:off x="2587752" y="1783080"/>
            <a:ext cx="1901952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About $0.01-0.20 of API cost per app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Hosting: $5/month (Railway Hobby)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GPU or paid licences</a:t>
            </a:r>
            <a:endParaRPr lang="en-US" sz="1300" dirty="0"/>
          </a:p>
        </p:txBody>
      </p:sp>
      <p:sp>
        <p:nvSpPr>
          <p:cNvPr id="240" name="Shape 240"/>
          <p:cNvSpPr/>
          <p:nvPr/>
        </p:nvSpPr>
        <p:spPr>
          <a:xfrm>
            <a:off x="4626864" y="1188720"/>
            <a:ext cx="1901952" cy="50292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Operational</a:t>
            </a:r>
            <a:endParaRPr lang="en-US" sz="1500" dirty="0"/>
          </a:p>
        </p:txBody>
      </p:sp>
      <p:sp>
        <p:nvSpPr>
          <p:cNvPr id="241" name="Shape 241"/>
          <p:cNvSpPr/>
          <p:nvPr/>
        </p:nvSpPr>
        <p:spPr>
          <a:xfrm>
            <a:off x="4626864" y="1783080"/>
            <a:ext cx="1901952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Browser UI: describe app, press Generate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Docker image for self-hosting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No ML expertise needed to use</a:t>
            </a:r>
            <a:endParaRPr lang="en-US" sz="1300" dirty="0"/>
          </a:p>
        </p:txBody>
      </p:sp>
      <p:sp>
        <p:nvSpPr>
          <p:cNvPr id="242" name="Shape 242"/>
          <p:cNvSpPr/>
          <p:nvPr/>
        </p:nvSpPr>
        <p:spPr>
          <a:xfrm>
            <a:off x="6665976" y="1188720"/>
            <a:ext cx="1901952" cy="50292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Schedule</a:t>
            </a:r>
            <a:endParaRPr lang="en-US" sz="1500" dirty="0"/>
          </a:p>
        </p:txBody>
      </p:sp>
      <p:sp>
        <p:nvSpPr>
          <p:cNvPr id="243" name="Shape 243"/>
          <p:cNvSpPr/>
          <p:nvPr/>
        </p:nvSpPr>
        <p:spPr>
          <a:xfrm>
            <a:off x="6665976" y="1783080"/>
            <a:ext cx="1901952" cy="2651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MVP built within the review window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Modular graph: features add as nodes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Clear Phase-2 roadmap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23" name="Shape 42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System Architecture</a:t>
            </a:r>
            <a:endParaRPr lang="en-US" sz="2800" dirty="0"/>
          </a:p>
        </p:txBody>
      </p:sp>
      <p:sp>
        <p:nvSpPr>
          <p:cNvPr id="424" name="Footer bar 42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25" name="Shape 42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26" name="Shape 42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12</a:t>
            </a:r>
            <a:endParaRPr lang="en-US" sz="1400" dirty="0"/>
          </a:p>
        </p:txBody>
      </p:sp>
      <p:sp>
        <p:nvSpPr>
          <p:cNvPr id="244" name="Shape 244"/>
          <p:cNvSpPr/>
          <p:nvPr/>
        </p:nvSpPr>
        <p:spPr>
          <a:xfrm>
            <a:off x="548640" y="1188720"/>
            <a:ext cx="1188720" cy="64008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User</a:t>
            </a:r>
            <a:endParaRPr lang="en-US" sz="1400" dirty="0"/>
          </a:p>
        </p:txBody>
      </p:sp>
      <p:sp>
        <p:nvSpPr>
          <p:cNvPr id="245" name="Shape 245"/>
          <p:cNvSpPr/>
          <p:nvPr/>
        </p:nvSpPr>
        <p:spPr>
          <a:xfrm>
            <a:off x="548640" y="2194560"/>
            <a:ext cx="1188720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Web UI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Next.js</a:t>
            </a:r>
            <a:endParaRPr lang="en-US" sz="1100" dirty="0"/>
          </a:p>
        </p:txBody>
      </p:sp>
      <p:cxnSp>
        <p:nvCxnSpPr>
          <p:cNvPr id="246" name="Connector 246"/>
          <p:cNvCxnSpPr/>
          <p:nvPr/>
        </p:nvCxnSpPr>
        <p:spPr>
          <a:xfrm>
            <a:off x="1143000" y="1828800"/>
            <a:ext cx="0" cy="36576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  <p:sp>
        <p:nvSpPr>
          <p:cNvPr id="247" name="Shape 247"/>
          <p:cNvSpPr/>
          <p:nvPr/>
        </p:nvSpPr>
        <p:spPr>
          <a:xfrm>
            <a:off x="2057400" y="1143000"/>
            <a:ext cx="182880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1F1F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FastAPI Server</a:t>
            </a:r>
            <a:endParaRPr lang="en-US" sz="1300" dirty="0"/>
          </a:p>
        </p:txBody>
      </p:sp>
      <p:sp>
        <p:nvSpPr>
          <p:cNvPr id="248" name="Shape 248"/>
          <p:cNvSpPr/>
          <p:nvPr/>
        </p:nvSpPr>
        <p:spPr>
          <a:xfrm>
            <a:off x="2194560" y="160020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Run manager</a:t>
            </a:r>
            <a:endParaRPr lang="en-US" sz="1200" dirty="0"/>
          </a:p>
        </p:txBody>
      </p:sp>
      <p:sp>
        <p:nvSpPr>
          <p:cNvPr id="249" name="Shape 249"/>
          <p:cNvSpPr/>
          <p:nvPr/>
        </p:nvSpPr>
        <p:spPr>
          <a:xfrm>
            <a:off x="2194560" y="246888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SSE event stream</a:t>
            </a:r>
            <a:endParaRPr lang="en-US" sz="1200" dirty="0"/>
          </a:p>
        </p:txBody>
      </p:sp>
      <p:sp>
        <p:nvSpPr>
          <p:cNvPr id="250" name="Shape 250"/>
          <p:cNvSpPr/>
          <p:nvPr/>
        </p:nvSpPr>
        <p:spPr>
          <a:xfrm>
            <a:off x="2194560" y="333756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Preview proxy</a:t>
            </a:r>
            <a:endParaRPr lang="en-US" sz="1200" dirty="0"/>
          </a:p>
        </p:txBody>
      </p:sp>
      <p:cxnSp>
        <p:nvCxnSpPr>
          <p:cNvPr id="251" name="Connector 251"/>
          <p:cNvCxnSpPr/>
          <p:nvPr/>
        </p:nvCxnSpPr>
        <p:spPr>
          <a:xfrm>
            <a:off x="1737360" y="2697480"/>
            <a:ext cx="320040" cy="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  <p:sp>
        <p:nvSpPr>
          <p:cNvPr id="252" name="Shape 252"/>
          <p:cNvSpPr/>
          <p:nvPr/>
        </p:nvSpPr>
        <p:spPr>
          <a:xfrm>
            <a:off x="4206240" y="1143000"/>
            <a:ext cx="2514600" cy="3337560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 w="15875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LangGraph Harness</a:t>
            </a:r>
            <a:endParaRPr lang="en-US" sz="1300" dirty="0"/>
          </a:p>
        </p:txBody>
      </p:sp>
      <p:sp>
        <p:nvSpPr>
          <p:cNvPr id="253" name="Shape 253"/>
          <p:cNvSpPr/>
          <p:nvPr/>
        </p:nvSpPr>
        <p:spPr>
          <a:xfrm>
            <a:off x="4343400" y="1536192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Architect</a:t>
            </a:r>
            <a:endParaRPr lang="en-US" sz="1200" dirty="0"/>
          </a:p>
        </p:txBody>
      </p:sp>
      <p:sp>
        <p:nvSpPr>
          <p:cNvPr id="254" name="Shape 254"/>
          <p:cNvSpPr/>
          <p:nvPr/>
        </p:nvSpPr>
        <p:spPr>
          <a:xfrm>
            <a:off x="4343400" y="2020824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Planner</a:t>
            </a:r>
            <a:endParaRPr lang="en-US" sz="1200" dirty="0"/>
          </a:p>
        </p:txBody>
      </p:sp>
      <p:sp>
        <p:nvSpPr>
          <p:cNvPr id="255" name="Shape 255"/>
          <p:cNvSpPr/>
          <p:nvPr/>
        </p:nvSpPr>
        <p:spPr>
          <a:xfrm>
            <a:off x="4343400" y="2505456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Code Generator</a:t>
            </a:r>
            <a:endParaRPr lang="en-US" sz="1200" dirty="0"/>
          </a:p>
        </p:txBody>
      </p:sp>
      <p:sp>
        <p:nvSpPr>
          <p:cNvPr id="256" name="Shape 256"/>
          <p:cNvSpPr/>
          <p:nvPr/>
        </p:nvSpPr>
        <p:spPr>
          <a:xfrm>
            <a:off x="4343400" y="2990088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Sandbox Validator</a:t>
            </a:r>
            <a:endParaRPr lang="en-US" sz="1200" dirty="0"/>
          </a:p>
        </p:txBody>
      </p:sp>
      <p:sp>
        <p:nvSpPr>
          <p:cNvPr id="257" name="Shape 257"/>
          <p:cNvSpPr/>
          <p:nvPr/>
        </p:nvSpPr>
        <p:spPr>
          <a:xfrm>
            <a:off x="4343400" y="3474720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Classifier → Reflector</a:t>
            </a:r>
            <a:endParaRPr lang="en-US" sz="1200" dirty="0"/>
          </a:p>
        </p:txBody>
      </p:sp>
      <p:sp>
        <p:nvSpPr>
          <p:cNvPr id="258" name="Shape 258"/>
          <p:cNvSpPr/>
          <p:nvPr/>
        </p:nvSpPr>
        <p:spPr>
          <a:xfrm>
            <a:off x="4343400" y="3959352"/>
            <a:ext cx="2240280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Packager</a:t>
            </a:r>
            <a:endParaRPr lang="en-US" sz="1200" dirty="0"/>
          </a:p>
        </p:txBody>
      </p:sp>
      <p:cxnSp>
        <p:nvCxnSpPr>
          <p:cNvPr id="259" name="Connector 259"/>
          <p:cNvCxnSpPr/>
          <p:nvPr/>
        </p:nvCxnSpPr>
        <p:spPr>
          <a:xfrm>
            <a:off x="3886200" y="2697480"/>
            <a:ext cx="320040" cy="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  <p:sp>
        <p:nvSpPr>
          <p:cNvPr id="260" name="Shape 260"/>
          <p:cNvSpPr/>
          <p:nvPr/>
        </p:nvSpPr>
        <p:spPr>
          <a:xfrm>
            <a:off x="7040880" y="118872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OpenRouter LLMs</a:t>
            </a:r>
            <a:endParaRPr lang="en-US" sz="12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Sonnet 4.6 · Qwen3 Coder · DeepSeek</a:t>
            </a:r>
            <a:endParaRPr lang="en-US" sz="1000" dirty="0"/>
          </a:p>
        </p:txBody>
      </p:sp>
      <p:cxnSp>
        <p:nvCxnSpPr>
          <p:cNvPr id="261" name="Connector 261"/>
          <p:cNvCxnSpPr/>
          <p:nvPr/>
        </p:nvCxnSpPr>
        <p:spPr>
          <a:xfrm>
            <a:off x="6720840" y="1645920"/>
            <a:ext cx="320040" cy="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  <p:sp>
        <p:nvSpPr>
          <p:cNvPr id="262" name="Shape 262"/>
          <p:cNvSpPr/>
          <p:nvPr/>
        </p:nvSpPr>
        <p:spPr>
          <a:xfrm>
            <a:off x="7040880" y="2304288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Isolated Sandbox</a:t>
            </a:r>
            <a:endParaRPr lang="en-US" sz="12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unprivileged user, scrubbed env</a:t>
            </a:r>
            <a:endParaRPr lang="en-US" sz="1000" dirty="0"/>
          </a:p>
        </p:txBody>
      </p:sp>
      <p:cxnSp>
        <p:nvCxnSpPr>
          <p:cNvPr id="263" name="Connector 263"/>
          <p:cNvCxnSpPr/>
          <p:nvPr/>
        </p:nvCxnSpPr>
        <p:spPr>
          <a:xfrm>
            <a:off x="6720840" y="2761488"/>
            <a:ext cx="320040" cy="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  <p:sp>
        <p:nvSpPr>
          <p:cNvPr id="264" name="Shape 264"/>
          <p:cNvSpPr/>
          <p:nvPr/>
        </p:nvSpPr>
        <p:spPr>
          <a:xfrm>
            <a:off x="7040880" y="3419856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45720" tIns="45720" rIns="45720" bIns="4572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Storage</a:t>
            </a:r>
            <a:endParaRPr lang="en-US" sz="12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SQLite checkpoints · run artifacts</a:t>
            </a:r>
            <a:endParaRPr lang="en-US" sz="1000" dirty="0"/>
          </a:p>
        </p:txBody>
      </p:sp>
      <p:cxnSp>
        <p:nvCxnSpPr>
          <p:cNvPr id="265" name="Connector 265"/>
          <p:cNvCxnSpPr/>
          <p:nvPr/>
        </p:nvCxnSpPr>
        <p:spPr>
          <a:xfrm>
            <a:off x="6720840" y="3877056"/>
            <a:ext cx="320040" cy="0"/>
          </a:xfrm>
          <a:prstGeom prst="straightConnector1">
            <a:avLst/>
          </a:prstGeom>
          <a:ln w="19050">
            <a:solidFill>
              <a:srgbClr val="1F1F1F"/>
            </a:solidFill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27" name="Shape 42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Data Flow Diagrams</a:t>
            </a:r>
            <a:endParaRPr lang="en-US" sz="2800" dirty="0"/>
          </a:p>
        </p:txBody>
      </p:sp>
      <p:sp>
        <p:nvSpPr>
          <p:cNvPr id="428" name="Footer bar 42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29" name="Shape 42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0" name="Shape 43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13</a:t>
            </a:r>
            <a:endParaRPr lang="en-US" sz="1400" dirty="0"/>
          </a:p>
        </p:txBody>
      </p:sp>
      <p:sp>
        <p:nvSpPr>
          <p:cNvPr id="266" name="Shape 266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Level 0: Context diagram</a:t>
            </a:r>
            <a:endParaRPr lang="en-US" sz="1600" dirty="0"/>
          </a:p>
        </p:txBody>
      </p:sp>
      <p:sp>
        <p:nvSpPr>
          <p:cNvPr id="267" name="Shape 267"/>
          <p:cNvSpPr/>
          <p:nvPr/>
        </p:nvSpPr>
        <p:spPr>
          <a:xfrm>
            <a:off x="640080" y="2240280"/>
            <a:ext cx="16459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User</a:t>
            </a:r>
            <a:endParaRPr lang="en-US" sz="1600" dirty="0"/>
          </a:p>
        </p:txBody>
      </p:sp>
      <p:sp>
        <p:nvSpPr>
          <p:cNvPr id="268" name="Shape 268"/>
          <p:cNvSpPr/>
          <p:nvPr/>
        </p:nvSpPr>
        <p:spPr>
          <a:xfrm>
            <a:off x="3520440" y="1874520"/>
            <a:ext cx="2103120" cy="164592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0.0</a:t>
            </a:r>
            <a:endParaRPr lang="en-US" sz="12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</a:t>
            </a:r>
            <a:endParaRPr lang="en-US" sz="18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AI Harness</a:t>
            </a:r>
            <a:endParaRPr lang="en-US" sz="1200" dirty="0"/>
          </a:p>
        </p:txBody>
      </p:sp>
      <p:sp>
        <p:nvSpPr>
          <p:cNvPr id="269" name="Shape 269"/>
          <p:cNvSpPr/>
          <p:nvPr/>
        </p:nvSpPr>
        <p:spPr>
          <a:xfrm>
            <a:off x="6858000" y="2240280"/>
            <a:ext cx="17373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LLM Provider</a:t>
            </a:r>
            <a:endParaRPr lang="en-US" sz="15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(OpenRouter)</a:t>
            </a:r>
            <a:endParaRPr lang="en-US" sz="1100" dirty="0"/>
          </a:p>
        </p:txBody>
      </p:sp>
      <p:cxnSp>
        <p:nvCxnSpPr>
          <p:cNvPr id="270" name="Connector 270"/>
          <p:cNvCxnSpPr/>
          <p:nvPr/>
        </p:nvCxnSpPr>
        <p:spPr>
          <a:xfrm flipV="1">
            <a:off x="2286000" y="2331720"/>
            <a:ext cx="1325880" cy="13716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sp>
        <p:nvSpPr>
          <p:cNvPr id="271" name="Shape 271"/>
          <p:cNvSpPr txBox="1"/>
          <p:nvPr/>
        </p:nvSpPr>
        <p:spPr>
          <a:xfrm>
            <a:off x="2240280" y="18745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app description</a:t>
            </a:r>
            <a:endParaRPr lang="en-US" sz="1100" dirty="0"/>
          </a:p>
        </p:txBody>
      </p:sp>
      <p:cxnSp>
        <p:nvCxnSpPr>
          <p:cNvPr id="272" name="Connector 272"/>
          <p:cNvCxnSpPr/>
          <p:nvPr/>
        </p:nvCxnSpPr>
        <p:spPr>
          <a:xfrm flipH="1" flipV="1">
            <a:off x="2286000" y="2926080"/>
            <a:ext cx="1325880" cy="13716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sp>
        <p:nvSpPr>
          <p:cNvPr id="273" name="Shape 273"/>
          <p:cNvSpPr txBox="1"/>
          <p:nvPr/>
        </p:nvSpPr>
        <p:spPr>
          <a:xfrm>
            <a:off x="2331720" y="3108960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architecture, live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app, zip, ledger</a:t>
            </a:r>
            <a:endParaRPr lang="en-US" sz="1100" dirty="0"/>
          </a:p>
        </p:txBody>
      </p:sp>
      <p:cxnSp>
        <p:nvCxnSpPr>
          <p:cNvPr id="274" name="Connector 274"/>
          <p:cNvCxnSpPr/>
          <p:nvPr/>
        </p:nvCxnSpPr>
        <p:spPr>
          <a:xfrm>
            <a:off x="5532120" y="2331720"/>
            <a:ext cx="1325880" cy="13716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sp>
        <p:nvSpPr>
          <p:cNvPr id="275" name="Shape 275"/>
          <p:cNvSpPr txBox="1"/>
          <p:nvPr/>
        </p:nvSpPr>
        <p:spPr>
          <a:xfrm>
            <a:off x="5486400" y="18745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prompts + context</a:t>
            </a:r>
            <a:endParaRPr lang="en-US" sz="1100" dirty="0"/>
          </a:p>
        </p:txBody>
      </p:sp>
      <p:cxnSp>
        <p:nvCxnSpPr>
          <p:cNvPr id="276" name="Connector 276"/>
          <p:cNvCxnSpPr/>
          <p:nvPr/>
        </p:nvCxnSpPr>
        <p:spPr>
          <a:xfrm flipH="1">
            <a:off x="5532120" y="2926080"/>
            <a:ext cx="1325880" cy="13716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sp>
        <p:nvSpPr>
          <p:cNvPr id="277" name="Shape 277"/>
          <p:cNvSpPr txBox="1"/>
          <p:nvPr/>
        </p:nvSpPr>
        <p:spPr>
          <a:xfrm>
            <a:off x="5577840" y="315468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spec, code, fixes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1" name="Shape 43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Data Flow Diagrams</a:t>
            </a:r>
            <a:endParaRPr lang="en-US" sz="2800" dirty="0"/>
          </a:p>
        </p:txBody>
      </p:sp>
      <p:sp>
        <p:nvSpPr>
          <p:cNvPr id="432" name="Footer bar 43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33" name="Shape 43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4" name="Shape 43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14</a:t>
            </a:r>
            <a:endParaRPr lang="en-US" sz="1400" dirty="0"/>
          </a:p>
        </p:txBody>
      </p:sp>
      <p:sp>
        <p:nvSpPr>
          <p:cNvPr id="278" name="Shape 278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Level 1: Processes and data stores</a:t>
            </a:r>
            <a:endParaRPr lang="en-US" sz="1600" dirty="0"/>
          </a:p>
        </p:txBody>
      </p:sp>
      <p:sp>
        <p:nvSpPr>
          <p:cNvPr id="279" name="Shape 279"/>
          <p:cNvSpPr/>
          <p:nvPr/>
        </p:nvSpPr>
        <p:spPr>
          <a:xfrm>
            <a:off x="548640" y="1600200"/>
            <a:ext cx="1783080" cy="960120"/>
          </a:xfrm>
          <a:prstGeom prst="roundRect">
            <a:avLst>
              <a:gd name="adj" fmla="val 18000"/>
            </a:avLst>
          </a:prstGeom>
          <a:solidFill>
            <a:srgbClr val="CC0000"/>
          </a:solidFill>
          <a:ln>
            <a:noFill/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1.0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Parse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requirements</a:t>
            </a:r>
            <a:endParaRPr lang="en-US" sz="1300" dirty="0"/>
          </a:p>
        </p:txBody>
      </p:sp>
      <p:sp>
        <p:nvSpPr>
          <p:cNvPr id="280" name="Shape 280"/>
          <p:cNvSpPr/>
          <p:nvPr/>
        </p:nvSpPr>
        <p:spPr>
          <a:xfrm>
            <a:off x="2606040" y="1600200"/>
            <a:ext cx="1783080" cy="960120"/>
          </a:xfrm>
          <a:prstGeom prst="roundRect">
            <a:avLst>
              <a:gd name="adj" fmla="val 18000"/>
            </a:avLst>
          </a:prstGeom>
          <a:solidFill>
            <a:srgbClr val="CC0000"/>
          </a:solidFill>
          <a:ln>
            <a:noFill/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2.0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Plan &amp;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generate code</a:t>
            </a:r>
            <a:endParaRPr lang="en-US" sz="1300" dirty="0"/>
          </a:p>
        </p:txBody>
      </p:sp>
      <p:sp>
        <p:nvSpPr>
          <p:cNvPr id="281" name="Shape 281"/>
          <p:cNvSpPr/>
          <p:nvPr/>
        </p:nvSpPr>
        <p:spPr>
          <a:xfrm>
            <a:off x="4663440" y="1600200"/>
            <a:ext cx="1783080" cy="960120"/>
          </a:xfrm>
          <a:prstGeom prst="roundRect">
            <a:avLst>
              <a:gd name="adj" fmla="val 18000"/>
            </a:avLst>
          </a:prstGeom>
          <a:solidFill>
            <a:srgbClr val="CC0000"/>
          </a:solidFill>
          <a:ln>
            <a:noFill/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3.0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Validate in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sandbox</a:t>
            </a:r>
            <a:endParaRPr lang="en-US" sz="1300" dirty="0"/>
          </a:p>
        </p:txBody>
      </p:sp>
      <p:sp>
        <p:nvSpPr>
          <p:cNvPr id="282" name="Shape 282"/>
          <p:cNvSpPr/>
          <p:nvPr/>
        </p:nvSpPr>
        <p:spPr>
          <a:xfrm>
            <a:off x="6720840" y="1600200"/>
            <a:ext cx="1783080" cy="960120"/>
          </a:xfrm>
          <a:prstGeom prst="roundRect">
            <a:avLst>
              <a:gd name="adj" fmla="val 18000"/>
            </a:avLst>
          </a:prstGeom>
          <a:solidFill>
            <a:srgbClr val="1F1F1F"/>
          </a:solidFill>
          <a:ln>
            <a:noFill/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5.0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Package &amp;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preview</a:t>
            </a:r>
            <a:endParaRPr lang="en-US" sz="1300" dirty="0"/>
          </a:p>
        </p:txBody>
      </p:sp>
      <p:cxnSp>
        <p:nvCxnSpPr>
          <p:cNvPr id="283" name="Connector 283"/>
          <p:cNvCxnSpPr/>
          <p:nvPr/>
        </p:nvCxnSpPr>
        <p:spPr>
          <a:xfrm>
            <a:off x="2331720" y="2075688"/>
            <a:ext cx="274320" cy="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cxnSp>
        <p:nvCxnSpPr>
          <p:cNvPr id="284" name="Connector 284"/>
          <p:cNvCxnSpPr/>
          <p:nvPr/>
        </p:nvCxnSpPr>
        <p:spPr>
          <a:xfrm>
            <a:off x="4389120" y="2075688"/>
            <a:ext cx="274320" cy="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cxnSp>
        <p:nvCxnSpPr>
          <p:cNvPr id="285" name="Connector 285"/>
          <p:cNvCxnSpPr/>
          <p:nvPr/>
        </p:nvCxnSpPr>
        <p:spPr>
          <a:xfrm>
            <a:off x="6446520" y="2075688"/>
            <a:ext cx="274320" cy="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sp>
        <p:nvSpPr>
          <p:cNvPr id="286" name="Shape 286"/>
          <p:cNvSpPr/>
          <p:nvPr/>
        </p:nvSpPr>
        <p:spPr>
          <a:xfrm>
            <a:off x="4663440" y="3154680"/>
            <a:ext cx="178308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27432" tIns="27432" rIns="27432" bIns="2743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4.0</a:t>
            </a:r>
            <a:endParaRPr lang="en-US" sz="11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Classify &amp;</a:t>
            </a:r>
            <a:endParaRPr lang="en-US" sz="13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repair</a:t>
            </a:r>
            <a:endParaRPr lang="en-US" sz="1300" dirty="0"/>
          </a:p>
        </p:txBody>
      </p:sp>
      <p:cxnSp>
        <p:nvCxnSpPr>
          <p:cNvPr id="287" name="Connector 287"/>
          <p:cNvCxnSpPr/>
          <p:nvPr/>
        </p:nvCxnSpPr>
        <p:spPr>
          <a:xfrm>
            <a:off x="5166360" y="2560320"/>
            <a:ext cx="0" cy="594360"/>
          </a:xfrm>
          <a:prstGeom prst="straightConnector1">
            <a:avLst/>
          </a:prstGeom>
          <a:ln w="19050">
            <a:solidFill>
              <a:srgbClr val="CC0000"/>
            </a:solidFill>
            <a:tailEnd type="triangle" w="med" len="med"/>
          </a:ln>
        </p:spPr>
      </p:cxnSp>
      <p:sp>
        <p:nvSpPr>
          <p:cNvPr id="288" name="Shape 288"/>
          <p:cNvSpPr txBox="1"/>
          <p:nvPr/>
        </p:nvSpPr>
        <p:spPr>
          <a:xfrm>
            <a:off x="4572000" y="2697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fail</a:t>
            </a:r>
            <a:endParaRPr lang="en-US" sz="1000" dirty="0"/>
          </a:p>
        </p:txBody>
      </p:sp>
      <p:cxnSp>
        <p:nvCxnSpPr>
          <p:cNvPr id="289" name="Connector 289"/>
          <p:cNvCxnSpPr/>
          <p:nvPr/>
        </p:nvCxnSpPr>
        <p:spPr>
          <a:xfrm flipV="1">
            <a:off x="5943600" y="2560320"/>
            <a:ext cx="0" cy="594360"/>
          </a:xfrm>
          <a:prstGeom prst="straightConnector1">
            <a:avLst/>
          </a:prstGeom>
          <a:ln w="19050">
            <a:solidFill>
              <a:srgbClr val="CC0000"/>
            </a:solidFill>
            <a:tailEnd type="triangle" w="med" len="med"/>
          </a:ln>
        </p:spPr>
      </p:cxnSp>
      <p:sp>
        <p:nvSpPr>
          <p:cNvPr id="290" name="Shape 290"/>
          <p:cNvSpPr txBox="1"/>
          <p:nvPr/>
        </p:nvSpPr>
        <p:spPr>
          <a:xfrm>
            <a:off x="6035040" y="26974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patch</a:t>
            </a:r>
            <a:endParaRPr lang="en-US" sz="1000" dirty="0"/>
          </a:p>
        </p:txBody>
      </p:sp>
      <p:sp>
        <p:nvSpPr>
          <p:cNvPr id="291" name="Shape 291"/>
          <p:cNvSpPr/>
          <p:nvPr/>
        </p:nvSpPr>
        <p:spPr>
          <a:xfrm>
            <a:off x="548640" y="3337560"/>
            <a:ext cx="17830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D1 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Project spec / state</a:t>
            </a:r>
            <a:endParaRPr lang="en-US" sz="1200" dirty="0"/>
          </a:p>
        </p:txBody>
      </p:sp>
      <p:sp>
        <p:nvSpPr>
          <p:cNvPr id="292" name="Shape 292"/>
          <p:cNvSpPr/>
          <p:nvPr/>
        </p:nvSpPr>
        <p:spPr>
          <a:xfrm>
            <a:off x="2606040" y="3337560"/>
            <a:ext cx="17830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D2  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Change ledger</a:t>
            </a:r>
            <a:endParaRPr lang="en-US" sz="1200" dirty="0"/>
          </a:p>
        </p:txBody>
      </p:sp>
      <p:cxnSp>
        <p:nvCxnSpPr>
          <p:cNvPr id="293" name="Connector 293"/>
          <p:cNvCxnSpPr/>
          <p:nvPr/>
        </p:nvCxnSpPr>
        <p:spPr>
          <a:xfrm>
            <a:off x="1435608" y="2560320"/>
            <a:ext cx="0" cy="777240"/>
          </a:xfrm>
          <a:prstGeom prst="straightConnector1">
            <a:avLst/>
          </a:prstGeom>
          <a:ln w="19050">
            <a:solidFill>
              <a:srgbClr val="595959"/>
            </a:solidFill>
            <a:prstDash val="dash"/>
            <a:tailEnd type="triangle" w="med" len="med"/>
          </a:ln>
        </p:spPr>
      </p:cxnSp>
      <p:cxnSp>
        <p:nvCxnSpPr>
          <p:cNvPr id="294" name="Connector 294"/>
          <p:cNvCxnSpPr/>
          <p:nvPr/>
        </p:nvCxnSpPr>
        <p:spPr>
          <a:xfrm>
            <a:off x="3493008" y="2560320"/>
            <a:ext cx="0" cy="777240"/>
          </a:xfrm>
          <a:prstGeom prst="straightConnector1">
            <a:avLst/>
          </a:prstGeom>
          <a:ln w="19050">
            <a:solidFill>
              <a:srgbClr val="595959"/>
            </a:solidFill>
            <a:prstDash val="dash"/>
            <a:tailEnd type="triangle" w="med" len="med"/>
          </a:ln>
        </p:spPr>
      </p:cxnSp>
      <p:cxnSp>
        <p:nvCxnSpPr>
          <p:cNvPr id="295" name="Connector 295"/>
          <p:cNvCxnSpPr/>
          <p:nvPr/>
        </p:nvCxnSpPr>
        <p:spPr>
          <a:xfrm flipH="1">
            <a:off x="4389120" y="3630168"/>
            <a:ext cx="274320" cy="0"/>
          </a:xfrm>
          <a:prstGeom prst="straightConnector1">
            <a:avLst/>
          </a:prstGeom>
          <a:ln w="19050">
            <a:solidFill>
              <a:srgbClr val="595959"/>
            </a:solidFill>
            <a:prstDash val="dash"/>
            <a:tailEnd type="triangle" w="med" len="med"/>
          </a:ln>
        </p:spPr>
      </p:cxnSp>
      <p:sp>
        <p:nvSpPr>
          <p:cNvPr id="296" name="Shape 296"/>
          <p:cNvSpPr/>
          <p:nvPr/>
        </p:nvSpPr>
        <p:spPr>
          <a:xfrm>
            <a:off x="6720840" y="3154680"/>
            <a:ext cx="178308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User</a:t>
            </a:r>
            <a:endParaRPr lang="en-US" sz="14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live app + zip</a:t>
            </a:r>
            <a:endParaRPr lang="en-US" sz="1100" dirty="0"/>
          </a:p>
        </p:txBody>
      </p:sp>
      <p:cxnSp>
        <p:nvCxnSpPr>
          <p:cNvPr id="297" name="Connector 297"/>
          <p:cNvCxnSpPr/>
          <p:nvPr/>
        </p:nvCxnSpPr>
        <p:spPr>
          <a:xfrm>
            <a:off x="7607808" y="2560320"/>
            <a:ext cx="0" cy="594360"/>
          </a:xfrm>
          <a:prstGeom prst="straightConnector1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5" name="Shape 43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Modules</a:t>
            </a:r>
            <a:endParaRPr lang="en-US" sz="2800" dirty="0"/>
          </a:p>
        </p:txBody>
      </p:sp>
      <p:sp>
        <p:nvSpPr>
          <p:cNvPr id="436" name="Footer bar 43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37" name="Shape 43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38" name="Shape 43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15</a:t>
            </a:r>
            <a:endParaRPr lang="en-US" sz="1400" dirty="0"/>
          </a:p>
        </p:txBody>
      </p:sp>
      <p:sp>
        <p:nvSpPr>
          <p:cNvPr id="298" name="Card 298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299" name="Shape 299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</a:t>
            </a:r>
            <a:endParaRPr lang="en-US" sz="1300" dirty="0"/>
          </a:p>
        </p:txBody>
      </p:sp>
      <p:sp>
        <p:nvSpPr>
          <p:cNvPr id="300" name="Shape 300"/>
          <p:cNvSpPr txBox="1"/>
          <p:nvPr/>
        </p:nvSpPr>
        <p:spPr>
          <a:xfrm>
            <a:off x="1188720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Architect</a:t>
            </a:r>
            <a:endParaRPr lang="en-US" sz="1300" dirty="0"/>
          </a:p>
        </p:txBody>
      </p:sp>
      <p:sp>
        <p:nvSpPr>
          <p:cNvPr id="301" name="Shape 301"/>
          <p:cNvSpPr txBox="1"/>
          <p:nvPr/>
        </p:nvSpPr>
        <p:spPr>
          <a:xfrm>
            <a:off x="685800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LLM turns the prompt into a validated ProjectSpec: entities, typed fields, foreign keys, auth.</a:t>
            </a:r>
            <a:endParaRPr lang="en-US" sz="1100" dirty="0"/>
          </a:p>
        </p:txBody>
      </p:sp>
      <p:sp>
        <p:nvSpPr>
          <p:cNvPr id="302" name="Card 302"/>
          <p:cNvSpPr/>
          <p:nvPr/>
        </p:nvSpPr>
        <p:spPr>
          <a:xfrm>
            <a:off x="3264408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03" name="Shape 303"/>
          <p:cNvSpPr/>
          <p:nvPr/>
        </p:nvSpPr>
        <p:spPr>
          <a:xfrm>
            <a:off x="3401568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</a:t>
            </a:r>
            <a:endParaRPr lang="en-US" sz="1300" dirty="0"/>
          </a:p>
        </p:txBody>
      </p:sp>
      <p:sp>
        <p:nvSpPr>
          <p:cNvPr id="304" name="Shape 304"/>
          <p:cNvSpPr txBox="1"/>
          <p:nvPr/>
        </p:nvSpPr>
        <p:spPr>
          <a:xfrm>
            <a:off x="3904488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Planner &amp; Code Generator</a:t>
            </a:r>
            <a:endParaRPr lang="en-US" sz="1300" dirty="0"/>
          </a:p>
        </p:txBody>
      </p:sp>
      <p:sp>
        <p:nvSpPr>
          <p:cNvPr id="305" name="Shape 305"/>
          <p:cNvSpPr txBox="1"/>
          <p:nvPr/>
        </p:nvSpPr>
        <p:spPr>
          <a:xfrm>
            <a:off x="3401568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Dependency-ordered file plan; per-entity models, schemas and routers written in parallel.</a:t>
            </a:r>
            <a:endParaRPr lang="en-US" sz="1100" dirty="0"/>
          </a:p>
        </p:txBody>
      </p:sp>
      <p:sp>
        <p:nvSpPr>
          <p:cNvPr id="306" name="Card 306"/>
          <p:cNvSpPr/>
          <p:nvPr/>
        </p:nvSpPr>
        <p:spPr>
          <a:xfrm>
            <a:off x="5980176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07" name="Shape 307"/>
          <p:cNvSpPr/>
          <p:nvPr/>
        </p:nvSpPr>
        <p:spPr>
          <a:xfrm>
            <a:off x="6117336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</a:t>
            </a:r>
            <a:endParaRPr lang="en-US" sz="1300" dirty="0"/>
          </a:p>
        </p:txBody>
      </p:sp>
      <p:sp>
        <p:nvSpPr>
          <p:cNvPr id="308" name="Shape 308"/>
          <p:cNvSpPr txBox="1"/>
          <p:nvPr/>
        </p:nvSpPr>
        <p:spPr>
          <a:xfrm>
            <a:off x="6620256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Sandbox Validator</a:t>
            </a:r>
            <a:endParaRPr lang="en-US" sz="1300" dirty="0"/>
          </a:p>
        </p:txBody>
      </p:sp>
      <p:sp>
        <p:nvSpPr>
          <p:cNvPr id="309" name="Shape 309"/>
          <p:cNvSpPr txBox="1"/>
          <p:nvPr/>
        </p:nvSpPr>
        <p:spPr>
          <a:xfrm>
            <a:off x="6117336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Three gates: import, boot (/health) and spec-derived API tests, as an unprivileged user.</a:t>
            </a:r>
            <a:endParaRPr lang="en-US" sz="1100" dirty="0"/>
          </a:p>
        </p:txBody>
      </p:sp>
      <p:sp>
        <p:nvSpPr>
          <p:cNvPr id="310" name="Card 310"/>
          <p:cNvSpPr/>
          <p:nvPr/>
        </p:nvSpPr>
        <p:spPr>
          <a:xfrm>
            <a:off x="548640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11" name="Shape 311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</a:t>
            </a:r>
            <a:endParaRPr lang="en-US" sz="1300" dirty="0"/>
          </a:p>
        </p:txBody>
      </p:sp>
      <p:sp>
        <p:nvSpPr>
          <p:cNvPr id="312" name="Shape 312"/>
          <p:cNvSpPr txBox="1"/>
          <p:nvPr/>
        </p:nvSpPr>
        <p:spPr>
          <a:xfrm>
            <a:off x="1188720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Self-Healing Engine</a:t>
            </a:r>
            <a:endParaRPr lang="en-US" sz="1300" dirty="0"/>
          </a:p>
        </p:txBody>
      </p:sp>
      <p:sp>
        <p:nvSpPr>
          <p:cNvPr id="313" name="Shape 313"/>
          <p:cNvSpPr txBox="1"/>
          <p:nvPr/>
        </p:nvSpPr>
        <p:spPr>
          <a:xfrm>
            <a:off x="685800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Error taxonomy + fault localisation; repair escalates cheap model → strong model → templates.</a:t>
            </a:r>
            <a:endParaRPr lang="en-US" sz="1100" dirty="0"/>
          </a:p>
        </p:txBody>
      </p:sp>
      <p:sp>
        <p:nvSpPr>
          <p:cNvPr id="314" name="Card 314"/>
          <p:cNvSpPr/>
          <p:nvPr/>
        </p:nvSpPr>
        <p:spPr>
          <a:xfrm>
            <a:off x="3264408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15" name="Shape 315"/>
          <p:cNvSpPr/>
          <p:nvPr/>
        </p:nvSpPr>
        <p:spPr>
          <a:xfrm>
            <a:off x="3401568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</a:t>
            </a:r>
            <a:endParaRPr lang="en-US" sz="1300" dirty="0"/>
          </a:p>
        </p:txBody>
      </p:sp>
      <p:sp>
        <p:nvSpPr>
          <p:cNvPr id="316" name="Shape 316"/>
          <p:cNvSpPr txBox="1"/>
          <p:nvPr/>
        </p:nvSpPr>
        <p:spPr>
          <a:xfrm>
            <a:off x="3904488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Packager &amp; Live Preview</a:t>
            </a:r>
            <a:endParaRPr lang="en-US" sz="1300" dirty="0"/>
          </a:p>
        </p:txBody>
      </p:sp>
      <p:sp>
        <p:nvSpPr>
          <p:cNvPr id="317" name="Shape 317"/>
          <p:cNvSpPr txBox="1"/>
          <p:nvPr/>
        </p:nvSpPr>
        <p:spPr>
          <a:xfrm>
            <a:off x="3401568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Zip with Dockerfile and ledger; the app is started and proxied for live use.</a:t>
            </a:r>
            <a:endParaRPr lang="en-US" sz="1100" dirty="0"/>
          </a:p>
        </p:txBody>
      </p:sp>
      <p:sp>
        <p:nvSpPr>
          <p:cNvPr id="318" name="Card 318"/>
          <p:cNvSpPr/>
          <p:nvPr/>
        </p:nvSpPr>
        <p:spPr>
          <a:xfrm>
            <a:off x="5980176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19" name="Shape 319"/>
          <p:cNvSpPr/>
          <p:nvPr/>
        </p:nvSpPr>
        <p:spPr>
          <a:xfrm>
            <a:off x="6117336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6</a:t>
            </a:r>
            <a:endParaRPr lang="en-US" sz="1300" dirty="0"/>
          </a:p>
        </p:txBody>
      </p:sp>
      <p:sp>
        <p:nvSpPr>
          <p:cNvPr id="320" name="Shape 320"/>
          <p:cNvSpPr txBox="1"/>
          <p:nvPr/>
        </p:nvSpPr>
        <p:spPr>
          <a:xfrm>
            <a:off x="6620256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Web UI &amp; API</a:t>
            </a:r>
            <a:endParaRPr lang="en-US" sz="1300" dirty="0"/>
          </a:p>
        </p:txBody>
      </p:sp>
      <p:sp>
        <p:nvSpPr>
          <p:cNvPr id="321" name="Shape 321"/>
          <p:cNvSpPr txBox="1"/>
          <p:nvPr/>
        </p:nvSpPr>
        <p:spPr>
          <a:xfrm>
            <a:off x="6117336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FastAPI + SSE streaming; Next.js UI with live pipeline, activity feed and diffs.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39" name="Shape 43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Algorithm / Core Techniques</a:t>
            </a:r>
            <a:endParaRPr lang="en-US" sz="2800" dirty="0"/>
          </a:p>
        </p:txBody>
      </p:sp>
      <p:sp>
        <p:nvSpPr>
          <p:cNvPr id="440" name="Footer bar 44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1" name="Shape 44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42" name="Shape 44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16</a:t>
            </a:r>
            <a:endParaRPr lang="en-US" sz="1400" dirty="0"/>
          </a:p>
        </p:txBody>
      </p:sp>
      <p:sp>
        <p:nvSpPr>
          <p:cNvPr id="322" name="Shape 322"/>
          <p:cNvSpPr/>
          <p:nvPr/>
        </p:nvSpPr>
        <p:spPr>
          <a:xfrm>
            <a:off x="548640" y="114300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1. Design</a:t>
            </a:r>
            <a:endParaRPr lang="en-US" sz="1200" dirty="0"/>
          </a:p>
        </p:txBody>
      </p:sp>
      <p:sp>
        <p:nvSpPr>
          <p:cNvPr id="323" name="Shape 323"/>
          <p:cNvSpPr txBox="1"/>
          <p:nvPr/>
        </p:nvSpPr>
        <p:spPr>
          <a:xfrm>
            <a:off x="1810512" y="114300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 ← Architect(prompt); validate against the ProjectSpec schema, retry once on invalid output</a:t>
            </a:r>
            <a:endParaRPr lang="en-US" sz="1200" dirty="0"/>
          </a:p>
        </p:txBody>
      </p:sp>
      <p:sp>
        <p:nvSpPr>
          <p:cNvPr id="324" name="Shape 324"/>
          <p:cNvSpPr/>
          <p:nvPr/>
        </p:nvSpPr>
        <p:spPr>
          <a:xfrm>
            <a:off x="548640" y="169164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2. Plan</a:t>
            </a:r>
            <a:endParaRPr lang="en-US" sz="1200" dirty="0"/>
          </a:p>
        </p:txBody>
      </p:sp>
      <p:sp>
        <p:nvSpPr>
          <p:cNvPr id="325" name="Shape 325"/>
          <p:cNvSpPr txBox="1"/>
          <p:nvPr/>
        </p:nvSpPr>
        <p:spPr>
          <a:xfrm>
            <a:off x="1810512" y="169164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P ← topological file order; T ← verified templates as the reference contract</a:t>
            </a:r>
            <a:endParaRPr lang="en-US" sz="1200" dirty="0"/>
          </a:p>
        </p:txBody>
      </p:sp>
      <p:sp>
        <p:nvSpPr>
          <p:cNvPr id="326" name="Shape 326"/>
          <p:cNvSpPr/>
          <p:nvPr/>
        </p:nvSpPr>
        <p:spPr>
          <a:xfrm>
            <a:off x="548640" y="224028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3. Generate</a:t>
            </a:r>
            <a:endParaRPr lang="en-US" sz="1200" dirty="0"/>
          </a:p>
        </p:txBody>
      </p:sp>
      <p:sp>
        <p:nvSpPr>
          <p:cNvPr id="327" name="Shape 327"/>
          <p:cNvSpPr txBox="1"/>
          <p:nvPr/>
        </p:nvSpPr>
        <p:spPr>
          <a:xfrm>
            <a:off x="1810512" y="224028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F ← CodeGen(S, T) for every entity in parallel</a:t>
            </a:r>
            <a:endParaRPr lang="en-US" sz="1200" dirty="0"/>
          </a:p>
        </p:txBody>
      </p:sp>
      <p:sp>
        <p:nvSpPr>
          <p:cNvPr id="328" name="Shape 328"/>
          <p:cNvSpPr/>
          <p:nvPr/>
        </p:nvSpPr>
        <p:spPr>
          <a:xfrm>
            <a:off x="548640" y="278892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4. Validate</a:t>
            </a:r>
            <a:endParaRPr lang="en-US" sz="1200" dirty="0"/>
          </a:p>
        </p:txBody>
      </p:sp>
      <p:sp>
        <p:nvSpPr>
          <p:cNvPr id="329" name="Shape 329"/>
          <p:cNvSpPr txBox="1"/>
          <p:nvPr/>
        </p:nvSpPr>
        <p:spPr>
          <a:xfrm>
            <a:off x="1810512" y="278892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r ← Sandbox(F): import → boot → API tests; if r.ok → package and preview</a:t>
            </a:r>
            <a:endParaRPr lang="en-US" sz="1200" dirty="0"/>
          </a:p>
        </p:txBody>
      </p:sp>
      <p:sp>
        <p:nvSpPr>
          <p:cNvPr id="330" name="Shape 330"/>
          <p:cNvSpPr/>
          <p:nvPr/>
        </p:nvSpPr>
        <p:spPr>
          <a:xfrm>
            <a:off x="548640" y="333756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CC0000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5. Heal</a:t>
            </a:r>
            <a:endParaRPr lang="en-US" sz="1200" dirty="0"/>
          </a:p>
        </p:txBody>
      </p:sp>
      <p:sp>
        <p:nvSpPr>
          <p:cNvPr id="331" name="Shape 331"/>
          <p:cNvSpPr txBox="1"/>
          <p:nvPr/>
        </p:nvSpPr>
        <p:spPr>
          <a:xfrm>
            <a:off x="1810512" y="333756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class ← classify(r.log); file ← locate(r.log); F[file] ← repair(class, file); go to Validate</a:t>
            </a:r>
            <a:endParaRPr lang="en-US" sz="1200" dirty="0"/>
          </a:p>
        </p:txBody>
      </p:sp>
      <p:sp>
        <p:nvSpPr>
          <p:cNvPr id="332" name="Shape 332"/>
          <p:cNvSpPr/>
          <p:nvPr/>
        </p:nvSpPr>
        <p:spPr>
          <a:xfrm>
            <a:off x="548640" y="3886200"/>
            <a:ext cx="1143000" cy="438912"/>
          </a:xfrm>
          <a:prstGeom prst="roundRect">
            <a:avLst>
              <a:gd name="adj" fmla="val 20000"/>
            </a:avLst>
          </a:prstGeom>
          <a:solidFill>
            <a:srgbClr val="1F1F1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6. Stop</a:t>
            </a:r>
            <a:endParaRPr lang="en-US" sz="1200" dirty="0"/>
          </a:p>
        </p:txBody>
      </p:sp>
      <p:sp>
        <p:nvSpPr>
          <p:cNvPr id="333" name="Shape 333"/>
          <p:cNvSpPr txBox="1"/>
          <p:nvPr/>
        </p:nvSpPr>
        <p:spPr>
          <a:xfrm>
            <a:off x="1810512" y="388620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after 3 attempts the circuit breaker returns a diagnostic report</a:t>
            </a:r>
            <a:endParaRPr lang="en-US" sz="1200" dirty="0"/>
          </a:p>
        </p:txBody>
      </p:sp>
      <p:sp>
        <p:nvSpPr>
          <p:cNvPr id="334" name="Shape 334"/>
          <p:cNvSpPr/>
          <p:nvPr/>
        </p:nvSpPr>
        <p:spPr>
          <a:xfrm>
            <a:off x="6263640" y="1143000"/>
            <a:ext cx="2331720" cy="324612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Repair escalation</a:t>
            </a:r>
            <a:endParaRPr lang="en-US" sz="1300" dirty="0"/>
          </a:p>
          <a:p>
            <a:pPr algn="l" marL="228600" indent="-228600">
              <a:spcAft>
                <a:spcPts val="2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Attempt 1: Qwen3 Coder (cheap)</a:t>
            </a:r>
            <a:endParaRPr lang="en-US" sz="1100" dirty="0"/>
          </a:p>
          <a:p>
            <a:pPr algn="l" marL="228600" indent="-228600">
              <a:spcAft>
                <a:spcPts val="2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Attempt 2: Claude Sonnet 4.6</a:t>
            </a:r>
            <a:endParaRPr lang="en-US" sz="1100" dirty="0"/>
          </a:p>
          <a:p>
            <a:pPr algn="l" marL="228600" indent="-228600">
              <a:spcAft>
                <a:spcPts val="6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Attempt 3: verified templates</a:t>
            </a:r>
            <a:endParaRPr lang="en-US" sz="110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Error taxonomy</a:t>
            </a:r>
            <a:endParaRPr lang="en-US" sz="1300" dirty="0"/>
          </a:p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syntax · import · dependency · orm · validation · runtime · contract · timeout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43" name="Shape 443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Work Progress</a:t>
            </a:r>
            <a:endParaRPr lang="en-US" sz="2800" dirty="0"/>
          </a:p>
        </p:txBody>
      </p:sp>
      <p:sp>
        <p:nvSpPr>
          <p:cNvPr id="444" name="Footer bar 444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5" name="Shape 445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46" name="Shape 446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17</a:t>
            </a:r>
            <a:endParaRPr lang="en-US" sz="1400" dirty="0"/>
          </a:p>
        </p:txBody>
      </p:sp>
      <p:sp>
        <p:nvSpPr>
          <p:cNvPr id="335" name="Shape 335"/>
          <p:cNvSpPr txBox="1"/>
          <p:nvPr/>
        </p:nvSpPr>
        <p:spPr>
          <a:xfrm>
            <a:off x="548640" y="1143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Literature survey and system design</a:t>
            </a:r>
            <a:endParaRPr lang="en-US" sz="1300" dirty="0"/>
          </a:p>
        </p:txBody>
      </p:sp>
      <p:sp>
        <p:nvSpPr>
          <p:cNvPr id="336" name="Shape 336"/>
          <p:cNvSpPr/>
          <p:nvPr/>
        </p:nvSpPr>
        <p:spPr>
          <a:xfrm>
            <a:off x="5486400" y="117957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37" name="Shape 337"/>
          <p:cNvSpPr txBox="1"/>
          <p:nvPr/>
        </p:nvSpPr>
        <p:spPr>
          <a:xfrm>
            <a:off x="548640" y="156362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LangGraph harness: Architect, Planner, Code Generator</a:t>
            </a:r>
            <a:endParaRPr lang="en-US" sz="1300" dirty="0"/>
          </a:p>
        </p:txBody>
      </p:sp>
      <p:sp>
        <p:nvSpPr>
          <p:cNvPr id="338" name="Shape 338"/>
          <p:cNvSpPr/>
          <p:nvPr/>
        </p:nvSpPr>
        <p:spPr>
          <a:xfrm>
            <a:off x="5486400" y="16002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39" name="Shape 339"/>
          <p:cNvSpPr txBox="1"/>
          <p:nvPr/>
        </p:nvSpPr>
        <p:spPr>
          <a:xfrm>
            <a:off x="548640" y="19842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Sandbox validator (import, boot, API tests)</a:t>
            </a:r>
            <a:endParaRPr lang="en-US" sz="1300" dirty="0"/>
          </a:p>
        </p:txBody>
      </p:sp>
      <p:sp>
        <p:nvSpPr>
          <p:cNvPr id="340" name="Shape 340"/>
          <p:cNvSpPr/>
          <p:nvPr/>
        </p:nvSpPr>
        <p:spPr>
          <a:xfrm>
            <a:off x="5486400" y="202082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41" name="Shape 341"/>
          <p:cNvSpPr txBox="1"/>
          <p:nvPr/>
        </p:nvSpPr>
        <p:spPr>
          <a:xfrm>
            <a:off x="548640" y="240487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Self-healing loop + circuit breaker</a:t>
            </a:r>
            <a:endParaRPr lang="en-US" sz="1300" dirty="0"/>
          </a:p>
        </p:txBody>
      </p:sp>
      <p:sp>
        <p:nvSpPr>
          <p:cNvPr id="342" name="Shape 342"/>
          <p:cNvSpPr/>
          <p:nvPr/>
        </p:nvSpPr>
        <p:spPr>
          <a:xfrm>
            <a:off x="5486400" y="24414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43" name="Shape 343"/>
          <p:cNvSpPr txBox="1"/>
          <p:nvPr/>
        </p:nvSpPr>
        <p:spPr>
          <a:xfrm>
            <a:off x="548640" y="282549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Web UI: live pipeline, activity feed, diffs</a:t>
            </a:r>
            <a:endParaRPr lang="en-US" sz="1300" dirty="0"/>
          </a:p>
        </p:txBody>
      </p:sp>
      <p:sp>
        <p:nvSpPr>
          <p:cNvPr id="344" name="Shape 344"/>
          <p:cNvSpPr/>
          <p:nvPr/>
        </p:nvSpPr>
        <p:spPr>
          <a:xfrm>
            <a:off x="5486400" y="28620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45" name="Shape 345"/>
          <p:cNvSpPr txBox="1"/>
          <p:nvPr/>
        </p:nvSpPr>
        <p:spPr>
          <a:xfrm>
            <a:off x="548640" y="3246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Live preview of generated apps; Railway deployment</a:t>
            </a:r>
            <a:endParaRPr lang="en-US" sz="1300" dirty="0"/>
          </a:p>
        </p:txBody>
      </p:sp>
      <p:sp>
        <p:nvSpPr>
          <p:cNvPr id="346" name="Shape 346"/>
          <p:cNvSpPr/>
          <p:nvPr/>
        </p:nvSpPr>
        <p:spPr>
          <a:xfrm>
            <a:off x="5486400" y="328269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Done</a:t>
            </a:r>
            <a:endParaRPr lang="en-US" sz="1000" dirty="0"/>
          </a:p>
        </p:txBody>
      </p:sp>
      <p:sp>
        <p:nvSpPr>
          <p:cNvPr id="347" name="Shape 347"/>
          <p:cNvSpPr txBox="1"/>
          <p:nvPr/>
        </p:nvSpPr>
        <p:spPr>
          <a:xfrm>
            <a:off x="548640" y="36667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Benchmark evaluation with real models</a:t>
            </a:r>
            <a:endParaRPr lang="en-US" sz="1300" dirty="0"/>
          </a:p>
        </p:txBody>
      </p:sp>
      <p:sp>
        <p:nvSpPr>
          <p:cNvPr id="348" name="Shape 348"/>
          <p:cNvSpPr/>
          <p:nvPr/>
        </p:nvSpPr>
        <p:spPr>
          <a:xfrm>
            <a:off x="5486400" y="3703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691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In progress</a:t>
            </a:r>
            <a:endParaRPr lang="en-US" sz="1000" dirty="0"/>
          </a:p>
        </p:txBody>
      </p:sp>
      <p:sp>
        <p:nvSpPr>
          <p:cNvPr id="349" name="Shape 349"/>
          <p:cNvSpPr txBox="1"/>
          <p:nvPr/>
        </p:nvSpPr>
        <p:spPr>
          <a:xfrm>
            <a:off x="548640" y="40873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Memory (ChromaDB), MCP tools, security scanning</a:t>
            </a:r>
            <a:endParaRPr lang="en-US" sz="1300" dirty="0"/>
          </a:p>
        </p:txBody>
      </p:sp>
      <p:sp>
        <p:nvSpPr>
          <p:cNvPr id="350" name="Shape 350"/>
          <p:cNvSpPr/>
          <p:nvPr/>
        </p:nvSpPr>
        <p:spPr>
          <a:xfrm>
            <a:off x="5486400" y="41239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Planned</a:t>
            </a:r>
            <a:endParaRPr lang="en-US" sz="1000" dirty="0"/>
          </a:p>
        </p:txBody>
      </p:sp>
      <p:sp>
        <p:nvSpPr>
          <p:cNvPr id="351" name="Shape 351"/>
          <p:cNvSpPr/>
          <p:nvPr/>
        </p:nvSpPr>
        <p:spPr>
          <a:xfrm>
            <a:off x="6903720" y="118872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~65%</a:t>
            </a:r>
            <a:endParaRPr lang="en-US" sz="36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of planned scope complete</a:t>
            </a:r>
            <a:endParaRPr lang="en-US" sz="1200" dirty="0"/>
          </a:p>
        </p:txBody>
      </p:sp>
      <p:sp>
        <p:nvSpPr>
          <p:cNvPr id="352" name="Shape 352"/>
          <p:cNvSpPr/>
          <p:nvPr/>
        </p:nvSpPr>
        <p:spPr>
          <a:xfrm>
            <a:off x="6903720" y="283464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6 / 8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milestones done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47" name="Shape 447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Experimental Results</a:t>
            </a:r>
            <a:endParaRPr lang="en-US" sz="2800" dirty="0"/>
          </a:p>
        </p:txBody>
      </p:sp>
      <p:sp>
        <p:nvSpPr>
          <p:cNvPr id="448" name="Footer bar 448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49" name="Shape 449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0" name="Shape 450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18</a:t>
            </a:r>
            <a:endParaRPr lang="en-US" sz="1400" dirty="0"/>
          </a:p>
        </p:txBody>
      </p:sp>
      <p:sp>
        <p:nvSpPr>
          <p:cNvPr id="353" name="Shape 353"/>
          <p:cNvSpPr/>
          <p:nvPr/>
        </p:nvSpPr>
        <p:spPr>
          <a:xfrm>
            <a:off x="548640" y="11430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36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automated tests passing (unit, graph, HTTP, live preview)</a:t>
            </a:r>
            <a:endParaRPr lang="en-US" sz="1100" dirty="0"/>
          </a:p>
        </p:txBody>
      </p:sp>
      <p:sp>
        <p:nvSpPr>
          <p:cNvPr id="354" name="Shape 354"/>
          <p:cNvSpPr/>
          <p:nvPr/>
        </p:nvSpPr>
        <p:spPr>
          <a:xfrm>
            <a:off x="3264408" y="11430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10 / 10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benchmark projects healed after a planted bug (harness evaluation)</a:t>
            </a:r>
            <a:endParaRPr lang="en-US" sz="1100" dirty="0"/>
          </a:p>
        </p:txBody>
      </p:sp>
      <p:sp>
        <p:nvSpPr>
          <p:cNvPr id="355" name="Shape 355"/>
          <p:cNvSpPr/>
          <p:nvPr/>
        </p:nvSpPr>
        <p:spPr>
          <a:xfrm>
            <a:off x="5980176" y="11430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1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repair iteration to fix a planted bug</a:t>
            </a:r>
            <a:endParaRPr lang="en-US" sz="1100" dirty="0"/>
          </a:p>
        </p:txBody>
      </p:sp>
      <p:sp>
        <p:nvSpPr>
          <p:cNvPr id="356" name="Shape 356"/>
          <p:cNvSpPr/>
          <p:nvPr/>
        </p:nvSpPr>
        <p:spPr>
          <a:xfrm>
            <a:off x="548640" y="256032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~51 s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end-to-end real run on Railway (blog + JWT auth)</a:t>
            </a:r>
            <a:endParaRPr lang="en-US" sz="1100" dirty="0"/>
          </a:p>
        </p:txBody>
      </p:sp>
      <p:sp>
        <p:nvSpPr>
          <p:cNvPr id="357" name="Shape 357"/>
          <p:cNvSpPr/>
          <p:nvPr/>
        </p:nvSpPr>
        <p:spPr>
          <a:xfrm>
            <a:off x="3264408" y="256032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$0.009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API cost of that run (~9.6k tokens)</a:t>
            </a:r>
            <a:endParaRPr lang="en-US" sz="1100" dirty="0"/>
          </a:p>
        </p:txBody>
      </p:sp>
      <p:sp>
        <p:nvSpPr>
          <p:cNvPr id="358" name="Shape 358"/>
          <p:cNvSpPr/>
          <p:nvPr/>
        </p:nvSpPr>
        <p:spPr>
          <a:xfrm>
            <a:off x="5980176" y="256032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C0000"/>
                </a:solidFill>
                <a:latin typeface="Calibri" pitchFamily="34" charset="0"/>
                <a:cs typeface="Calibri" pitchFamily="34" charset="0"/>
              </a:rPr>
              <a:t xml:space="preserve">3 gates</a:t>
            </a:r>
            <a:endParaRPr lang="en-US" sz="30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import, boot and API tests on every generated app</a:t>
            </a:r>
            <a:endParaRPr lang="en-US" sz="1100" dirty="0"/>
          </a:p>
        </p:txBody>
      </p:sp>
      <p:sp>
        <p:nvSpPr>
          <p:cNvPr id="359" name="Shape 359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Preliminary results from the working prototype; the full benchmark with real models is in progress.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1" name="Shape 451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Conclusion</a:t>
            </a:r>
            <a:endParaRPr lang="en-US" sz="2800" dirty="0"/>
          </a:p>
        </p:txBody>
      </p:sp>
      <p:sp>
        <p:nvSpPr>
          <p:cNvPr id="452" name="Footer bar 452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53" name="Shape 453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4" name="Shape 454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19</a:t>
            </a:r>
            <a:endParaRPr lang="en-US" sz="1400" dirty="0"/>
          </a:p>
        </p:txBody>
      </p:sp>
      <p:sp>
        <p:nvSpPr>
          <p:cNvPr id="360" name="Shape 360"/>
          <p:cNvSpPr txBox="1"/>
          <p:nvPr/>
        </p:nvSpPr>
        <p:spPr>
          <a:xfrm>
            <a:off x="548640" y="1188720"/>
            <a:ext cx="502920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228600" indent="-228600"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VibeStack turns a plain-English description into an architecture, a complete FastAPI backend, and a running app.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Every generated app is executed and tested in an isolated sandbox before it is delivered.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The self-healing loop detects, explains and fixes errors autonomously, with a circuit breaker for safety.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Clr>
                <a:srgbClr val="CC0000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 change ledger, code diffs and a live preview make AI-generated software transparent and reviewable.</a:t>
            </a:r>
            <a:endParaRPr lang="en-US" sz="1500" dirty="0"/>
          </a:p>
        </p:txBody>
      </p:sp>
      <p:sp>
        <p:nvSpPr>
          <p:cNvPr id="361" name="Shape 361"/>
          <p:cNvSpPr/>
          <p:nvPr/>
        </p:nvSpPr>
        <p:spPr>
          <a:xfrm>
            <a:off x="5943600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Agent =</a:t>
            </a:r>
            <a:endParaRPr lang="en-US" sz="2200" dirty="0"/>
          </a:p>
          <a:p>
            <a:pPr algn="ctr"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Model + Harness</a:t>
            </a:r>
            <a:endParaRPr lang="en-US" sz="2200" dirty="0"/>
          </a:p>
          <a:p>
            <a:pPr algn="ctr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Reliability comes from the harness around the model: validation, feedback loops and safety limits.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5" name="Shape 455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Future Scope</a:t>
            </a:r>
            <a:endParaRPr lang="en-US" sz="2800" dirty="0"/>
          </a:p>
        </p:txBody>
      </p:sp>
      <p:sp>
        <p:nvSpPr>
          <p:cNvPr id="456" name="Footer bar 456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57" name="Shape 457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58" name="Shape 458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20</a:t>
            </a:r>
            <a:endParaRPr lang="en-US" sz="1400" dirty="0"/>
          </a:p>
        </p:txBody>
      </p:sp>
      <p:sp>
        <p:nvSpPr>
          <p:cNvPr id="362" name="Card 362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3" name="Shape 363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1</a:t>
            </a:r>
            <a:endParaRPr lang="en-US" sz="1300" dirty="0"/>
          </a:p>
        </p:txBody>
      </p:sp>
      <p:sp>
        <p:nvSpPr>
          <p:cNvPr id="364" name="Shape 364"/>
          <p:cNvSpPr txBox="1"/>
          <p:nvPr/>
        </p:nvSpPr>
        <p:spPr>
          <a:xfrm>
            <a:off x="1188720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Long-term memory</a:t>
            </a:r>
            <a:endParaRPr lang="en-US" sz="1300" dirty="0"/>
          </a:p>
        </p:txBody>
      </p:sp>
      <p:sp>
        <p:nvSpPr>
          <p:cNvPr id="365" name="Shape 365"/>
          <p:cNvSpPr txBox="1"/>
          <p:nvPr/>
        </p:nvSpPr>
        <p:spPr>
          <a:xfrm>
            <a:off x="685800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ChromaDB project memory for consistent multi-session edits.</a:t>
            </a:r>
            <a:endParaRPr lang="en-US" sz="1200" dirty="0"/>
          </a:p>
        </p:txBody>
      </p:sp>
      <p:sp>
        <p:nvSpPr>
          <p:cNvPr id="366" name="Card 366"/>
          <p:cNvSpPr/>
          <p:nvPr/>
        </p:nvSpPr>
        <p:spPr>
          <a:xfrm>
            <a:off x="3264408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67" name="Shape 367"/>
          <p:cNvSpPr/>
          <p:nvPr/>
        </p:nvSpPr>
        <p:spPr>
          <a:xfrm>
            <a:off x="3401568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</a:t>
            </a:r>
            <a:endParaRPr lang="en-US" sz="1300" dirty="0"/>
          </a:p>
        </p:txBody>
      </p:sp>
      <p:sp>
        <p:nvSpPr>
          <p:cNvPr id="368" name="Shape 368"/>
          <p:cNvSpPr txBox="1"/>
          <p:nvPr/>
        </p:nvSpPr>
        <p:spPr>
          <a:xfrm>
            <a:off x="3904488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MCP tool integration</a:t>
            </a:r>
            <a:endParaRPr lang="en-US" sz="1300" dirty="0"/>
          </a:p>
        </p:txBody>
      </p:sp>
      <p:sp>
        <p:nvSpPr>
          <p:cNvPr id="369" name="Shape 369"/>
          <p:cNvSpPr txBox="1"/>
          <p:nvPr/>
        </p:nvSpPr>
        <p:spPr>
          <a:xfrm>
            <a:off x="3401568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Database, Docker and documentation tools via MCP.</a:t>
            </a:r>
            <a:endParaRPr lang="en-US" sz="1200" dirty="0"/>
          </a:p>
        </p:txBody>
      </p:sp>
      <p:sp>
        <p:nvSpPr>
          <p:cNvPr id="370" name="Card 370"/>
          <p:cNvSpPr/>
          <p:nvPr/>
        </p:nvSpPr>
        <p:spPr>
          <a:xfrm>
            <a:off x="5980176" y="118872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71" name="Shape 371"/>
          <p:cNvSpPr/>
          <p:nvPr/>
        </p:nvSpPr>
        <p:spPr>
          <a:xfrm>
            <a:off x="6117336" y="132588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3</a:t>
            </a:r>
            <a:endParaRPr lang="en-US" sz="1300" dirty="0"/>
          </a:p>
        </p:txBody>
      </p:sp>
      <p:sp>
        <p:nvSpPr>
          <p:cNvPr id="372" name="Shape 372"/>
          <p:cNvSpPr txBox="1"/>
          <p:nvPr/>
        </p:nvSpPr>
        <p:spPr>
          <a:xfrm>
            <a:off x="6620256" y="130759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Security scanning</a:t>
            </a:r>
            <a:endParaRPr lang="en-US" sz="1300" dirty="0"/>
          </a:p>
        </p:txBody>
      </p:sp>
      <p:sp>
        <p:nvSpPr>
          <p:cNvPr id="373" name="Shape 373"/>
          <p:cNvSpPr txBox="1"/>
          <p:nvPr/>
        </p:nvSpPr>
        <p:spPr>
          <a:xfrm>
            <a:off x="6117336" y="179222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Trivy and Checkov checks on every generated project.</a:t>
            </a:r>
            <a:endParaRPr lang="en-US" sz="1200" dirty="0"/>
          </a:p>
        </p:txBody>
      </p:sp>
      <p:sp>
        <p:nvSpPr>
          <p:cNvPr id="374" name="Card 374"/>
          <p:cNvSpPr/>
          <p:nvPr/>
        </p:nvSpPr>
        <p:spPr>
          <a:xfrm>
            <a:off x="548640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75" name="Shape 375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4</a:t>
            </a:r>
            <a:endParaRPr lang="en-US" sz="1300" dirty="0"/>
          </a:p>
        </p:txBody>
      </p:sp>
      <p:sp>
        <p:nvSpPr>
          <p:cNvPr id="376" name="Shape 376"/>
          <p:cNvSpPr txBox="1"/>
          <p:nvPr/>
        </p:nvSpPr>
        <p:spPr>
          <a:xfrm>
            <a:off x="1188720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Migrations &amp; Postgres</a:t>
            </a:r>
            <a:endParaRPr lang="en-US" sz="1300" dirty="0"/>
          </a:p>
        </p:txBody>
      </p:sp>
      <p:sp>
        <p:nvSpPr>
          <p:cNvPr id="377" name="Shape 377"/>
          <p:cNvSpPr txBox="1"/>
          <p:nvPr/>
        </p:nvSpPr>
        <p:spPr>
          <a:xfrm>
            <a:off x="685800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Alembic migrations and validation against PostgreSQL.</a:t>
            </a:r>
            <a:endParaRPr lang="en-US" sz="1200" dirty="0"/>
          </a:p>
        </p:txBody>
      </p:sp>
      <p:sp>
        <p:nvSpPr>
          <p:cNvPr id="378" name="Card 378"/>
          <p:cNvSpPr/>
          <p:nvPr/>
        </p:nvSpPr>
        <p:spPr>
          <a:xfrm>
            <a:off x="3264408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79" name="Shape 379"/>
          <p:cNvSpPr/>
          <p:nvPr/>
        </p:nvSpPr>
        <p:spPr>
          <a:xfrm>
            <a:off x="3401568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5</a:t>
            </a:r>
            <a:endParaRPr lang="en-US" sz="1300" dirty="0"/>
          </a:p>
        </p:txBody>
      </p:sp>
      <p:sp>
        <p:nvSpPr>
          <p:cNvPr id="380" name="Shape 380"/>
          <p:cNvSpPr txBox="1"/>
          <p:nvPr/>
        </p:nvSpPr>
        <p:spPr>
          <a:xfrm>
            <a:off x="3904488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Iterative editing</a:t>
            </a:r>
            <a:endParaRPr lang="en-US" sz="1300" dirty="0"/>
          </a:p>
        </p:txBody>
      </p:sp>
      <p:sp>
        <p:nvSpPr>
          <p:cNvPr id="381" name="Shape 381"/>
          <p:cNvSpPr txBox="1"/>
          <p:nvPr/>
        </p:nvSpPr>
        <p:spPr>
          <a:xfrm>
            <a:off x="3401568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Add features to an existing generated project safely.</a:t>
            </a:r>
            <a:endParaRPr lang="en-US" sz="1200" dirty="0"/>
          </a:p>
        </p:txBody>
      </p:sp>
      <p:sp>
        <p:nvSpPr>
          <p:cNvPr id="382" name="Card 382"/>
          <p:cNvSpPr/>
          <p:nvPr/>
        </p:nvSpPr>
        <p:spPr>
          <a:xfrm>
            <a:off x="5980176" y="2880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383" name="Shape 383"/>
          <p:cNvSpPr/>
          <p:nvPr/>
        </p:nvSpPr>
        <p:spPr>
          <a:xfrm>
            <a:off x="6117336" y="3017520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6</a:t>
            </a:r>
            <a:endParaRPr lang="en-US" sz="1300" dirty="0"/>
          </a:p>
        </p:txBody>
      </p:sp>
      <p:sp>
        <p:nvSpPr>
          <p:cNvPr id="384" name="Shape 384"/>
          <p:cNvSpPr txBox="1"/>
          <p:nvPr/>
        </p:nvSpPr>
        <p:spPr>
          <a:xfrm>
            <a:off x="6620256" y="2999232"/>
            <a:ext cx="18105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More stacks</a:t>
            </a:r>
            <a:endParaRPr lang="en-US" sz="1300" dirty="0"/>
          </a:p>
        </p:txBody>
      </p:sp>
      <p:sp>
        <p:nvSpPr>
          <p:cNvPr id="385" name="Shape 385"/>
          <p:cNvSpPr txBox="1"/>
          <p:nvPr/>
        </p:nvSpPr>
        <p:spPr>
          <a:xfrm>
            <a:off x="6117336" y="3483864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 xml:space="preserve">Java Spring Boot backends; frontend generation.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59" name="Shape 459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 xml:space="preserve">References</a:t>
            </a:r>
            <a:endParaRPr lang="en-US" sz="2800" dirty="0"/>
          </a:p>
        </p:txBody>
      </p:sp>
      <p:sp>
        <p:nvSpPr>
          <p:cNvPr id="460" name="Footer bar 46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</a:ln>
        </p:spPr>
        <p:txBody>
          <a:bodyPr wrap="square" lIns="73152" tIns="73152" rIns="73152" bIns="73152" rtlCol="0" anchor="t">
            <a:normAutofit/>
          </a:bodyPr>
          <a:lstStyle/>
          <a:p>
            <a:endParaRPr lang="en-US" dirty="0"/>
          </a:p>
        </p:txBody>
      </p:sp>
      <p:sp>
        <p:nvSpPr>
          <p:cNvPr id="461" name="Shape 461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VibeStack, Dept of AI and DS</a:t>
            </a:r>
            <a:endParaRPr lang="en-US" sz="1100" dirty="0"/>
          </a:p>
        </p:txBody>
      </p:sp>
      <p:sp>
        <p:nvSpPr>
          <p:cNvPr id="462" name="Shape 462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r"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 xml:space="preserve">21</a:t>
            </a:r>
            <a:endParaRPr lang="en-US" sz="1400" dirty="0"/>
          </a:p>
        </p:txBody>
      </p:sp>
      <p:sp>
        <p:nvSpPr>
          <p:cNvPr id="386" name="Shape 386"/>
          <p:cNvSpPr txBox="1"/>
          <p:nvPr/>
        </p:nvSpPr>
        <p:spPr>
          <a:xfrm>
            <a:off x="548640" y="11430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N. Shinn et al., "Reflexion: Language Agents with Verbal Reinforcement Learning," NeurIPS, 2023.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Z. Gou et al., "CRITIC: Large Language Models Can Self-Correct with Tool-Interactive Critiquing," ICLR, 2024.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S. Yao et al., "ReAct: Synergizing Reasoning and Acting in Language Models," ICLR, 2023.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C. E. Jimenez et al., "SWE-bench: Can Language Models Resolve Real-World GitHub Issues?," ICLR, 2024.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LangChain, "LangGraph: Building Stateful, Multi-Agent Applications with LLMs," documentation, 2024.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Anthropic, "Model Context Protocol (MCP) Specification," 2024.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S. Ramírez, "FastAPI Documentation," fastapi.tiangolo.com.</a:t>
            </a:r>
            <a:endParaRPr lang="en-US" sz="1300" dirty="0"/>
          </a:p>
          <a:p>
            <a:pPr algn="l" marL="285750" indent="-285750">
              <a:spcAft>
                <a:spcPts val="500"/>
              </a:spcAft>
              <a:buClr>
                <a:srgbClr val="CC0000"/>
              </a:buClr>
              <a:buFont typeface="+mj-lt"/>
              <a:buAutoNum type="arabicPeriod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cs typeface="Calibri" pitchFamily="34" charset="0"/>
              </a:rPr>
              <a:t xml:space="preserve">OpenRouter, "OpenRouter API Documentation," openrouter.ai/docs.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218</Words>
  <Application>Microsoft Office PowerPoint</Application>
  <PresentationFormat>On-screen Show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Jerrin Joseph</cp:lastModifiedBy>
  <cp:revision>3</cp:revision>
  <dcterms:created xsi:type="dcterms:W3CDTF">2026-10-01T06:52:13Z</dcterms:created>
  <dcterms:modified xsi:type="dcterms:W3CDTF">2026-10-02T02:51:54Z</dcterms:modified>
</cp:coreProperties>
</file>