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05840" y="11887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Inter"/>
              </a:rPr>
              <a:t>SEMINAR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5400" b="1">
                <a:solidFill>
                  <a:srgbClr val="1F2937"/>
                </a:solidFill>
                <a:latin typeface="Poppins"/>
              </a:rPr>
              <a:t>LangGraph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800" b="0">
                <a:solidFill>
                  <a:srgbClr val="1F2937"/>
                </a:solidFill>
                <a:latin typeface="Poppins"/>
              </a:rPr>
              <a:t>Graph-Based Orchestration for Stateful LLM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611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6B7280"/>
                </a:solidFill>
                <a:latin typeface="Inter"/>
              </a:rPr>
              <a:t>and its Applications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" y="4480560"/>
            <a:ext cx="3657600" cy="0"/>
          </a:xfrm>
          <a:prstGeom prst="line">
            <a:avLst/>
          </a:prstGeom>
          <a:ln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05840" y="470916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1F2937"/>
                </a:solidFill>
                <a:latin typeface="Inter"/>
              </a:rPr>
              <a:t>Nikhil Jimmy Thomas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Inter"/>
              </a:rPr>
              <a:t>MUT23CA055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Inter"/>
              </a:rPr>
              <a:t>Department of Artificial Intelligence and Data Science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4709160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Inter"/>
              </a:rPr>
              <a:t>Seminar Guide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Inter"/>
              </a:rPr>
              <a:t>Nimmi M K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6B7280"/>
                </a:solidFill>
                <a:latin typeface="Inter"/>
              </a:rPr>
              <a:t>Muthoot Institute of Technology and Science, Kochi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Poppins"/>
              </a:rPr>
              <a:t>Outline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LangGraph Seminar  ·  Nikhil Jimmy Thomas (MUT23CA055)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2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rtlCol="0" anchor="ctr" lIns="0" rIns="0" wrap="none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Poppi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00200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1F2937"/>
                </a:solidFill>
                <a:latin typeface="Inter"/>
              </a:rPr>
              <a:t>Introduction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468880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rtlCol="0" anchor="ctr" lIns="0" rIns="0" wrap="none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Poppin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468880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1F2937"/>
                </a:solidFill>
                <a:latin typeface="Inter"/>
              </a:rPr>
              <a:t>What is LangGraph?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337560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rtlCol="0" anchor="ctr" lIns="0" rIns="0" wrap="none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Poppin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337560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1F2937"/>
                </a:solidFill>
                <a:latin typeface="Inter"/>
              </a:rPr>
              <a:t>Core concepts &amp; features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4206240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rtlCol="0" anchor="ctr" lIns="0" rIns="0" wrap="none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Poppins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06240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1F2937"/>
                </a:solidFill>
                <a:latin typeface="Inter"/>
              </a:rPr>
              <a:t>Literature review (6 papers)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5074920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rtlCol="0" anchor="ctr" lIns="0" rIns="0" wrap="none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Poppins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074920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1F2937"/>
                </a:solidFill>
                <a:latin typeface="Inter"/>
              </a:rPr>
              <a:t>Base paper</a:t>
            </a:r>
          </a:p>
        </p:txBody>
      </p:sp>
      <p:sp>
        <p:nvSpPr>
          <p:cNvPr id="17" name="Oval 16"/>
          <p:cNvSpPr/>
          <p:nvPr/>
        </p:nvSpPr>
        <p:spPr>
          <a:xfrm>
            <a:off x="6263640" y="1600200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rtlCol="0" anchor="ctr" lIns="0" rIns="0" wrap="none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Poppins"/>
              </a:rPr>
              <a:t>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79" y="1600200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1F2937"/>
                </a:solidFill>
                <a:latin typeface="Inter"/>
              </a:rPr>
              <a:t>Methodology</a:t>
            </a:r>
          </a:p>
        </p:txBody>
      </p:sp>
      <p:sp>
        <p:nvSpPr>
          <p:cNvPr id="19" name="Oval 18"/>
          <p:cNvSpPr/>
          <p:nvPr/>
        </p:nvSpPr>
        <p:spPr>
          <a:xfrm>
            <a:off x="6263640" y="2468880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rtlCol="0" anchor="ctr" lIns="0" rIns="0" wrap="none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Poppins"/>
              </a:rPr>
              <a:t>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79" y="2468880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1F2937"/>
                </a:solidFill>
                <a:latin typeface="Inter"/>
              </a:rPr>
              <a:t>Results</a:t>
            </a:r>
          </a:p>
        </p:txBody>
      </p:sp>
      <p:sp>
        <p:nvSpPr>
          <p:cNvPr id="21" name="Oval 20"/>
          <p:cNvSpPr/>
          <p:nvPr/>
        </p:nvSpPr>
        <p:spPr>
          <a:xfrm>
            <a:off x="6263640" y="3337560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rtlCol="0" anchor="ctr" lIns="0" rIns="0" wrap="none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Poppins"/>
              </a:rPr>
              <a:t>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79" y="3337560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1F2937"/>
                </a:solidFill>
                <a:latin typeface="Inter"/>
              </a:rPr>
              <a:t>Advantages &amp; disadvantages</a:t>
            </a:r>
          </a:p>
        </p:txBody>
      </p:sp>
      <p:sp>
        <p:nvSpPr>
          <p:cNvPr id="23" name="Oval 22"/>
          <p:cNvSpPr/>
          <p:nvPr/>
        </p:nvSpPr>
        <p:spPr>
          <a:xfrm>
            <a:off x="6263640" y="4206240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rtlCol="0" anchor="ctr" lIns="0" rIns="0" wrap="none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Poppins"/>
              </a:rPr>
              <a:t>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4206240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1F2937"/>
                </a:solidFill>
                <a:latin typeface="Inter"/>
              </a:rPr>
              <a:t>Applications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263640" y="5074920"/>
            <a:ext cx="566928" cy="566928"/>
          </a:xfrm>
          <a:prstGeom prst="ellipse">
            <a:avLst/>
          </a:prstGeom>
          <a:solidFill>
            <a:srgbClr val="EEF2FF"/>
          </a:solidFill>
          <a:ln>
            <a:noFill/>
          </a:ln>
        </p:spPr>
        <p:txBody>
          <a:bodyPr rtlCol="0" anchor="ctr" lIns="0" rIns="0" wrap="none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Poppins"/>
              </a:rP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79" y="5074920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1F2937"/>
                </a:solidFill>
                <a:latin typeface="Inter"/>
              </a:rPr>
              <a:t>Conclusion &amp;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4F46E5"/>
                </a:solidFill>
                <a:latin typeface="Inter"/>
              </a:rPr>
              <a:t>WHY WE NEED LANGGRAPH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Poppins"/>
              </a:rPr>
              <a:t>Introduction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LangGraph Seminar  ·  Nikhil Jimmy Thomas (MUT23CA055)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508760"/>
            <a:ext cx="58521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800" b="1">
                <a:solidFill>
                  <a:srgbClr val="4F46E5"/>
                </a:solidFill>
                <a:latin typeface="Inter"/>
              </a:rPr>
              <a:t>•  </a:t>
            </a:r>
            <a:r>
              <a:rPr sz="1800" b="1">
                <a:solidFill>
                  <a:srgbClr val="1F2937"/>
                </a:solidFill>
                <a:latin typeface="Inter"/>
              </a:rPr>
              <a:t>LLMs </a:t>
            </a:r>
            <a:r>
              <a:rPr sz="1800" b="0">
                <a:solidFill>
                  <a:srgbClr val="6B7280"/>
                </a:solidFill>
                <a:latin typeface="Inter"/>
              </a:rPr>
              <a:t>can reason, write and use tools, but real tasks need many steps.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800" b="1">
                <a:solidFill>
                  <a:srgbClr val="4F46E5"/>
                </a:solidFill>
                <a:latin typeface="Inter"/>
              </a:rPr>
              <a:t>•  </a:t>
            </a:r>
            <a:r>
              <a:rPr sz="1800" b="1">
                <a:solidFill>
                  <a:srgbClr val="1F2937"/>
                </a:solidFill>
                <a:latin typeface="Inter"/>
              </a:rPr>
              <a:t>Real workflows </a:t>
            </a:r>
            <a:r>
              <a:rPr sz="1800" b="0">
                <a:solidFill>
                  <a:srgbClr val="6B7280"/>
                </a:solidFill>
                <a:latin typeface="Inter"/>
              </a:rPr>
              <a:t>branch (if / else), loop (retry until correct) and remember earlier results.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800" b="1">
                <a:solidFill>
                  <a:srgbClr val="4F46E5"/>
                </a:solidFill>
                <a:latin typeface="Inter"/>
              </a:rPr>
              <a:t>•  </a:t>
            </a:r>
            <a:r>
              <a:rPr sz="1800" b="1">
                <a:solidFill>
                  <a:srgbClr val="1F2937"/>
                </a:solidFill>
                <a:latin typeface="Inter"/>
              </a:rPr>
              <a:t>Simple chains </a:t>
            </a:r>
            <a:r>
              <a:rPr sz="1800" b="0">
                <a:solidFill>
                  <a:srgbClr val="6B7280"/>
                </a:solidFill>
                <a:latin typeface="Inter"/>
              </a:rPr>
              <a:t>run a fixed, one-way sequence: no loops, no shared state.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800" b="1">
                <a:solidFill>
                  <a:srgbClr val="4F46E5"/>
                </a:solidFill>
                <a:latin typeface="Inter"/>
              </a:rPr>
              <a:t>•  </a:t>
            </a:r>
            <a:r>
              <a:rPr sz="1800" b="1">
                <a:solidFill>
                  <a:srgbClr val="1F2937"/>
                </a:solidFill>
                <a:latin typeface="Inter"/>
              </a:rPr>
              <a:t>Free-running agents </a:t>
            </a:r>
            <a:r>
              <a:rPr sz="1800" b="0">
                <a:solidFill>
                  <a:srgbClr val="6B7280"/>
                </a:solidFill>
                <a:latin typeface="Inter"/>
              </a:rPr>
              <a:t>are flexible but hard to control, test and debug.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800" b="1">
                <a:solidFill>
                  <a:srgbClr val="4F46E5"/>
                </a:solidFill>
                <a:latin typeface="Inter"/>
              </a:rPr>
              <a:t>•  </a:t>
            </a:r>
            <a:r>
              <a:rPr sz="1800" b="1">
                <a:solidFill>
                  <a:srgbClr val="1F2937"/>
                </a:solidFill>
                <a:latin typeface="Inter"/>
              </a:rPr>
              <a:t>LangGraph </a:t>
            </a:r>
            <a:r>
              <a:rPr sz="1800" b="0">
                <a:solidFill>
                  <a:srgbClr val="6B7280"/>
                </a:solidFill>
                <a:latin typeface="Inter"/>
              </a:rPr>
              <a:t>sits in between: the developer draws the flow as a graph, the LLM works inside each step.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1600200"/>
            <a:ext cx="329184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F2937"/>
                </a:solidFill>
                <a:latin typeface="Inter"/>
              </a:rPr>
              <a:t>Chain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F2937"/>
                </a:solidFill>
                <a:latin typeface="Inter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1305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Inter"/>
              </a:rPr>
              <a:t>fixed steps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235440" y="2560320"/>
            <a:ext cx="0" cy="502920"/>
          </a:xfrm>
          <a:prstGeom prst="line">
            <a:avLst/>
          </a:prstGeom>
          <a:ln w="22225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589520" y="3063240"/>
            <a:ext cx="329184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F2937"/>
                </a:solidFill>
                <a:latin typeface="Inter"/>
              </a:rPr>
              <a:t>Agent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F2937"/>
                </a:solidFill>
                <a:latin typeface="Inter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359359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Inter"/>
              </a:rPr>
              <a:t>LLM decides everything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35440" y="4023360"/>
            <a:ext cx="0" cy="502920"/>
          </a:xfrm>
          <a:prstGeom prst="line">
            <a:avLst/>
          </a:prstGeom>
          <a:ln w="22225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589520" y="4526280"/>
            <a:ext cx="3291840" cy="960120"/>
          </a:xfrm>
          <a:prstGeom prst="roundRect">
            <a:avLst>
              <a:gd name="adj" fmla="val 18000"/>
            </a:avLst>
          </a:prstGeom>
          <a:solidFill>
            <a:srgbClr val="4F46E5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Graph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50566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Inter"/>
              </a:rPr>
              <a:t>controlled steps + loops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4F46E5"/>
                </a:solidFill>
                <a:latin typeface="Inter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Poppins"/>
              </a:rPr>
              <a:t>What is LangGraph?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LangGraph Seminar  ·  Nikhil Jimmy Thomas (MUT23CA055)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554480"/>
            <a:ext cx="10607040" cy="11430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1554480"/>
            <a:ext cx="100584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4F46E5"/>
                </a:solidFill>
                <a:latin typeface="Inter"/>
              </a:rPr>
              <a:t>LangGraph </a:t>
            </a:r>
            <a:r>
              <a:rPr sz="2000" b="0">
                <a:solidFill>
                  <a:srgbClr val="1F2937"/>
                </a:solidFill>
                <a:latin typeface="Inter"/>
              </a:rPr>
              <a:t>is an open-source library from LangChain Inc. for building stateful, multi-step LLM applications as a graph of nodes (steps) and edges (transitions) that share one state object.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175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4F46E5"/>
                </a:solidFill>
                <a:latin typeface="Poppins"/>
              </a:rPr>
              <a:t>Released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30175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Inter"/>
              </a:rPr>
              <a:t>2024 by LangChain Inc.; open source (MIT licence)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63931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4F46E5"/>
                </a:solidFill>
                <a:latin typeface="Poppins"/>
              </a:rPr>
              <a:t>Languages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363931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Inter"/>
              </a:rPr>
              <a:t>Python and JavaScript / TypeScript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61104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4F46E5"/>
                </a:solidFill>
                <a:latin typeface="Poppins"/>
              </a:rPr>
              <a:t>Inspired 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4261104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Inter"/>
              </a:rPr>
              <a:t>Google's Pregel and Apache Beam graph-processing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82896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4F46E5"/>
                </a:solidFill>
                <a:latin typeface="Poppins"/>
              </a:rPr>
              <a:t>Works with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4882896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Inter"/>
              </a:rPr>
              <a:t>any LLM: OpenAI, Anthropic, Google, open-source models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0468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4F46E5"/>
                </a:solidFill>
                <a:latin typeface="Poppins"/>
              </a:rPr>
              <a:t>Used for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550468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Inter"/>
              </a:rPr>
              <a:t>agents, multi-agent teams, RAG pipelines, human-approval workflows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4F46E5"/>
                </a:solidFill>
                <a:latin typeface="Inter"/>
              </a:rPr>
              <a:t>STATE · NODES · EDGES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Poppins"/>
              </a:rPr>
              <a:t>Core Concepts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LangGraph Seminar  ·  Nikhil Jimmy Thomas (MUT23CA055)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55448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1F2937"/>
                </a:solidFill>
                <a:latin typeface="Poppins"/>
              </a:rPr>
              <a:t>State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Inter"/>
              </a:rPr>
              <a:t>Shared data (a typed dictionary) that every node reads and updates.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50591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1F2937"/>
                </a:solidFill>
                <a:latin typeface="Poppins"/>
              </a:rPr>
              <a:t>Node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Inter"/>
              </a:rPr>
              <a:t>A Python function: one step of work, e.g. call the LLM or a tool.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46704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1F2937"/>
                </a:solidFill>
                <a:latin typeface="Poppins"/>
              </a:rPr>
              <a:t>Edge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Inter"/>
              </a:rPr>
              <a:t>A fixed transition: after node A, run node B.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42816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1F2937"/>
                </a:solidFill>
                <a:latin typeface="Poppins"/>
              </a:rPr>
              <a:t>Conditional edge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Inter"/>
              </a:rPr>
              <a:t>A router function picks the next node from the current state.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138928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1F2937"/>
                </a:solidFill>
                <a:latin typeface="Poppins"/>
              </a:rPr>
              <a:t>START / END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Inter"/>
              </a:rPr>
              <a:t>Special entry and exit points of the graph.</a:t>
            </a:r>
          </a:p>
        </p:txBody>
      </p:sp>
      <p:sp>
        <p:nvSpPr>
          <p:cNvPr id="13" name="Oval 12"/>
          <p:cNvSpPr/>
          <p:nvPr/>
        </p:nvSpPr>
        <p:spPr>
          <a:xfrm>
            <a:off x="7818120" y="1554480"/>
            <a:ext cx="2011680" cy="566928"/>
          </a:xfrm>
          <a:prstGeom prst="ellipse">
            <a:avLst/>
          </a:prstGeom>
          <a:solidFill>
            <a:srgbClr val="EEF2FF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F2937"/>
                </a:solidFill>
                <a:latin typeface="Inter"/>
              </a:rPr>
              <a:t>START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2697480"/>
            <a:ext cx="237744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F2937"/>
                </a:solidFill>
                <a:latin typeface="Inter"/>
              </a:rPr>
              <a:t>Agent node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F2937"/>
                </a:solidFill>
                <a:latin typeface="Inter"/>
              </a:rPr>
              <a:t>(call LLM)</a:t>
            </a:r>
          </a:p>
        </p:txBody>
      </p:sp>
      <p:sp>
        <p:nvSpPr>
          <p:cNvPr id="15" name="Diamond 14"/>
          <p:cNvSpPr/>
          <p:nvPr/>
        </p:nvSpPr>
        <p:spPr>
          <a:xfrm>
            <a:off x="7635240" y="4206240"/>
            <a:ext cx="2377440" cy="77724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F2937"/>
                </a:solidFill>
                <a:latin typeface="Inter"/>
              </a:rPr>
              <a:t>Router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F2937"/>
                </a:solidFill>
                <a:latin typeface="Inter"/>
              </a:rPr>
              <a:t>(conditional edge)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04120" y="4279392"/>
            <a:ext cx="1463040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F2937"/>
                </a:solidFill>
                <a:latin typeface="Inter"/>
              </a:rPr>
              <a:t>Tool node</a:t>
            </a:r>
          </a:p>
        </p:txBody>
      </p:sp>
      <p:sp>
        <p:nvSpPr>
          <p:cNvPr id="17" name="Oval 16"/>
          <p:cNvSpPr/>
          <p:nvPr/>
        </p:nvSpPr>
        <p:spPr>
          <a:xfrm>
            <a:off x="7818120" y="5486400"/>
            <a:ext cx="2011680" cy="566928"/>
          </a:xfrm>
          <a:prstGeom prst="ellipse">
            <a:avLst/>
          </a:prstGeom>
          <a:solidFill>
            <a:srgbClr val="EEF2FF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F2937"/>
                </a:solidFill>
                <a:latin typeface="Inter"/>
              </a:rPr>
              <a:t>END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23960" y="2121408"/>
            <a:ext cx="0" cy="576072"/>
          </a:xfrm>
          <a:prstGeom prst="line">
            <a:avLst/>
          </a:prstGeom>
          <a:ln w="22225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823960" y="3474720"/>
            <a:ext cx="0" cy="731520"/>
          </a:xfrm>
          <a:prstGeom prst="line">
            <a:avLst/>
          </a:prstGeom>
          <a:ln w="22225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012680" y="4599432"/>
            <a:ext cx="91440" cy="0"/>
          </a:xfrm>
          <a:prstGeom prst="line">
            <a:avLst/>
          </a:prstGeom>
          <a:ln w="22225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823960" y="4983480"/>
            <a:ext cx="0" cy="502920"/>
          </a:xfrm>
          <a:prstGeom prst="line">
            <a:avLst/>
          </a:prstGeom>
          <a:ln w="22225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0835640" y="3086100"/>
            <a:ext cx="0" cy="1193292"/>
          </a:xfrm>
          <a:prstGeom prst="line">
            <a:avLst/>
          </a:prstGeom>
          <a:ln w="22225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10012680" y="3086100"/>
            <a:ext cx="822960" cy="0"/>
          </a:xfrm>
          <a:prstGeom prst="line">
            <a:avLst/>
          </a:prstGeom>
          <a:ln w="22225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927080" y="356616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loop 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50292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done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4F46E5"/>
                </a:solidFill>
                <a:latin typeface="Inter"/>
              </a:rPr>
              <a:t>WHAT LANGGRAPH ADDS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Poppins"/>
              </a:rPr>
              <a:t>Key Features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LangGraph Seminar  ·  Nikhil Jimmy Thomas (MUT23CA055)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554480"/>
            <a:ext cx="338328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005840" y="1783080"/>
            <a:ext cx="457200" cy="4572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1783080"/>
            <a:ext cx="2377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2937"/>
                </a:solidFill>
                <a:latin typeface="Poppins"/>
              </a:rPr>
              <a:t>Cycles &amp; loops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77440"/>
            <a:ext cx="2926080" cy="114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Inter"/>
              </a:rPr>
              <a:t>Retry or refine until a condition is met, which plain chains cannot 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554480"/>
            <a:ext cx="338328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4617720" y="1783080"/>
            <a:ext cx="457200" cy="4572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783080"/>
            <a:ext cx="2377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2937"/>
                </a:solidFill>
                <a:latin typeface="Poppins"/>
              </a:rPr>
              <a:t>Persistence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377440"/>
            <a:ext cx="2926080" cy="114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Inter"/>
              </a:rPr>
              <a:t>Checkpointers save state after every step; resume after a crash.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1554480"/>
            <a:ext cx="338328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229600" y="1783080"/>
            <a:ext cx="457200" cy="4572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783080"/>
            <a:ext cx="2377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2937"/>
                </a:solidFill>
                <a:latin typeface="Poppins"/>
              </a:rPr>
              <a:t>Human-in-the-loop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377440"/>
            <a:ext cx="2926080" cy="114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Inter"/>
              </a:rPr>
              <a:t>Pause the graph, let a person review or edit, then continue.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886200"/>
            <a:ext cx="338328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005840" y="4114800"/>
            <a:ext cx="457200" cy="4572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114800"/>
            <a:ext cx="2377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2937"/>
                </a:solidFill>
                <a:latin typeface="Poppins"/>
              </a:rPr>
              <a:t>Streaming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709160"/>
            <a:ext cx="2926080" cy="114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Inter"/>
              </a:rPr>
              <a:t>Show tokens and intermediate steps to the user in real time.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3886200"/>
            <a:ext cx="338328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4617720" y="4114800"/>
            <a:ext cx="457200" cy="4572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4114800"/>
            <a:ext cx="2377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2937"/>
                </a:solidFill>
                <a:latin typeface="Poppins"/>
              </a:rPr>
              <a:t>Multi-agent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4709160"/>
            <a:ext cx="2926080" cy="114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Inter"/>
              </a:rPr>
              <a:t>Each agent is a node or sub-graph; a supervisor routes work.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01000" y="3886200"/>
            <a:ext cx="338328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8229600" y="4114800"/>
            <a:ext cx="457200" cy="4572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60" y="4114800"/>
            <a:ext cx="2377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2937"/>
                </a:solidFill>
                <a:latin typeface="Poppins"/>
              </a:rPr>
              <a:t>Controllability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709160"/>
            <a:ext cx="2926080" cy="114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Inter"/>
              </a:rPr>
              <a:t>The developer fixes the allowed paths; the LLM fills in each step.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4F46E5"/>
                </a:solidFill>
                <a:latin typeface="Inter"/>
              </a:rPr>
              <a:t>FIVE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Poppins"/>
              </a:rPr>
              <a:t>Building a LangGraph Application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LangGraph Seminar  ·  Nikhil Jimmy Thomas (MUT23CA055)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554480"/>
            <a:ext cx="3840480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Inter"/>
              </a:rPr>
              <a:t>1.  Define the State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97480" y="2194560"/>
            <a:ext cx="0" cy="274320"/>
          </a:xfrm>
          <a:prstGeom prst="line">
            <a:avLst/>
          </a:prstGeom>
          <a:ln w="22225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" y="2468880"/>
            <a:ext cx="3840480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Inter"/>
              </a:rPr>
              <a:t>2.  Add nodes (functions)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97480" y="3108960"/>
            <a:ext cx="0" cy="274320"/>
          </a:xfrm>
          <a:prstGeom prst="line">
            <a:avLst/>
          </a:prstGeom>
          <a:ln w="22225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77240" y="3383280"/>
            <a:ext cx="3840480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Inter"/>
              </a:rPr>
              <a:t>3.  Connect edges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97480" y="4023360"/>
            <a:ext cx="0" cy="274320"/>
          </a:xfrm>
          <a:prstGeom prst="line">
            <a:avLst/>
          </a:prstGeom>
          <a:ln w="22225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77240" y="4297680"/>
            <a:ext cx="3840480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Inter"/>
              </a:rPr>
              <a:t>4.  Compile the graph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97480" y="4937760"/>
            <a:ext cx="0" cy="274320"/>
          </a:xfrm>
          <a:prstGeom prst="line">
            <a:avLst/>
          </a:prstGeom>
          <a:ln w="22225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" y="5212080"/>
            <a:ext cx="3840480" cy="640080"/>
          </a:xfrm>
          <a:prstGeom prst="roundRect">
            <a:avLst>
              <a:gd name="adj" fmla="val 18000"/>
            </a:avLst>
          </a:prstGeom>
          <a:solidFill>
            <a:srgbClr val="4F46E5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5.  Invoke with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12080" y="1554480"/>
            <a:ext cx="6172200" cy="443484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86400" y="1737360"/>
            <a:ext cx="576072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>from langgraph.graph import StateGraph, START, END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>class State(TypedDict):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>    question: str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>    answer: str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>def answer(state):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>    return {"answer": llm.invoke(state["question"])}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>g = StateGraph(State)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>g.add_node("answer", answer)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>g.add_edge(START, "answer")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>g.add_edge("answer", END)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>app = g.compile()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5E7EB"/>
                </a:solidFill>
                <a:latin typeface="Consolas"/>
              </a:rPr>
              <a:t>app.invoke({"question": "What is LangGraph?"})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4F46E5"/>
                </a:solidFill>
                <a:latin typeface="Inter"/>
              </a:rPr>
              <a:t>SIX ARXIV PAPERS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Poppins"/>
              </a:rPr>
              <a:t>Literature Review: Overview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LangGraph Seminar  ·  Nikhil Jimmy Thomas (MUT23CA055)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508760"/>
            <a:ext cx="3712463" cy="612647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rtlCol="0" anchor="ctr" wrap="square" lIns="109728" r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nter"/>
              </a:rPr>
              <a:t>Paper (arXiv)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26279" y="1508760"/>
            <a:ext cx="3621024" cy="612647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rtlCol="0" anchor="ctr" wrap="square" lIns="109728" r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nter"/>
              </a:rPr>
              <a:t>Method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79" y="1508760"/>
            <a:ext cx="3209544" cy="612647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rtlCol="0" anchor="ctr" wrap="square" lIns="109728" r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nter"/>
              </a:rPr>
              <a:t>Main disadvantage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167128"/>
            <a:ext cx="3712463" cy="612647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</p:spPr>
        <p:txBody>
          <a:bodyPr rtlCol="0" anchor="ctr" wrap="square" lIns="109728" r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2937"/>
                </a:solidFill>
                <a:latin typeface="Inter"/>
              </a:rPr>
              <a:t>ReAct, Yao et al. (2210.03629)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26279" y="2167128"/>
            <a:ext cx="3621024" cy="612647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</p:spPr>
        <p:txBody>
          <a:bodyPr rtlCol="0" anchor="ctr" wrap="square" lIns="109728" r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Inter"/>
              </a:rPr>
              <a:t>Interleaves reasoning steps with tool actions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3879" y="2167128"/>
            <a:ext cx="3209544" cy="612647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</p:spPr>
        <p:txBody>
          <a:bodyPr rtlCol="0" anchor="ctr" wrap="square" lIns="109728" r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Inter"/>
              </a:rPr>
              <a:t>One linear loop; no saved state; errors cascade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25496"/>
            <a:ext cx="3712463" cy="61264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rtlCol="0" anchor="ctr" wrap="square" lIns="109728" r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2937"/>
                </a:solidFill>
                <a:latin typeface="Inter"/>
              </a:rPr>
              <a:t>Reflexion, Shinn et al. (2303.11366)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26279" y="2825496"/>
            <a:ext cx="3621024" cy="61264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rtlCol="0" anchor="ctr" wrap="square" lIns="109728" r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Inter"/>
              </a:rPr>
              <a:t>Agent reflects on failures and retries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79" y="2825496"/>
            <a:ext cx="3209544" cy="61264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rtlCol="0" anchor="ctr" wrap="square" lIns="109728" r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Inter"/>
              </a:rPr>
              <a:t>Needs good feedback; extra LLM calls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483864"/>
            <a:ext cx="3712463" cy="612647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</p:spPr>
        <p:txBody>
          <a:bodyPr rtlCol="0" anchor="ctr" wrap="square" lIns="109728" r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2937"/>
                </a:solidFill>
                <a:latin typeface="Inter"/>
              </a:rPr>
              <a:t>AutoGen, Wu et al. (2308.08155)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26279" y="3483864"/>
            <a:ext cx="3621024" cy="612647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</p:spPr>
        <p:txBody>
          <a:bodyPr rtlCol="0" anchor="ctr" wrap="square" lIns="109728" r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Inter"/>
              </a:rPr>
              <a:t>Agents solve tasks by conversing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483864"/>
            <a:ext cx="3209544" cy="612647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</p:spPr>
        <p:txBody>
          <a:bodyPr rtlCol="0" anchor="ctr" wrap="square" lIns="109728" r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Inter"/>
              </a:rPr>
              <a:t>Conversation-driven flow is hard to control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142231"/>
            <a:ext cx="3712463" cy="61264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rtlCol="0" anchor="ctr" wrap="square" lIns="109728" r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2937"/>
                </a:solidFill>
                <a:latin typeface="Inter"/>
              </a:rPr>
              <a:t>MetaGPT, Hong et al. (2308.00352)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26279" y="4142231"/>
            <a:ext cx="3621024" cy="61264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rtlCol="0" anchor="ctr" wrap="square" lIns="109728" r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Inter"/>
              </a:rPr>
              <a:t>Role-based agents follow SOPs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83879" y="4142231"/>
            <a:ext cx="3209544" cy="61264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rtlCol="0" anchor="ctr" wrap="square" lIns="109728" r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Inter"/>
              </a:rPr>
              <a:t>Rigid pipeline built for software tasks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800600"/>
            <a:ext cx="3712463" cy="612647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</p:spPr>
        <p:txBody>
          <a:bodyPr rtlCol="0" anchor="ctr" wrap="square" lIns="109728" r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2937"/>
                </a:solidFill>
                <a:latin typeface="Inter"/>
              </a:rPr>
              <a:t>LLM Agent Survey, Wang et al. (2308.11432)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6279" y="4800600"/>
            <a:ext cx="3621024" cy="612647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</p:spPr>
        <p:txBody>
          <a:bodyPr rtlCol="0" anchor="ctr" wrap="square" lIns="109728" r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Inter"/>
              </a:rPr>
              <a:t>Unified agent framework: profile, memory, planning, action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83879" y="4800600"/>
            <a:ext cx="3209544" cy="612647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</p:spPr>
        <p:txBody>
          <a:bodyPr rtlCol="0" anchor="ctr" wrap="square" lIns="109728" r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Inter"/>
              </a:rPr>
              <a:t>No concrete orchestration tool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58968"/>
            <a:ext cx="3712463" cy="61264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rtlCol="0" anchor="ctr" wrap="square" lIns="109728" r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2937"/>
                </a:solidFill>
                <a:latin typeface="Inter"/>
              </a:rPr>
              <a:t>LangGraph MT, Wang &amp; Duan (2412.03801)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26279" y="5458968"/>
            <a:ext cx="3621024" cy="61264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rtlCol="0" anchor="ctr" wrap="square" lIns="109728" r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Inter"/>
              </a:rPr>
              <a:t>LangGraph routes text to translation agents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3879" y="5458968"/>
            <a:ext cx="3209544" cy="61264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 rtlCol="0" anchor="ctr" wrap="square" lIns="109728" rIns="109728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Inter"/>
              </a:rPr>
              <a:t>Few languages; small evaluation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4F46E5"/>
                </a:solidFill>
                <a:latin typeface="Inter"/>
              </a:rPr>
              <a:t>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Poppins"/>
              </a:rPr>
              <a:t>ReAct and Reflexion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LangGraph Seminar  ·  Nikhil Jimmy Thomas (MUT23CA055)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508760"/>
            <a:ext cx="5120640" cy="457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1691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1F2937"/>
                </a:solidFill>
                <a:latin typeface="Poppins"/>
              </a:rPr>
              <a:t>ReAct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194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Inter"/>
              </a:rPr>
              <a:t>Yao et al., ICLR 2023 · arXiv:2210.03629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45720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1F2937"/>
                </a:solidFill>
                <a:latin typeface="Inter"/>
              </a:rPr>
              <a:t>Method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The LLM alternates Thought → Action → Observation.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Actions call tools such as Wikipedia search.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Beat baselines on HotpotQA, ALFWorld, WebShop.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709160"/>
            <a:ext cx="4572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1F2937"/>
                </a:solidFill>
                <a:latin typeface="Inter"/>
              </a:rPr>
              <a:t>Disadvantages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Single linear loop; no persistent state.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A wrong step early can derail the whole run.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508760"/>
            <a:ext cx="5120640" cy="457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37959" y="1691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1F2937"/>
                </a:solidFill>
                <a:latin typeface="Poppins"/>
              </a:rPr>
              <a:t>Reflexion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194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Inter"/>
              </a:rPr>
              <a:t>Shinn et al., NeurIPS 2023 · arXiv:2303.11366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697480"/>
            <a:ext cx="45720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1F2937"/>
                </a:solidFill>
                <a:latin typeface="Inter"/>
              </a:rPr>
              <a:t>Method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After a failure, the agent writes a verbal self-reflection.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Reflections are stored in memory and used on the next try.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No model fine-tuning needed.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4709160"/>
            <a:ext cx="4572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1F2937"/>
                </a:solidFill>
                <a:latin typeface="Inter"/>
              </a:rPr>
              <a:t>Disadvantages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Depends on a reliable success / failure signal.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Each retry costs more LLM calls and 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4F46E5"/>
                </a:solidFill>
                <a:latin typeface="Inter"/>
              </a:rPr>
              <a:t>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Poppins"/>
              </a:rPr>
              <a:t>AutoGen and MetaGPT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LangGraph Seminar  ·  Nikhil Jimmy Thomas (MUT23CA055)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508760"/>
            <a:ext cx="5120640" cy="457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1691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1F2937"/>
                </a:solidFill>
                <a:latin typeface="Poppins"/>
              </a:rPr>
              <a:t>AutoGen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194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Inter"/>
              </a:rPr>
              <a:t>Wu et al., 2023 · arXiv:2308.08155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45720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1F2937"/>
                </a:solidFill>
                <a:latin typeface="Inter"/>
              </a:rPr>
              <a:t>Method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Multiple agents solve a task by chatting with each other.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Agents can combine LLMs, tools and human input.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Open-source framework from Microsoft.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709160"/>
            <a:ext cx="4572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1F2937"/>
                </a:solidFill>
                <a:latin typeface="Inter"/>
              </a:rPr>
              <a:t>Disadvantages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Flow emerges from conversation, so it is hard to predict.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Agents can loop or drift without strict control.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508760"/>
            <a:ext cx="5120640" cy="457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37959" y="1691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1F2937"/>
                </a:solidFill>
                <a:latin typeface="Poppins"/>
              </a:rPr>
              <a:t>MetaGPT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194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Inter"/>
              </a:rPr>
              <a:t>Hong et al., ICLR 2024 · arXiv:2308.00352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697480"/>
            <a:ext cx="45720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1F2937"/>
                </a:solidFill>
                <a:latin typeface="Inter"/>
              </a:rPr>
              <a:t>Method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Encodes Standard Operating Procedures (SOPs) in prompts.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Roles (PM, architect, engineer) work like an assembly line.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Agents cross-check outputs to reduce errors.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4709160"/>
            <a:ext cx="4572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1F2937"/>
                </a:solidFill>
                <a:latin typeface="Inter"/>
              </a:rPr>
              <a:t>Disadvantages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Fixed pipeline designed mainly for software projects.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Many agents means high token cost.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4F46E5"/>
                </a:solidFill>
                <a:latin typeface="Inter"/>
              </a:rPr>
              <a:t>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Poppins"/>
              </a:rPr>
              <a:t>Agent Survey and LangGraph for Translation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LangGraph Seminar  ·  Nikhil Jimmy Thomas (MUT23CA055)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508760"/>
            <a:ext cx="5120640" cy="457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1691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1F2937"/>
                </a:solidFill>
                <a:latin typeface="Poppins"/>
              </a:rPr>
              <a:t>LLM Agent Survey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194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Inter"/>
              </a:rPr>
              <a:t>Wang et al., 2023 · arXiv:2308.11432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45720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1F2937"/>
                </a:solidFill>
                <a:latin typeface="Inter"/>
              </a:rPr>
              <a:t>Method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Reviews LLM-based autonomous agents.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Proposes a framework: profile, memory, planning, action.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Covers applications and evaluation methods.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709160"/>
            <a:ext cx="4572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1F2937"/>
                </a:solidFill>
                <a:latin typeface="Inter"/>
              </a:rPr>
              <a:t>Disadvantages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A survey: no implementation or orchestration tool.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Field changes faster than surveys can track.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508760"/>
            <a:ext cx="5120640" cy="457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37959" y="1691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1F2937"/>
                </a:solidFill>
                <a:latin typeface="Poppins"/>
              </a:rPr>
              <a:t>LangGraph for Translation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194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4F46E5"/>
                </a:solidFill>
                <a:latin typeface="Inter"/>
              </a:rPr>
              <a:t>Wang &amp; Duan, 2024 · arXiv:2412.03801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697480"/>
            <a:ext cx="45720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1F2937"/>
                </a:solidFill>
                <a:latin typeface="Inter"/>
              </a:rPr>
              <a:t>Method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LangGraph analyses the input and routes it to an agent.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Separate agents for English, French and Japanese.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Agents run on LLMs such as GPT-4o.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4709160"/>
            <a:ext cx="4572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1">
                <a:solidFill>
                  <a:srgbClr val="1F2937"/>
                </a:solidFill>
                <a:latin typeface="Inter"/>
              </a:rPr>
              <a:t>Disadvantages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Evaluated on only a few languages.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•  </a:t>
            </a:r>
            <a:r>
              <a:rPr sz="1400" b="0">
                <a:solidFill>
                  <a:srgbClr val="6B7280"/>
                </a:solidFill>
                <a:latin typeface="Inter"/>
              </a:rPr>
              <a:t>Relies on a paid proprietary model.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4F46E5"/>
                </a:solidFill>
                <a:latin typeface="Inter"/>
              </a:rPr>
              <a:t>ARXIV:2411.18241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Poppins"/>
              </a:rPr>
              <a:t>Base Paper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LangGraph Seminar  ·  Nikhil Jimmy Thomas (MUT23CA055)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508760"/>
            <a:ext cx="10607040" cy="14173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160020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1F2937"/>
                </a:solidFill>
                <a:latin typeface="Poppins"/>
              </a:rPr>
              <a:t>Exploration of LLM Multi-Agent Application Implementation Based on LangGraph+CrewAI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Inter"/>
              </a:rPr>
              <a:t>Zhihua Duan and Jialin Wang  ·  arXiv:2411.18241 [cs]  ·  November 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00400"/>
            <a:ext cx="51206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2937"/>
                </a:solidFill>
                <a:latin typeface="Poppins"/>
              </a:rPr>
              <a:t>Problem addressed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4F46E5"/>
                </a:solidFill>
                <a:latin typeface="Inter"/>
              </a:rPr>
              <a:t>•  </a:t>
            </a:r>
            <a:r>
              <a:rPr sz="1500" b="0">
                <a:solidFill>
                  <a:srgbClr val="6B7280"/>
                </a:solidFill>
                <a:latin typeface="Inter"/>
              </a:rPr>
              <a:t>Complex tasks are too much for a single LLM agent.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4F46E5"/>
                </a:solidFill>
                <a:latin typeface="Inter"/>
              </a:rPr>
              <a:t>•  </a:t>
            </a:r>
            <a:r>
              <a:rPr sz="1500" b="0">
                <a:solidFill>
                  <a:srgbClr val="6B7280"/>
                </a:solidFill>
                <a:latin typeface="Inter"/>
              </a:rPr>
              <a:t>Multi-agent systems need precise control of the flow and good teamwork.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200400"/>
            <a:ext cx="51206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2937"/>
                </a:solidFill>
                <a:latin typeface="Poppins"/>
              </a:rPr>
              <a:t>Key idea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4F46E5"/>
                </a:solidFill>
                <a:latin typeface="Inter"/>
              </a:rPr>
              <a:t>•  </a:t>
            </a:r>
            <a:r>
              <a:rPr sz="1500" b="0">
                <a:solidFill>
                  <a:srgbClr val="6B7280"/>
                </a:solidFill>
                <a:latin typeface="Inter"/>
              </a:rPr>
              <a:t>LangGraph: graph architecture gives precise control and efficient information flow between agents.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4F46E5"/>
                </a:solidFill>
                <a:latin typeface="Inter"/>
              </a:rPr>
              <a:t>•  </a:t>
            </a:r>
            <a:r>
              <a:rPr sz="1500" b="0">
                <a:solidFill>
                  <a:srgbClr val="6B7280"/>
                </a:solidFill>
                <a:latin typeface="Inter"/>
              </a:rPr>
              <a:t>CrewAI: role-based crews give intelligent task allocation and resource management.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4F46E5"/>
                </a:solidFill>
                <a:latin typeface="Inter"/>
              </a:rPr>
              <a:t>•  </a:t>
            </a:r>
            <a:r>
              <a:rPr sz="1500" b="0">
                <a:solidFill>
                  <a:srgbClr val="6B7280"/>
                </a:solidFill>
                <a:latin typeface="Inter"/>
              </a:rPr>
              <a:t>Together they divide work and collaborate on tasks a single agent struggles with.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4F46E5"/>
                </a:solidFill>
                <a:latin typeface="Inter"/>
              </a:rPr>
              <a:t>BASE PAPER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Poppins"/>
              </a:rPr>
              <a:t>Methodology: System Architecture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LangGraph Seminar  ·  Nikhil Jimmy Thomas (MUT23CA055)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17520"/>
            <a:ext cx="1737360" cy="822960"/>
          </a:xfrm>
          <a:prstGeom prst="roundRect">
            <a:avLst>
              <a:gd name="adj" fmla="val 18000"/>
            </a:avLst>
          </a:prstGeom>
          <a:solidFill>
            <a:srgbClr val="EEF2FF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F2937"/>
                </a:solidFill>
                <a:latin typeface="Inter"/>
              </a:rPr>
              <a:t>User task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1554480"/>
            <a:ext cx="484632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154680" y="164592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LangGraph: control layer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03320" y="2240280"/>
            <a:ext cx="3383280" cy="685800"/>
          </a:xfrm>
          <a:prstGeom prst="roundRect">
            <a:avLst>
              <a:gd name="adj" fmla="val 18000"/>
            </a:avLst>
          </a:prstGeom>
          <a:solidFill>
            <a:srgbClr val="EEF2FF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2937"/>
                </a:solidFill>
                <a:latin typeface="Inter"/>
              </a:rPr>
              <a:t>State (shared data)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03320" y="3246120"/>
            <a:ext cx="3383280" cy="6858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2937"/>
                </a:solidFill>
                <a:latin typeface="Inter"/>
              </a:rPr>
              <a:t>Nodes: agent steps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4251960"/>
            <a:ext cx="3383280" cy="6858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2937"/>
                </a:solidFill>
                <a:latin typeface="Inter"/>
              </a:rPr>
              <a:t>Edges &amp; conditional routing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16636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Inter"/>
              </a:rPr>
              <a:t>Decides which step runs next and passes state between steps.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14600" y="3429000"/>
            <a:ext cx="457200" cy="0"/>
          </a:xfrm>
          <a:prstGeom prst="line">
            <a:avLst/>
          </a:prstGeom>
          <a:ln w="22225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275320" y="1554480"/>
            <a:ext cx="31089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58200" y="1645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4F46E5"/>
                </a:solidFill>
                <a:latin typeface="Inter"/>
              </a:rPr>
              <a:t>CrewAI: team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49640" y="2240280"/>
            <a:ext cx="2560320" cy="6858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2937"/>
                </a:solidFill>
                <a:latin typeface="Inter"/>
              </a:rPr>
              <a:t>Agent: role + goal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3246120"/>
            <a:ext cx="2560320" cy="6858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2937"/>
                </a:solidFill>
                <a:latin typeface="Inter"/>
              </a:rPr>
              <a:t>Task assignment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49640" y="4251960"/>
            <a:ext cx="2560320" cy="6858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2937"/>
                </a:solidFill>
                <a:latin typeface="Inter"/>
              </a:rPr>
              <a:t>Collaboration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18120" y="3584448"/>
            <a:ext cx="457200" cy="0"/>
          </a:xfrm>
          <a:prstGeom prst="line">
            <a:avLst/>
          </a:prstGeom>
          <a:ln w="22225">
            <a:solidFill>
              <a:srgbClr val="4F46E5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5820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Inter"/>
              </a:rPr>
              <a:t>Agents with roles carry out the work inside each node.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4F46E5"/>
                </a:solidFill>
                <a:latin typeface="Inter"/>
              </a:rPr>
              <a:t>BASE PAPER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Poppins"/>
              </a:rPr>
              <a:t>Methodology: Workflow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LangGraph Seminar  ·  Nikhil Jimmy Thomas (MUT23CA055)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1874519" cy="10972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2937"/>
                </a:solidFill>
                <a:latin typeface="Inter"/>
              </a:rPr>
              <a:t>Receive task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51760" y="2377440"/>
            <a:ext cx="338328" cy="0"/>
          </a:xfrm>
          <a:prstGeom prst="line">
            <a:avLst/>
          </a:prstGeom>
          <a:ln w="22225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90088" y="1828800"/>
            <a:ext cx="1874519" cy="10972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2937"/>
                </a:solidFill>
                <a:latin typeface="Inter"/>
              </a:rPr>
              <a:t>LangGraph routes to next node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64608" y="2377440"/>
            <a:ext cx="338328" cy="0"/>
          </a:xfrm>
          <a:prstGeom prst="line">
            <a:avLst/>
          </a:prstGeom>
          <a:ln w="22225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202936" y="1828800"/>
            <a:ext cx="1874519" cy="10972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2937"/>
                </a:solidFill>
                <a:latin typeface="Inter"/>
              </a:rPr>
              <a:t>CrewAI crew performs the task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77455" y="2377440"/>
            <a:ext cx="338328" cy="0"/>
          </a:xfrm>
          <a:prstGeom prst="line">
            <a:avLst/>
          </a:prstGeom>
          <a:ln w="22225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15783" y="1828800"/>
            <a:ext cx="1874519" cy="10972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2937"/>
                </a:solidFill>
                <a:latin typeface="Inter"/>
              </a:rPr>
              <a:t>Update shared state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290304" y="2377440"/>
            <a:ext cx="338328" cy="0"/>
          </a:xfrm>
          <a:prstGeom prst="line">
            <a:avLst/>
          </a:prstGeom>
          <a:ln w="22225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Diamond 15"/>
          <p:cNvSpPr/>
          <p:nvPr/>
        </p:nvSpPr>
        <p:spPr>
          <a:xfrm>
            <a:off x="9628632" y="1828800"/>
            <a:ext cx="1874519" cy="1097280"/>
          </a:xfrm>
          <a:prstGeom prst="diamond">
            <a:avLst/>
          </a:prstGeom>
          <a:solidFill>
            <a:srgbClr val="4F46E5"/>
          </a:solidFill>
          <a:ln w="15875">
            <a:solidFill>
              <a:srgbClr val="4F46E5"/>
            </a:solidFill>
          </a:ln>
        </p:spPr>
        <p:txBody>
          <a:bodyPr rtlCol="0" anchor="ctr" wrap="square" lIns="54864" rIns="5486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nter"/>
              </a:rPr>
              <a:t>Check: done?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628632" y="2926080"/>
            <a:ext cx="0" cy="502920"/>
          </a:xfrm>
          <a:prstGeom prst="line">
            <a:avLst/>
          </a:prstGeom>
          <a:ln w="22225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913632" y="3429000"/>
            <a:ext cx="5715000" cy="0"/>
          </a:xfrm>
          <a:prstGeom prst="line">
            <a:avLst/>
          </a:prstGeom>
          <a:ln w="22225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913632" y="2926080"/>
            <a:ext cx="0" cy="502920"/>
          </a:xfrm>
          <a:prstGeom prst="line">
            <a:avLst/>
          </a:prstGeom>
          <a:ln w="22225">
            <a:solidFill>
              <a:srgbClr val="4F46E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0" y="34930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Inter"/>
              </a:rPr>
              <a:t>no: loop to the next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06240"/>
            <a:ext cx="106070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2937"/>
                </a:solidFill>
                <a:latin typeface="Poppins"/>
              </a:rPr>
              <a:t>How the two frameworks share the work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4F46E5"/>
                </a:solidFill>
                <a:latin typeface="Inter"/>
              </a:rPr>
              <a:t>•  </a:t>
            </a:r>
            <a:r>
              <a:rPr sz="1500" b="1">
                <a:solidFill>
                  <a:srgbClr val="1F2937"/>
                </a:solidFill>
                <a:latin typeface="Inter"/>
              </a:rPr>
              <a:t>LangGraph </a:t>
            </a:r>
            <a:r>
              <a:rPr sz="1500" b="0">
                <a:solidFill>
                  <a:srgbClr val="6B7280"/>
                </a:solidFill>
                <a:latin typeface="Inter"/>
              </a:rPr>
              <a:t>owns the control flow: order of steps, branching, loops and state.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4F46E5"/>
                </a:solidFill>
                <a:latin typeface="Inter"/>
              </a:rPr>
              <a:t>•  </a:t>
            </a:r>
            <a:r>
              <a:rPr sz="1500" b="1">
                <a:solidFill>
                  <a:srgbClr val="1F2937"/>
                </a:solidFill>
                <a:latin typeface="Inter"/>
              </a:rPr>
              <a:t>CrewAI </a:t>
            </a:r>
            <a:r>
              <a:rPr sz="1500" b="0">
                <a:solidFill>
                  <a:srgbClr val="6B7280"/>
                </a:solidFill>
                <a:latin typeface="Inter"/>
              </a:rPr>
              <a:t>owns the teamwork: which role-based agent does which task, and how agents collaborate.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4F46E5"/>
                </a:solidFill>
                <a:latin typeface="Inter"/>
              </a:rPr>
              <a:t>BASE PAPER (AS REPORTED BY THE AUTHORS)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Poppins"/>
              </a:rPr>
              <a:t>Key Findings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LangGraph Seminar  ·  Nikhil Jimmy Thomas (MUT23CA055)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554480"/>
            <a:ext cx="5166360" cy="20574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005840" y="1783080"/>
            <a:ext cx="457200" cy="4572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1783080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2937"/>
                </a:solidFill>
                <a:latin typeface="Poppins"/>
              </a:rPr>
              <a:t>Efficient information 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77440"/>
            <a:ext cx="4709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Inter"/>
              </a:rPr>
              <a:t>LangGraph's graph architecture improves how efficiently information passes between agents.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554480"/>
            <a:ext cx="5166360" cy="20574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6446520" y="1783080"/>
            <a:ext cx="457200" cy="4572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783080"/>
            <a:ext cx="416051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2937"/>
                </a:solidFill>
                <a:latin typeface="Poppins"/>
              </a:rPr>
              <a:t>Better collaboration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377440"/>
            <a:ext cx="4709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Inter"/>
              </a:rPr>
              <a:t>CrewAI's intelligent task allocation and resource management improve teamwork and system performance.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840480"/>
            <a:ext cx="5166360" cy="20574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005840" y="4069080"/>
            <a:ext cx="457200" cy="4572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069080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2937"/>
                </a:solidFill>
                <a:latin typeface="Poppins"/>
              </a:rPr>
              <a:t>Precise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663440"/>
            <a:ext cx="4709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Inter"/>
              </a:rPr>
              <a:t>Designing agents on LangGraph gives precise control over the multi-agent workflow.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840480"/>
            <a:ext cx="5166360" cy="20574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446520" y="4069080"/>
            <a:ext cx="457200" cy="4572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4069080"/>
            <a:ext cx="416051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2937"/>
                </a:solidFill>
                <a:latin typeface="Poppins"/>
              </a:rPr>
              <a:t>Complex tasks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663440"/>
            <a:ext cx="4709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Inter"/>
              </a:rPr>
              <a:t>Agents divide the work and collaborate on tasks a single agent struggles with.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Poppins"/>
              </a:rPr>
              <a:t>Advantages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LangGraph Seminar  ·  Nikhil Jimmy Thomas (MUT23CA055)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663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4F46E5"/>
                </a:solidFill>
                <a:latin typeface="Inter"/>
              </a:rPr>
              <a:t>•  </a:t>
            </a:r>
            <a:r>
              <a:rPr sz="2000" b="1">
                <a:solidFill>
                  <a:srgbClr val="1F2937"/>
                </a:solidFill>
                <a:latin typeface="Inter"/>
              </a:rPr>
              <a:t>Explicit control: </a:t>
            </a:r>
            <a:r>
              <a:rPr sz="2000" b="0">
                <a:solidFill>
                  <a:srgbClr val="6B7280"/>
                </a:solidFill>
                <a:latin typeface="Inter"/>
              </a:rPr>
              <a:t>the developer decides the allowed paths.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4F46E5"/>
                </a:solidFill>
                <a:latin typeface="Inter"/>
              </a:rPr>
              <a:t>•  </a:t>
            </a:r>
            <a:r>
              <a:rPr sz="2000" b="1">
                <a:solidFill>
                  <a:srgbClr val="1F2937"/>
                </a:solidFill>
                <a:latin typeface="Inter"/>
              </a:rPr>
              <a:t>Shared state: </a:t>
            </a:r>
            <a:r>
              <a:rPr sz="2000" b="0">
                <a:solidFill>
                  <a:srgbClr val="6B7280"/>
                </a:solidFill>
                <a:latin typeface="Inter"/>
              </a:rPr>
              <a:t>every step sees the same up-to-date data.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4F46E5"/>
                </a:solidFill>
                <a:latin typeface="Inter"/>
              </a:rPr>
              <a:t>•  </a:t>
            </a:r>
            <a:r>
              <a:rPr sz="2000" b="1">
                <a:solidFill>
                  <a:srgbClr val="1F2937"/>
                </a:solidFill>
                <a:latin typeface="Inter"/>
              </a:rPr>
              <a:t>Loops and retries: </a:t>
            </a:r>
            <a:r>
              <a:rPr sz="2000" b="0">
                <a:solidFill>
                  <a:srgbClr val="6B7280"/>
                </a:solidFill>
                <a:latin typeface="Inter"/>
              </a:rPr>
              <a:t>refine an answer until it is correct.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4F46E5"/>
                </a:solidFill>
                <a:latin typeface="Inter"/>
              </a:rPr>
              <a:t>•  </a:t>
            </a:r>
            <a:r>
              <a:rPr sz="2000" b="1">
                <a:solidFill>
                  <a:srgbClr val="1F2937"/>
                </a:solidFill>
                <a:latin typeface="Inter"/>
              </a:rPr>
              <a:t>Persistence: </a:t>
            </a:r>
            <a:r>
              <a:rPr sz="2000" b="0">
                <a:solidFill>
                  <a:srgbClr val="6B7280"/>
                </a:solidFill>
                <a:latin typeface="Inter"/>
              </a:rPr>
              <a:t>pause, resume and recover from failures.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4F46E5"/>
                </a:solidFill>
                <a:latin typeface="Inter"/>
              </a:rPr>
              <a:t>•  </a:t>
            </a:r>
            <a:r>
              <a:rPr sz="2000" b="1">
                <a:solidFill>
                  <a:srgbClr val="1F2937"/>
                </a:solidFill>
                <a:latin typeface="Inter"/>
              </a:rPr>
              <a:t>Human-in-the-loop: </a:t>
            </a:r>
            <a:r>
              <a:rPr sz="2000" b="0">
                <a:solidFill>
                  <a:srgbClr val="6B7280"/>
                </a:solidFill>
                <a:latin typeface="Inter"/>
              </a:rPr>
              <a:t>add approval steps easily.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4F46E5"/>
                </a:solidFill>
                <a:latin typeface="Inter"/>
              </a:rPr>
              <a:t>•  </a:t>
            </a:r>
            <a:r>
              <a:rPr sz="2000" b="1">
                <a:solidFill>
                  <a:srgbClr val="1F2937"/>
                </a:solidFill>
                <a:latin typeface="Inter"/>
              </a:rPr>
              <a:t>Easy to debug: </a:t>
            </a:r>
            <a:r>
              <a:rPr sz="2000" b="0">
                <a:solidFill>
                  <a:srgbClr val="6B7280"/>
                </a:solidFill>
                <a:latin typeface="Inter"/>
              </a:rPr>
              <a:t>each node can be tested and traced on its own.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4F46E5"/>
                </a:solidFill>
                <a:latin typeface="Inter"/>
              </a:rPr>
              <a:t>•  </a:t>
            </a:r>
            <a:r>
              <a:rPr sz="2000" b="1">
                <a:solidFill>
                  <a:srgbClr val="1F2937"/>
                </a:solidFill>
                <a:latin typeface="Inter"/>
              </a:rPr>
              <a:t>Model-agnostic: </a:t>
            </a:r>
            <a:r>
              <a:rPr sz="2000" b="0">
                <a:solidFill>
                  <a:srgbClr val="6B7280"/>
                </a:solidFill>
                <a:latin typeface="Inter"/>
              </a:rPr>
              <a:t>works with any LLM provider.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Poppins"/>
              </a:rPr>
              <a:t>Disadvantages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LangGraph Seminar  ·  Nikhil Jimmy Thomas (MUT23CA055)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663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4F46E5"/>
                </a:solidFill>
                <a:latin typeface="Inter"/>
              </a:rPr>
              <a:t>•  </a:t>
            </a:r>
            <a:r>
              <a:rPr sz="2000" b="1">
                <a:solidFill>
                  <a:srgbClr val="1F2937"/>
                </a:solidFill>
                <a:latin typeface="Inter"/>
              </a:rPr>
              <a:t>Learning curve: </a:t>
            </a:r>
            <a:r>
              <a:rPr sz="2000" b="0">
                <a:solidFill>
                  <a:srgbClr val="6B7280"/>
                </a:solidFill>
                <a:latin typeface="Inter"/>
              </a:rPr>
              <a:t>graphs, state and reducers take time to learn.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4F46E5"/>
                </a:solidFill>
                <a:latin typeface="Inter"/>
              </a:rPr>
              <a:t>•  </a:t>
            </a:r>
            <a:r>
              <a:rPr sz="2000" b="1">
                <a:solidFill>
                  <a:srgbClr val="1F2937"/>
                </a:solidFill>
                <a:latin typeface="Inter"/>
              </a:rPr>
              <a:t>More code: </a:t>
            </a:r>
            <a:r>
              <a:rPr sz="2000" b="0">
                <a:solidFill>
                  <a:srgbClr val="6B7280"/>
                </a:solidFill>
                <a:latin typeface="Inter"/>
              </a:rPr>
              <a:t>simple tasks need more setup than a basic chain.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4F46E5"/>
                </a:solidFill>
                <a:latin typeface="Inter"/>
              </a:rPr>
              <a:t>•  </a:t>
            </a:r>
            <a:r>
              <a:rPr sz="2000" b="1">
                <a:solidFill>
                  <a:srgbClr val="1F2937"/>
                </a:solidFill>
                <a:latin typeface="Inter"/>
              </a:rPr>
              <a:t>Large graphs get complex: </a:t>
            </a:r>
            <a:r>
              <a:rPr sz="2000" b="0">
                <a:solidFill>
                  <a:srgbClr val="6B7280"/>
                </a:solidFill>
                <a:latin typeface="Inter"/>
              </a:rPr>
              <a:t>many nodes and routes are hard to visualise.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4F46E5"/>
                </a:solidFill>
                <a:latin typeface="Inter"/>
              </a:rPr>
              <a:t>•  </a:t>
            </a:r>
            <a:r>
              <a:rPr sz="2000" b="1">
                <a:solidFill>
                  <a:srgbClr val="1F2937"/>
                </a:solidFill>
                <a:latin typeface="Inter"/>
              </a:rPr>
              <a:t>Cost and latency: </a:t>
            </a:r>
            <a:r>
              <a:rPr sz="2000" b="0">
                <a:solidFill>
                  <a:srgbClr val="6B7280"/>
                </a:solidFill>
                <a:latin typeface="Inter"/>
              </a:rPr>
              <a:t>loops and multiple agents mean more LLM calls.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4F46E5"/>
                </a:solidFill>
                <a:latin typeface="Inter"/>
              </a:rPr>
              <a:t>•  </a:t>
            </a:r>
            <a:r>
              <a:rPr sz="2000" b="1">
                <a:solidFill>
                  <a:srgbClr val="1F2937"/>
                </a:solidFill>
                <a:latin typeface="Inter"/>
              </a:rPr>
              <a:t>Still depends on the LLM: </a:t>
            </a:r>
            <a:r>
              <a:rPr sz="2000" b="0">
                <a:solidFill>
                  <a:srgbClr val="6B7280"/>
                </a:solidFill>
                <a:latin typeface="Inter"/>
              </a:rPr>
              <a:t>a wrong model output can still pick a wrong route.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4F46E5"/>
                </a:solidFill>
                <a:latin typeface="Inter"/>
              </a:rPr>
              <a:t>•  </a:t>
            </a:r>
            <a:r>
              <a:rPr sz="2000" b="1">
                <a:solidFill>
                  <a:srgbClr val="1F2937"/>
                </a:solidFill>
                <a:latin typeface="Inter"/>
              </a:rPr>
              <a:t>Fast-changing ecosystem: </a:t>
            </a:r>
            <a:r>
              <a:rPr sz="2000" b="0">
                <a:solidFill>
                  <a:srgbClr val="6B7280"/>
                </a:solidFill>
                <a:latin typeface="Inter"/>
              </a:rPr>
              <a:t>APIs change between versions.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Poppins"/>
              </a:rPr>
              <a:t>Applications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LangGraph Seminar  ·  Nikhil Jimmy Thomas (MUT23CA055)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338328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005840" y="1783080"/>
            <a:ext cx="457200" cy="4572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783080"/>
            <a:ext cx="2377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2937"/>
                </a:solidFill>
                <a:latin typeface="Poppins"/>
              </a:rPr>
              <a:t>Customer support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2926080" cy="114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Inter"/>
              </a:rPr>
              <a:t>Route queries to billing, technical or human agents.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554480"/>
            <a:ext cx="338328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617720" y="1783080"/>
            <a:ext cx="457200" cy="4572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783080"/>
            <a:ext cx="2377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2937"/>
                </a:solidFill>
                <a:latin typeface="Poppins"/>
              </a:rPr>
              <a:t>RAG question answering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377440"/>
            <a:ext cx="2926080" cy="114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Inter"/>
              </a:rPr>
              <a:t>Retrieve, grade documents, re-search if they are poor.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554480"/>
            <a:ext cx="338328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229600" y="1783080"/>
            <a:ext cx="457200" cy="4572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783080"/>
            <a:ext cx="2377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2937"/>
                </a:solidFill>
                <a:latin typeface="Poppins"/>
              </a:rPr>
              <a:t>Code generation &amp; bug fixing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77440"/>
            <a:ext cx="2926080" cy="114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Inter"/>
              </a:rPr>
              <a:t>Write, test, fix in a loop (arXiv:2502.18465).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886200"/>
            <a:ext cx="338328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1005840" y="4114800"/>
            <a:ext cx="457200" cy="4572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114800"/>
            <a:ext cx="2377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2937"/>
                </a:solidFill>
                <a:latin typeface="Poppins"/>
              </a:rPr>
              <a:t>Machine translation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709160"/>
            <a:ext cx="2926080" cy="114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Inter"/>
              </a:rPr>
              <a:t>Route text to language agents (arXiv:2412.03801).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3886200"/>
            <a:ext cx="338328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4617720" y="4114800"/>
            <a:ext cx="457200" cy="4572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4114800"/>
            <a:ext cx="2377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2937"/>
                </a:solidFill>
                <a:latin typeface="Poppins"/>
              </a:rPr>
              <a:t>Data 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709160"/>
            <a:ext cx="2926080" cy="114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Inter"/>
              </a:rPr>
              <a:t>Spark agents for ML pipelines (arXiv:2412.01490).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01000" y="3886200"/>
            <a:ext cx="338328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8229600" y="4114800"/>
            <a:ext cx="457200" cy="4572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60" y="4114800"/>
            <a:ext cx="23774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2937"/>
                </a:solidFill>
                <a:latin typeface="Poppins"/>
              </a:rPr>
              <a:t>Multi-agent teams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709160"/>
            <a:ext cx="2926080" cy="114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Inter"/>
              </a:rPr>
              <a:t>Research, writing and review crews (arXiv:2411.18241).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Poppins"/>
              </a:rPr>
              <a:t>Conclusion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LangGraph Seminar  ·  Nikhil Jimmy Thomas (MUT23CA055)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658368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900" b="1">
                <a:solidFill>
                  <a:srgbClr val="4F46E5"/>
                </a:solidFill>
                <a:latin typeface="Inter"/>
              </a:rPr>
              <a:t>•  </a:t>
            </a:r>
            <a:r>
              <a:rPr sz="1900" b="1">
                <a:solidFill>
                  <a:srgbClr val="1F2937"/>
                </a:solidFill>
                <a:latin typeface="Inter"/>
              </a:rPr>
              <a:t>LangGraph </a:t>
            </a:r>
            <a:r>
              <a:rPr sz="1900" b="0">
                <a:solidFill>
                  <a:srgbClr val="6B7280"/>
                </a:solidFill>
                <a:latin typeface="Inter"/>
              </a:rPr>
              <a:t>turns an LLM application into a clear graph of steps with shared state.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900" b="1">
                <a:solidFill>
                  <a:srgbClr val="4F46E5"/>
                </a:solidFill>
                <a:latin typeface="Inter"/>
              </a:rPr>
              <a:t>•  </a:t>
            </a:r>
            <a:r>
              <a:rPr sz="1900" b="1">
                <a:solidFill>
                  <a:srgbClr val="1F2937"/>
                </a:solidFill>
                <a:latin typeface="Inter"/>
              </a:rPr>
              <a:t>It adds </a:t>
            </a:r>
            <a:r>
              <a:rPr sz="1900" b="0">
                <a:solidFill>
                  <a:srgbClr val="6B7280"/>
                </a:solidFill>
                <a:latin typeface="Inter"/>
              </a:rPr>
              <a:t>what chains lack: branching, loops, memory and human control.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900" b="1">
                <a:solidFill>
                  <a:srgbClr val="4F46E5"/>
                </a:solidFill>
                <a:latin typeface="Inter"/>
              </a:rPr>
              <a:t>•  </a:t>
            </a:r>
            <a:r>
              <a:rPr sz="1900" b="1">
                <a:solidFill>
                  <a:srgbClr val="1F2937"/>
                </a:solidFill>
                <a:latin typeface="Inter"/>
              </a:rPr>
              <a:t>The base paper </a:t>
            </a:r>
            <a:r>
              <a:rPr sz="1900" b="0">
                <a:solidFill>
                  <a:srgbClr val="6B7280"/>
                </a:solidFill>
                <a:latin typeface="Inter"/>
              </a:rPr>
              <a:t>shows LangGraph + CrewAI coordinating multiple agents for complex tasks.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900" b="1">
                <a:solidFill>
                  <a:srgbClr val="4F46E5"/>
                </a:solidFill>
                <a:latin typeface="Inter"/>
              </a:rPr>
              <a:t>•  </a:t>
            </a:r>
            <a:r>
              <a:rPr sz="1900" b="1">
                <a:solidFill>
                  <a:srgbClr val="1F2937"/>
                </a:solidFill>
                <a:latin typeface="Inter"/>
              </a:rPr>
              <a:t>Graph-based orchestration </a:t>
            </a:r>
            <a:r>
              <a:rPr sz="1900" b="0">
                <a:solidFill>
                  <a:srgbClr val="6B7280"/>
                </a:solidFill>
                <a:latin typeface="Inter"/>
              </a:rPr>
              <a:t>is becoming a standard way to build reliable agentic 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600200"/>
            <a:ext cx="3520440" cy="420624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38160" y="1600200"/>
            <a:ext cx="297180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C7D2FE"/>
                </a:solidFill>
                <a:latin typeface="Inter"/>
              </a:rPr>
              <a:t>Key takeaway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Poppins"/>
              </a:rPr>
              <a:t>The LLM does the thinking; the graph keeps it on track.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Poppins"/>
              </a:rPr>
              <a:t>References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6355080"/>
            <a:ext cx="11091672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LangGraph Seminar  ·  Nikhil Jimmy Thomas (MUT23CA055)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Inter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29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1">
                <a:solidFill>
                  <a:srgbClr val="4F46E5"/>
                </a:solidFill>
                <a:latin typeface="Inter"/>
              </a:rPr>
              <a:t>[1]  </a:t>
            </a:r>
            <a:r>
              <a:rPr sz="1300" b="0">
                <a:solidFill>
                  <a:srgbClr val="1F2937"/>
                </a:solidFill>
                <a:latin typeface="Inter"/>
              </a:rPr>
              <a:t>Z. Duan, J. Wang, "Exploration of LLM Multi-Agent Application Implementation Based on LangGraph+CrewAI," arXiv:2411.18241, 2024. (Base paper)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1">
                <a:solidFill>
                  <a:srgbClr val="4F46E5"/>
                </a:solidFill>
                <a:latin typeface="Inter"/>
              </a:rPr>
              <a:t>[2]  </a:t>
            </a:r>
            <a:r>
              <a:rPr sz="1300" b="0">
                <a:solidFill>
                  <a:srgbClr val="1F2937"/>
                </a:solidFill>
                <a:latin typeface="Inter"/>
              </a:rPr>
              <a:t>S. Yao et al., "ReAct: Synergizing Reasoning and Acting in Language Models," arXiv:2210.03629, 2022.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1">
                <a:solidFill>
                  <a:srgbClr val="4F46E5"/>
                </a:solidFill>
                <a:latin typeface="Inter"/>
              </a:rPr>
              <a:t>[3]  </a:t>
            </a:r>
            <a:r>
              <a:rPr sz="1300" b="0">
                <a:solidFill>
                  <a:srgbClr val="1F2937"/>
                </a:solidFill>
                <a:latin typeface="Inter"/>
              </a:rPr>
              <a:t>N. Shinn et al., "Reflexion: Language Agents with Verbal Reinforcement Learning," arXiv:2303.11366, 2023.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1">
                <a:solidFill>
                  <a:srgbClr val="4F46E5"/>
                </a:solidFill>
                <a:latin typeface="Inter"/>
              </a:rPr>
              <a:t>[4]  </a:t>
            </a:r>
            <a:r>
              <a:rPr sz="1300" b="0">
                <a:solidFill>
                  <a:srgbClr val="1F2937"/>
                </a:solidFill>
                <a:latin typeface="Inter"/>
              </a:rPr>
              <a:t>Q. Wu et al., "AutoGen: Enabling Next-Gen LLM Applications via Multi-Agent Conversation," arXiv:2308.08155, 2023.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1">
                <a:solidFill>
                  <a:srgbClr val="4F46E5"/>
                </a:solidFill>
                <a:latin typeface="Inter"/>
              </a:rPr>
              <a:t>[5]  </a:t>
            </a:r>
            <a:r>
              <a:rPr sz="1300" b="0">
                <a:solidFill>
                  <a:srgbClr val="1F2937"/>
                </a:solidFill>
                <a:latin typeface="Inter"/>
              </a:rPr>
              <a:t>S. Hong et al., "MetaGPT: Meta Programming for a Multi-Agent Collaborative Framework," arXiv:2308.00352, 2023.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1">
                <a:solidFill>
                  <a:srgbClr val="4F46E5"/>
                </a:solidFill>
                <a:latin typeface="Inter"/>
              </a:rPr>
              <a:t>[6]  </a:t>
            </a:r>
            <a:r>
              <a:rPr sz="1300" b="0">
                <a:solidFill>
                  <a:srgbClr val="1F2937"/>
                </a:solidFill>
                <a:latin typeface="Inter"/>
              </a:rPr>
              <a:t>L. Wang et al., "A Survey on Large Language Model based Autonomous Agents," arXiv:2308.11432, 2023.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1">
                <a:solidFill>
                  <a:srgbClr val="4F46E5"/>
                </a:solidFill>
                <a:latin typeface="Inter"/>
              </a:rPr>
              <a:t>[7]  </a:t>
            </a:r>
            <a:r>
              <a:rPr sz="1300" b="0">
                <a:solidFill>
                  <a:srgbClr val="1F2937"/>
                </a:solidFill>
                <a:latin typeface="Inter"/>
              </a:rPr>
              <a:t>J. Wang, Z. Duan, "Agent AI with LangGraph: A Modular Framework for Enhancing Machine Translation Using LLMs," arXiv:2412.03801, 2024.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1">
                <a:solidFill>
                  <a:srgbClr val="4F46E5"/>
                </a:solidFill>
                <a:latin typeface="Inter"/>
              </a:rPr>
              <a:t>[8]  </a:t>
            </a:r>
            <a:r>
              <a:rPr sz="1300" b="0">
                <a:solidFill>
                  <a:srgbClr val="1F2937"/>
                </a:solidFill>
                <a:latin typeface="Inter"/>
              </a:rPr>
              <a:t>J. Wang, Z. Duan, "Intelligent Spark Agents: A Modular LangGraph Framework for Big Data ML Workflows," arXiv:2412.01490, 2024.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1">
                <a:solidFill>
                  <a:srgbClr val="4F46E5"/>
                </a:solidFill>
                <a:latin typeface="Inter"/>
              </a:rPr>
              <a:t>[9]  </a:t>
            </a:r>
            <a:r>
              <a:rPr sz="1300" b="0">
                <a:solidFill>
                  <a:srgbClr val="1F2937"/>
                </a:solidFill>
                <a:latin typeface="Inter"/>
              </a:rPr>
              <a:t>J. Wang, Z. Duan, "Empirical Research on Utilizing LLM-based Agents for Automated Bug Fixing via LangGraph," arXiv:2502.18465, 2025.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1">
                <a:solidFill>
                  <a:srgbClr val="4F46E5"/>
                </a:solidFill>
                <a:latin typeface="Inter"/>
              </a:rPr>
              <a:t>[10]  </a:t>
            </a:r>
            <a:r>
              <a:rPr sz="1300" b="0">
                <a:solidFill>
                  <a:srgbClr val="1F2937"/>
                </a:solidFill>
                <a:latin typeface="Inter"/>
              </a:rPr>
              <a:t>LangChain Inc., "LangGraph Documentation," langchain-ai.github.io/langgraph, 2025.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4F46E5"/>
                </a:solidFill>
                <a:latin typeface="Poppins"/>
              </a:rPr>
              <a:t>Thank you  ·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