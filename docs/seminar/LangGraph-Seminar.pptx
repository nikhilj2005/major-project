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SEMINAR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2937"/>
                </a:solidFill>
                <a:latin typeface="Poppins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1F2937"/>
                </a:solidFill>
                <a:latin typeface="Poppins"/>
              </a:rPr>
              <a:t>Graph-Based Orchestration for Stateful LLM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Inter"/>
              </a:rPr>
              <a:t>and its Applications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480560"/>
            <a:ext cx="3657600" cy="0"/>
          </a:xfrm>
          <a:prstGeom prst="line">
            <a:avLst/>
          </a:prstGeom>
          <a:ln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470916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>Nikhil Jimmy Thomas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Inter"/>
              </a:rPr>
              <a:t>MUT23CA055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Inter"/>
              </a:rPr>
              <a:t>Department of Artificial Intelligence and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70916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Seminar Guide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Inter"/>
              </a:rPr>
              <a:t>Nimmi M 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6B7280"/>
                </a:solidFill>
                <a:latin typeface="Inter"/>
              </a:rPr>
              <a:t>Muthoot Institute of Technology and Science, Kochi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Outline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020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Introduction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46888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6888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What is LangGraph?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3756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Core concepts &amp; features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0624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Literature review (6 papers)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7492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7492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Base paper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160020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160020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Methodology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246888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46888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Results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333756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33756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Advantages &amp; disadvantages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420624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420624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Applications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5074920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rtlCol="0" anchor="ctr" lIns="0" rIns="0" wrap="non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Poppin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507492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Inter"/>
              </a:rPr>
              <a:t>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WHY WE NEED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Introduction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8521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  <a:latin typeface="Inter"/>
              </a:rPr>
              <a:t>•  </a:t>
            </a:r>
            <a:r>
              <a:rPr sz="1800" b="1">
                <a:solidFill>
                  <a:srgbClr val="1F2937"/>
                </a:solidFill>
                <a:latin typeface="Inter"/>
              </a:rPr>
              <a:t>LLMs </a:t>
            </a:r>
            <a:r>
              <a:rPr sz="1800" b="0">
                <a:solidFill>
                  <a:srgbClr val="6B7280"/>
                </a:solidFill>
                <a:latin typeface="Inter"/>
              </a:rPr>
              <a:t>can reason, write and use tools, but real tasks need many steps.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  <a:latin typeface="Inter"/>
              </a:rPr>
              <a:t>•  </a:t>
            </a:r>
            <a:r>
              <a:rPr sz="1800" b="1">
                <a:solidFill>
                  <a:srgbClr val="1F2937"/>
                </a:solidFill>
                <a:latin typeface="Inter"/>
              </a:rPr>
              <a:t>Real workflows </a:t>
            </a:r>
            <a:r>
              <a:rPr sz="1800" b="0">
                <a:solidFill>
                  <a:srgbClr val="6B7280"/>
                </a:solidFill>
                <a:latin typeface="Inter"/>
              </a:rPr>
              <a:t>branch (if / else), loop (retry until correct) and remember earlier results.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  <a:latin typeface="Inter"/>
              </a:rPr>
              <a:t>•  </a:t>
            </a:r>
            <a:r>
              <a:rPr sz="1800" b="1">
                <a:solidFill>
                  <a:srgbClr val="1F2937"/>
                </a:solidFill>
                <a:latin typeface="Inter"/>
              </a:rPr>
              <a:t>Simple chains </a:t>
            </a:r>
            <a:r>
              <a:rPr sz="1800" b="0">
                <a:solidFill>
                  <a:srgbClr val="6B7280"/>
                </a:solidFill>
                <a:latin typeface="Inter"/>
              </a:rPr>
              <a:t>run a fixed, one-way sequence: no loops, no shared state.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  <a:latin typeface="Inter"/>
              </a:rPr>
              <a:t>•  </a:t>
            </a:r>
            <a:r>
              <a:rPr sz="1800" b="1">
                <a:solidFill>
                  <a:srgbClr val="1F2937"/>
                </a:solidFill>
                <a:latin typeface="Inter"/>
              </a:rPr>
              <a:t>Free-running agents </a:t>
            </a:r>
            <a:r>
              <a:rPr sz="1800" b="0">
                <a:solidFill>
                  <a:srgbClr val="6B7280"/>
                </a:solidFill>
                <a:latin typeface="Inter"/>
              </a:rPr>
              <a:t>are flexible but hard to control, test and debug.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  <a:latin typeface="Inter"/>
              </a:rPr>
              <a:t>•  </a:t>
            </a:r>
            <a:r>
              <a:rPr sz="1800" b="1">
                <a:solidFill>
                  <a:srgbClr val="1F2937"/>
                </a:solidFill>
                <a:latin typeface="Inter"/>
              </a:rPr>
              <a:t>LangGraph </a:t>
            </a:r>
            <a:r>
              <a:rPr sz="1800" b="0">
                <a:solidFill>
                  <a:srgbClr val="6B7280"/>
                </a:solidFill>
                <a:latin typeface="Inter"/>
              </a:rPr>
              <a:t>sits in between: the developer draws the flow as a graph, the LLM works inside each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00200"/>
            <a:ext cx="329184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>Chain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305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Inter"/>
              </a:rPr>
              <a:t>fixed steps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0" y="2560320"/>
            <a:ext cx="0" cy="5029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89520" y="3063240"/>
            <a:ext cx="329184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>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5935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Inter"/>
              </a:rPr>
              <a:t>LLM decides everything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4023360"/>
            <a:ext cx="0" cy="5029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0" y="4526280"/>
            <a:ext cx="3291840" cy="96012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Graph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0566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controlled steps + loops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What is LangGraph?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1060704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1554480"/>
            <a:ext cx="10058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LangGraph </a:t>
            </a:r>
            <a:r>
              <a:rPr sz="2000" b="0">
                <a:solidFill>
                  <a:srgbClr val="1F2937"/>
                </a:solidFill>
                <a:latin typeface="Inter"/>
              </a:rPr>
              <a:t>is an open-source library from LangChain Inc. for building stateful, multi-step LLM applications as a graph of nodes (steps) and edges (transitions) that share one state object.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Poppins"/>
              </a:rPr>
              <a:t>Released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0175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Inter"/>
              </a:rPr>
              <a:t>2024 by LangChain Inc.; open source (MIT licence)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Poppins"/>
              </a:rPr>
              <a:t>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63931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Inter"/>
              </a:rPr>
              <a:t>Python and JavaScript /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Poppins"/>
              </a:rPr>
              <a:t>Inspired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2611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Inter"/>
              </a:rPr>
              <a:t>Google's Pregel and Apache Beam graph-processing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Poppins"/>
              </a:rPr>
              <a:t>Works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88289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Inter"/>
              </a:rPr>
              <a:t>any LLM: OpenAI, Anthropic, Google, open-source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046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Poppins"/>
              </a:rPr>
              <a:t>Used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5046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Inter"/>
              </a:rPr>
              <a:t>agents, multi-agent teams, RAG pipelines, human-approval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STATE · NODES ·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Core Concepts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State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Inter"/>
              </a:rPr>
              <a:t>Shared data (a typed dictionary) that every node reads and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1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Node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Inter"/>
              </a:rPr>
              <a:t>A Python function: one step of work, e.g. call the LLM or a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6704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Edge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Inter"/>
              </a:rPr>
              <a:t>A fixed transition: after node A, run node 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42816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Conditional edge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Inter"/>
              </a:rPr>
              <a:t>A router function picks the next node from the current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3892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START / END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Inter"/>
              </a:rPr>
              <a:t>Special entry and exit points of the graph.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554480"/>
            <a:ext cx="2011680" cy="566928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97480"/>
            <a:ext cx="237744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Agent node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(call LLM)</a:t>
            </a:r>
          </a:p>
        </p:txBody>
      </p:sp>
      <p:sp>
        <p:nvSpPr>
          <p:cNvPr id="16" name="Diamond 15"/>
          <p:cNvSpPr/>
          <p:nvPr/>
        </p:nvSpPr>
        <p:spPr>
          <a:xfrm>
            <a:off x="7635240" y="4206240"/>
            <a:ext cx="237744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Inter"/>
              </a:rPr>
              <a:t>Router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Inter"/>
              </a:rPr>
              <a:t>(conditional edge)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4279392"/>
            <a:ext cx="146304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Tool node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5486400"/>
            <a:ext cx="2011680" cy="566928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3960" y="2121408"/>
            <a:ext cx="0" cy="576072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23960" y="3474720"/>
            <a:ext cx="0" cy="7315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12680" y="4599432"/>
            <a:ext cx="91440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23960" y="4983480"/>
            <a:ext cx="0" cy="5029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835640" y="3086100"/>
            <a:ext cx="0" cy="1193292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012680" y="3086100"/>
            <a:ext cx="822960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27080" y="35661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Inter"/>
              </a:rPr>
              <a:t>loop 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50292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Inter"/>
              </a:rPr>
              <a:t>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WHAT LANGGRAPH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Key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8308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Cycles &amp;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Retry or refine until a condition is met, which plain chains cannot 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8308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Checkpointers save state after every step; resume after a crash.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55448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2960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78308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Human-in-the-loop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Pause the graph, let a person review or edit, then continue.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862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11480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0916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Show tokens and intermediate steps to the user in real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862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617720" y="4114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1480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Multi-agent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70916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Each agent is a node or sub-graph; a supervisor routes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8862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11480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Controllability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70916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The developer fixes the allowed paths; the LLM fills in each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FIVE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Building a LangGraph Application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84048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1.  Define the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194560"/>
            <a:ext cx="0" cy="2743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468880"/>
            <a:ext cx="384048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2.  Add nodes (functions)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3108960"/>
            <a:ext cx="0" cy="2743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383280"/>
            <a:ext cx="384048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3.  Connect edges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4023360"/>
            <a:ext cx="0" cy="2743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4297680"/>
            <a:ext cx="384048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4.  Compile the graph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4937760"/>
            <a:ext cx="0" cy="2743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5212080"/>
            <a:ext cx="3840480" cy="64008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5.  Invoke with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554480"/>
            <a:ext cx="6172200" cy="4434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0" y="173736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from langgraph.graph import StateGraph, START, END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class State(TypedDict):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    question: str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    answer: str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def answer(state):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    return {"answer": llm.invoke(state["question"])}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g = StateGraph(State)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g.add_node("answer", answer)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g.add_edge(START, "answer")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g.add_edge("answer", END)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app = g.compile()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>app.invoke({"question": "What is LangGraph?"})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SIX ARXIV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Literature Review: Overview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3712463" cy="612647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Paper (arXiv)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79" y="1508760"/>
            <a:ext cx="3621024" cy="612647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508760"/>
            <a:ext cx="3209544" cy="612647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Main disadvantage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67128"/>
            <a:ext cx="3712463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Inter"/>
              </a:rPr>
              <a:t>ReAct, Yao et al. (2210.03629)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79" y="2167128"/>
            <a:ext cx="3621024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Interleaves reasoning steps with tool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167128"/>
            <a:ext cx="3209544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One linear loop; no saved state; errors cascade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25496"/>
            <a:ext cx="3712463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Inter"/>
              </a:rPr>
              <a:t>Reflexion, Shinn et al. (2303.11366)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79" y="2825496"/>
            <a:ext cx="3621024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Agent reflects on failures and retries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825496"/>
            <a:ext cx="3209544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Needs good feedback; extra LLM calls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83864"/>
            <a:ext cx="3712463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Inter"/>
              </a:rPr>
              <a:t>AutoGen, Wu et al. (2308.08155)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79" y="3483864"/>
            <a:ext cx="3621024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Agents solve tasks by conversing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483864"/>
            <a:ext cx="3209544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Conversation-driven flow is hard to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42231"/>
            <a:ext cx="3712463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Inter"/>
              </a:rPr>
              <a:t>MetaGPT, Hong et al. (2308.00352)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79" y="4142231"/>
            <a:ext cx="3621024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Role-based agents follow SOPs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142231"/>
            <a:ext cx="3209544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Rigid pipeline built for software tasks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00600"/>
            <a:ext cx="3712463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Inter"/>
              </a:rPr>
              <a:t>LLM Agent Survey, Wang et al. (2308.11432)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4800600"/>
            <a:ext cx="3621024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Unified agent framework: profile, memory, planning,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4800600"/>
            <a:ext cx="3209544" cy="612647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No concrete orchestration tool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58968"/>
            <a:ext cx="3712463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Inter"/>
              </a:rPr>
              <a:t>LangGraph MT, Wang &amp; Duan (2412.03801)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79" y="5458968"/>
            <a:ext cx="3621024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LangGraph routes text to translation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5458968"/>
            <a:ext cx="3209544" cy="61264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Few languages; small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ReAct and Reflexion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Poppins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Yao et al., ICLR 2023 · arXiv:2210.03629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Method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The LLM alternates Thought → Action → Observation.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Actions call tools such as Wikipedia search.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Beat baselines on HotpotQA, ALFWorld, WebShop.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Disadvantages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Single linear loop; no persistent state.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 wrong step early can derail the whole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37959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Poppins"/>
              </a:rPr>
              <a:t>Reflexion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Shinn et al., NeurIPS 2023 · arXiv:2303.11366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Method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After a failure, the agent writes a verbal self-reflection.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Reflections are stored in memory and used on the next try.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No model fine-tuning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Disadvantages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Depends on a reliable success / failure signal.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Each retry costs more LLM calls and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AutoGen and MetaGPT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Poppins"/>
              </a:rPr>
              <a:t>AutoGen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Wu et al., 2023 · arXiv:2308.08155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Method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Multiple agents solve a task by chatting with each other.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Agents can combine LLMs, tools and human input.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Open-source framework from Microsoft.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Disadvantages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Flow emerges from conversation, so it is hard to predict.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Agents can loop or drift without strict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37959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Poppins"/>
              </a:rPr>
              <a:t>MetaGPT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Hong et al., ICLR 2024 · arXiv:2308.00352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Method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Encodes Standard Operating Procedures (SOPs) in prompts.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Roles (PM, architect, engineer) work like an assembly line.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Agents cross-check outputs to reduce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Disadvantages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Fixed pipeline designed mainly for software projects.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Many agents means high token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Agent Survey and LangGraph for Translation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Poppins"/>
              </a:rPr>
              <a:t>LLM Agent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Wang et al., 2023 · arXiv:2308.11432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Method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Reviews LLM-based autonomous agents.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Proposes a framework: profile, memory, planning, action.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Covers applications and evaluation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Disadvantages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 survey: no implementation or orchestration tool.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Field changes faster than surveys can track.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37959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Poppins"/>
              </a:rPr>
              <a:t>LangGraph for Translation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Wang &amp; Duan, 2024 · arXiv:2412.03801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Method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LangGraph analyses the input and routes it to an agent.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Separate agents for English, French and Japanese.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Agents run on LLMs such as GPT-4o.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Disadvantages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Evaluated on only a few languages.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 b="0">
                <a:solidFill>
                  <a:srgbClr val="6B7280"/>
                </a:solidFill>
                <a:latin typeface="Inter"/>
              </a:rPr>
              <a:t>Relies on a paid proprietary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ARXIV:2411.18241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Base Paper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10607040" cy="14173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1F2937"/>
                </a:solidFill>
                <a:latin typeface="Poppins"/>
              </a:rPr>
              <a:t>Exploration of LLM Multi-Agent Application Implementation Based on LangGraph+CrewAI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Zhihua Duan and Jialin Wang  ·  arXiv:2411.18241 [cs]  ·  November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Problem addressed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Inter"/>
              </a:rPr>
              <a:t>•  </a:t>
            </a:r>
            <a:r>
              <a:rPr sz="1500" b="0">
                <a:solidFill>
                  <a:srgbClr val="6B7280"/>
                </a:solidFill>
                <a:latin typeface="Inter"/>
              </a:rPr>
              <a:t>Complex tasks are too much for a single LLM agent.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Inter"/>
              </a:rPr>
              <a:t>•  </a:t>
            </a:r>
            <a:r>
              <a:rPr sz="1500" b="0">
                <a:solidFill>
                  <a:srgbClr val="6B7280"/>
                </a:solidFill>
                <a:latin typeface="Inter"/>
              </a:rPr>
              <a:t>Multi-agent systems need precise control of the flow and good teamwork.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0040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Key idea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Inter"/>
              </a:rPr>
              <a:t>•  </a:t>
            </a:r>
            <a:r>
              <a:rPr sz="1500" b="0">
                <a:solidFill>
                  <a:srgbClr val="6B7280"/>
                </a:solidFill>
                <a:latin typeface="Inter"/>
              </a:rPr>
              <a:t>LangGraph: graph architecture gives precise control and efficient information flow between agents.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Inter"/>
              </a:rPr>
              <a:t>•  </a:t>
            </a:r>
            <a:r>
              <a:rPr sz="1500" b="0">
                <a:solidFill>
                  <a:srgbClr val="6B7280"/>
                </a:solidFill>
                <a:latin typeface="Inter"/>
              </a:rPr>
              <a:t>CrewAI: role-based crews give intelligent task allocation and resource management.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Inter"/>
              </a:rPr>
              <a:t>•  </a:t>
            </a:r>
            <a:r>
              <a:rPr sz="1500" b="0">
                <a:solidFill>
                  <a:srgbClr val="6B7280"/>
                </a:solidFill>
                <a:latin typeface="Inter"/>
              </a:rPr>
              <a:t>Together they divide work and collaborate on tasks a single agent struggles with.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Methodology: System 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737360" cy="82296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User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554480"/>
            <a:ext cx="4846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54680" y="1645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LangGraph: control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240280"/>
            <a:ext cx="338328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State (shared data)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246120"/>
            <a:ext cx="33832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Nodes: agent 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4251960"/>
            <a:ext cx="33832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Edges &amp; conditional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51663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Decides which step runs next and passes state between steps.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3429000"/>
            <a:ext cx="457200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1554480"/>
            <a:ext cx="3108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58200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CrewAI: team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240280"/>
            <a:ext cx="256032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Agent: role + goal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246120"/>
            <a:ext cx="256032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Task assignment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4251960"/>
            <a:ext cx="256032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Collaboration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18120" y="3584448"/>
            <a:ext cx="457200" cy="0"/>
          </a:xfrm>
          <a:prstGeom prst="line">
            <a:avLst/>
          </a:prstGeom>
          <a:ln w="22225">
            <a:solidFill>
              <a:srgbClr val="4F46E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8200" y="51663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Agents with roles carry out the work inside each node.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Methodology: Workflow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1874519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Receive task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377440"/>
            <a:ext cx="338328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90088" y="1828800"/>
            <a:ext cx="1874519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LangGraph routes to next node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2377440"/>
            <a:ext cx="338328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02936" y="1828800"/>
            <a:ext cx="1874519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CrewAI crew performs the task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77455" y="2377440"/>
            <a:ext cx="338328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15783" y="1828800"/>
            <a:ext cx="1874519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Update shared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90304" y="2377440"/>
            <a:ext cx="338328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9628632" y="1828800"/>
            <a:ext cx="1874519" cy="1097280"/>
          </a:xfrm>
          <a:prstGeom prst="diamond">
            <a:avLst/>
          </a:prstGeom>
          <a:solidFill>
            <a:srgbClr val="4F46E5"/>
          </a:solidFill>
          <a:ln w="15875">
            <a:solidFill>
              <a:srgbClr val="4F46E5"/>
            </a:solidFill>
          </a:ln>
        </p:spPr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Check: done?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28632" y="2926080"/>
            <a:ext cx="0" cy="5029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13632" y="3429000"/>
            <a:ext cx="5715000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913632" y="2926080"/>
            <a:ext cx="0" cy="50292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0" y="34930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no: loop to the next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10607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oppins"/>
              </a:rPr>
              <a:t>How the two frameworks share the work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46E5"/>
                </a:solidFill>
                <a:latin typeface="Inter"/>
              </a:rPr>
              <a:t>•  </a:t>
            </a:r>
            <a:r>
              <a:rPr sz="1500" b="1">
                <a:solidFill>
                  <a:srgbClr val="1F2937"/>
                </a:solidFill>
                <a:latin typeface="Inter"/>
              </a:rPr>
              <a:t>LangGraph </a:t>
            </a:r>
            <a:r>
              <a:rPr sz="1500" b="0">
                <a:solidFill>
                  <a:srgbClr val="6B7280"/>
                </a:solidFill>
                <a:latin typeface="Inter"/>
              </a:rPr>
              <a:t>owns the control flow: order of steps, branching, loops and state.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46E5"/>
                </a:solidFill>
                <a:latin typeface="Inter"/>
              </a:rPr>
              <a:t>•  </a:t>
            </a:r>
            <a:r>
              <a:rPr sz="1500" b="1">
                <a:solidFill>
                  <a:srgbClr val="1F2937"/>
                </a:solidFill>
                <a:latin typeface="Inter"/>
              </a:rPr>
              <a:t>CrewAI </a:t>
            </a:r>
            <a:r>
              <a:rPr sz="1500" b="0">
                <a:solidFill>
                  <a:srgbClr val="6B7280"/>
                </a:solidFill>
                <a:latin typeface="Inter"/>
              </a:rPr>
              <a:t>owns the teamwork: which role-based agent does which task, and how agents collaborate.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BASE PAPER (AS REPORTED BY THE AUTHORS)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Key Findings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8308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Efficient information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LangGraph's graph architecture improves how efficiently information passes between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783080"/>
            <a:ext cx="4160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Better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CrewAI's intelligent task allocation and resource management improve teamwork and system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40480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005840" y="4069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6908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Precise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Designing agents on LangGraph gives precise control over the multi-agent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46520" y="4069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069080"/>
            <a:ext cx="4160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Complex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6344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Agents divide the work and collaborate on tasks a single agent struggles with.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Advantages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Explicit control: </a:t>
            </a:r>
            <a:r>
              <a:rPr sz="2000" b="0">
                <a:solidFill>
                  <a:srgbClr val="6B7280"/>
                </a:solidFill>
                <a:latin typeface="Inter"/>
              </a:rPr>
              <a:t>the developer decides the allowed paths.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Shared state: </a:t>
            </a:r>
            <a:r>
              <a:rPr sz="2000" b="0">
                <a:solidFill>
                  <a:srgbClr val="6B7280"/>
                </a:solidFill>
                <a:latin typeface="Inter"/>
              </a:rPr>
              <a:t>every step sees the same up-to-date data.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Loops and retries: </a:t>
            </a:r>
            <a:r>
              <a:rPr sz="2000" b="0">
                <a:solidFill>
                  <a:srgbClr val="6B7280"/>
                </a:solidFill>
                <a:latin typeface="Inter"/>
              </a:rPr>
              <a:t>refine an answer until it is correct.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Persistence: </a:t>
            </a:r>
            <a:r>
              <a:rPr sz="2000" b="0">
                <a:solidFill>
                  <a:srgbClr val="6B7280"/>
                </a:solidFill>
                <a:latin typeface="Inter"/>
              </a:rPr>
              <a:t>pause, resume and recover from failures.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Human-in-the-loop: </a:t>
            </a:r>
            <a:r>
              <a:rPr sz="2000" b="0">
                <a:solidFill>
                  <a:srgbClr val="6B7280"/>
                </a:solidFill>
                <a:latin typeface="Inter"/>
              </a:rPr>
              <a:t>add approval steps easily.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Easy to debug: </a:t>
            </a:r>
            <a:r>
              <a:rPr sz="2000" b="0">
                <a:solidFill>
                  <a:srgbClr val="6B7280"/>
                </a:solidFill>
                <a:latin typeface="Inter"/>
              </a:rPr>
              <a:t>each node can be tested and traced on its own.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Model-agnostic: </a:t>
            </a:r>
            <a:r>
              <a:rPr sz="2000" b="0">
                <a:solidFill>
                  <a:srgbClr val="6B7280"/>
                </a:solidFill>
                <a:latin typeface="Inter"/>
              </a:rPr>
              <a:t>works with any LLM provider.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Disadvantages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Learning curve: </a:t>
            </a:r>
            <a:r>
              <a:rPr sz="2000" b="0">
                <a:solidFill>
                  <a:srgbClr val="6B7280"/>
                </a:solidFill>
                <a:latin typeface="Inter"/>
              </a:rPr>
              <a:t>graphs, state and reducers take time to learn.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More code: </a:t>
            </a:r>
            <a:r>
              <a:rPr sz="2000" b="0">
                <a:solidFill>
                  <a:srgbClr val="6B7280"/>
                </a:solidFill>
                <a:latin typeface="Inter"/>
              </a:rPr>
              <a:t>simple tasks need more setup than a basic chain.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Large graphs get complex: </a:t>
            </a:r>
            <a:r>
              <a:rPr sz="2000" b="0">
                <a:solidFill>
                  <a:srgbClr val="6B7280"/>
                </a:solidFill>
                <a:latin typeface="Inter"/>
              </a:rPr>
              <a:t>many nodes and routes are hard to visualise.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Cost and latency: </a:t>
            </a:r>
            <a:r>
              <a:rPr sz="2000" b="0">
                <a:solidFill>
                  <a:srgbClr val="6B7280"/>
                </a:solidFill>
                <a:latin typeface="Inter"/>
              </a:rPr>
              <a:t>loops and multiple agents mean more LLM calls.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Still depends on the LLM: </a:t>
            </a:r>
            <a:r>
              <a:rPr sz="2000" b="0">
                <a:solidFill>
                  <a:srgbClr val="6B7280"/>
                </a:solidFill>
                <a:latin typeface="Inter"/>
              </a:rPr>
              <a:t>a wrong model output can still pick a wrong route.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Inter"/>
              </a:rPr>
              <a:t>•  </a:t>
            </a:r>
            <a:r>
              <a:rPr sz="2000" b="1">
                <a:solidFill>
                  <a:srgbClr val="1F2937"/>
                </a:solidFill>
                <a:latin typeface="Inter"/>
              </a:rPr>
              <a:t>Fast-changing ecosystem: </a:t>
            </a:r>
            <a:r>
              <a:rPr sz="2000" b="0">
                <a:solidFill>
                  <a:srgbClr val="6B7280"/>
                </a:solidFill>
                <a:latin typeface="Inter"/>
              </a:rPr>
              <a:t>APIs change between versions.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Applications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Customer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Route queries to billing, technical or human agents.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8308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RAG question answering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7744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Retrieve, grade documents, re-search if they are poor.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5448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2960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Code generation &amp; bug fixing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Write, test, fix in a loop (arXiv:2502.18465).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862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1480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Machine translation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0916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Route text to language agents (arXiv:2412.03801).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862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617720" y="4114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11480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Data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70916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Spark agents for ML pipelines (arXiv:2412.01490).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8862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114800"/>
            <a:ext cx="23774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Poppins"/>
              </a:rPr>
              <a:t>Multi-agent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709160"/>
            <a:ext cx="292608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Inter"/>
              </a:rPr>
              <a:t>Research, writing and review crews (arXiv:2411.18241).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6583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Inter"/>
              </a:rPr>
              <a:t>•  </a:t>
            </a:r>
            <a:r>
              <a:rPr sz="1900" b="1">
                <a:solidFill>
                  <a:srgbClr val="1F2937"/>
                </a:solidFill>
                <a:latin typeface="Inter"/>
              </a:rPr>
              <a:t>LangGraph </a:t>
            </a:r>
            <a:r>
              <a:rPr sz="1900" b="0">
                <a:solidFill>
                  <a:srgbClr val="6B7280"/>
                </a:solidFill>
                <a:latin typeface="Inter"/>
              </a:rPr>
              <a:t>turns an LLM application into a clear graph of steps with shared state.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Inter"/>
              </a:rPr>
              <a:t>•  </a:t>
            </a:r>
            <a:r>
              <a:rPr sz="1900" b="1">
                <a:solidFill>
                  <a:srgbClr val="1F2937"/>
                </a:solidFill>
                <a:latin typeface="Inter"/>
              </a:rPr>
              <a:t>It adds </a:t>
            </a:r>
            <a:r>
              <a:rPr sz="1900" b="0">
                <a:solidFill>
                  <a:srgbClr val="6B7280"/>
                </a:solidFill>
                <a:latin typeface="Inter"/>
              </a:rPr>
              <a:t>what chains lack: branching, loops, memory and human control.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Inter"/>
              </a:rPr>
              <a:t>•  </a:t>
            </a:r>
            <a:r>
              <a:rPr sz="1900" b="1">
                <a:solidFill>
                  <a:srgbClr val="1F2937"/>
                </a:solidFill>
                <a:latin typeface="Inter"/>
              </a:rPr>
              <a:t>The base paper </a:t>
            </a:r>
            <a:r>
              <a:rPr sz="1900" b="0">
                <a:solidFill>
                  <a:srgbClr val="6B7280"/>
                </a:solidFill>
                <a:latin typeface="Inter"/>
              </a:rPr>
              <a:t>shows LangGraph + CrewAI coordinating multiple agents for complex tasks.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Inter"/>
              </a:rPr>
              <a:t>•  </a:t>
            </a:r>
            <a:r>
              <a:rPr sz="1900" b="1">
                <a:solidFill>
                  <a:srgbClr val="1F2937"/>
                </a:solidFill>
                <a:latin typeface="Inter"/>
              </a:rPr>
              <a:t>Graph-based orchestration </a:t>
            </a:r>
            <a:r>
              <a:rPr sz="1900" b="0">
                <a:solidFill>
                  <a:srgbClr val="6B7280"/>
                </a:solidFill>
                <a:latin typeface="Inter"/>
              </a:rPr>
              <a:t>is becoming a standard way to build reliable agentic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0020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C7D2FE"/>
                </a:solidFill>
                <a:latin typeface="Inter"/>
              </a:rPr>
              <a:t>Key takeaway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The LLM does the thinking; the graph keeps it on track.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92024"/>
            <a:ext cx="1207008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Poppins"/>
              </a:rPr>
              <a:t>References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LangGraph Seminar  ·  Nikhil Jimmy Thomas (MUT23CA055)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[1]  </a:t>
            </a:r>
            <a:r>
              <a:rPr sz="1300" b="0">
                <a:solidFill>
                  <a:srgbClr val="1F2937"/>
                </a:solidFill>
                <a:latin typeface="Inter"/>
              </a:rPr>
              <a:t>Z. Duan, J. Wang, "Exploration of LLM Multi-Agent Application Implementation Based on LangGraph+CrewAI," arXiv:2411.18241, 2024. (Base paper)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[2]  </a:t>
            </a:r>
            <a:r>
              <a:rPr sz="1300" b="0">
                <a:solidFill>
                  <a:srgbClr val="1F2937"/>
                </a:solidFill>
                <a:latin typeface="Inter"/>
              </a:rPr>
              <a:t>S. Yao et al., "ReAct: Synergizing Reasoning and Acting in Language Models," arXiv:2210.03629, 2022.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[3]  </a:t>
            </a:r>
            <a:r>
              <a:rPr sz="1300" b="0">
                <a:solidFill>
                  <a:srgbClr val="1F2937"/>
                </a:solidFill>
                <a:latin typeface="Inter"/>
              </a:rPr>
              <a:t>N. Shinn et al., "Reflexion: Language Agents with Verbal Reinforcement Learning," arXiv:2303.11366, 2023.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[4]  </a:t>
            </a:r>
            <a:r>
              <a:rPr sz="1300" b="0">
                <a:solidFill>
                  <a:srgbClr val="1F2937"/>
                </a:solidFill>
                <a:latin typeface="Inter"/>
              </a:rPr>
              <a:t>Q. Wu et al., "AutoGen: Enabling Next-Gen LLM Applications via Multi-Agent Conversation," arXiv:2308.08155, 2023.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[5]  </a:t>
            </a:r>
            <a:r>
              <a:rPr sz="1300" b="0">
                <a:solidFill>
                  <a:srgbClr val="1F2937"/>
                </a:solidFill>
                <a:latin typeface="Inter"/>
              </a:rPr>
              <a:t>S. Hong et al., "MetaGPT: Meta Programming for a Multi-Agent Collaborative Framework," arXiv:2308.00352, 2023.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[6]  </a:t>
            </a:r>
            <a:r>
              <a:rPr sz="1300" b="0">
                <a:solidFill>
                  <a:srgbClr val="1F2937"/>
                </a:solidFill>
                <a:latin typeface="Inter"/>
              </a:rPr>
              <a:t>L. Wang et al., "A Survey on Large Language Model based Autonomous Agents," arXiv:2308.11432, 2023.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[7]  </a:t>
            </a:r>
            <a:r>
              <a:rPr sz="1300" b="0">
                <a:solidFill>
                  <a:srgbClr val="1F2937"/>
                </a:solidFill>
                <a:latin typeface="Inter"/>
              </a:rPr>
              <a:t>J. Wang, Z. Duan, "Agent AI with LangGraph: A Modular Framework for Enhancing Machine Translation Using LLMs," arXiv:2412.03801, 2024.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[8]  </a:t>
            </a:r>
            <a:r>
              <a:rPr sz="1300" b="0">
                <a:solidFill>
                  <a:srgbClr val="1F2937"/>
                </a:solidFill>
                <a:latin typeface="Inter"/>
              </a:rPr>
              <a:t>J. Wang, Z. Duan, "Intelligent Spark Agents: A Modular LangGraph Framework for Big Data ML Workflows," arXiv:2412.01490, 2024.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[9]  </a:t>
            </a:r>
            <a:r>
              <a:rPr sz="1300" b="0">
                <a:solidFill>
                  <a:srgbClr val="1F2937"/>
                </a:solidFill>
                <a:latin typeface="Inter"/>
              </a:rPr>
              <a:t>J. Wang, Z. Duan, "Empirical Research on Utilizing LLM-based Agents for Automated Bug Fixing via LangGraph," arXiv:2502.18465, 2025.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Inter"/>
              </a:rPr>
              <a:t>[10]  </a:t>
            </a:r>
            <a:r>
              <a:rPr sz="1300" b="0">
                <a:solidFill>
                  <a:srgbClr val="1F2937"/>
                </a:solidFill>
                <a:latin typeface="Inter"/>
              </a:rPr>
              <a:t>LangChain Inc., "LangGraph Documentation," langchain-ai.github.io/langgraph,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Poppins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